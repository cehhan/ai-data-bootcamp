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1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2" y="8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반응률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0A-45A0-B689-677AE367CE35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0A-45A0-B689-677AE367CE3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AnyAccepted = 0</c:v>
                </c:pt>
                <c:pt idx="1">
                  <c:v>AnyAccepted = 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8.6</c:v>
                </c:pt>
                <c:pt idx="1">
                  <c:v>41.4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0A-45A0-B689-677AE367CE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오즈비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B4-495F-B5CF-4718F6BC06B2}"/>
              </c:ext>
            </c:extLst>
          </c:dPt>
          <c:dPt>
            <c:idx val="1"/>
            <c:invertIfNegative val="0"/>
            <c:bubble3D val="0"/>
            <c:spPr>
              <a:solidFill>
                <a:srgbClr val="8FA7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B4-495F-B5CF-4718F6BC06B2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B4-495F-B5CF-4718F6BC06B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H1
(통제 없음)</c:v>
                </c:pt>
                <c:pt idx="1">
                  <c:v>Model A
(+인구통계)</c:v>
                </c:pt>
                <c:pt idx="2">
                  <c:v>Model B
(+소비·채널·참여도)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7.5419999999999998</c:v>
                </c:pt>
                <c:pt idx="1">
                  <c:v>6.8730000000000002</c:v>
                </c:pt>
                <c:pt idx="2">
                  <c:v>6.84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B4-495F-B5CF-4718F6BC06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오즈비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배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저소득 청년층</c:v>
                </c:pt>
                <c:pt idx="1">
                  <c:v>고소득 청년층</c:v>
                </c:pt>
                <c:pt idx="2">
                  <c:v>고소득 장년층</c:v>
                </c:pt>
                <c:pt idx="3">
                  <c:v>다자녀 중장년층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9.35</c:v>
                </c:pt>
                <c:pt idx="1">
                  <c:v>8.32</c:v>
                </c:pt>
                <c:pt idx="2">
                  <c:v>6.27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1D-4E4C-A60F-48882B73F2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 배분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49-4D8B-ADB2-EDC2397B3F15}"/>
              </c:ext>
            </c:extLst>
          </c:dPt>
          <c:dPt>
            <c:idx val="1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49-4D8B-ADB2-EDC2397B3F15}"/>
              </c:ext>
            </c:extLst>
          </c:dPt>
          <c:dPt>
            <c:idx val="2"/>
            <c:bubble3D val="0"/>
            <c:spPr>
              <a:solidFill>
                <a:srgbClr val="8FA7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49-4D8B-ADB2-EDC2397B3F15}"/>
              </c:ext>
            </c:extLst>
          </c:dPt>
          <c:dPt>
            <c:idx val="3"/>
            <c:bubble3D val="0"/>
            <c:spPr>
              <a:solidFill>
                <a:srgbClr val="C9C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49-4D8B-ADB2-EDC2397B3F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고소득 청년층 (40%)</c:v>
                </c:pt>
                <c:pt idx="1">
                  <c:v>저소득 청년층 (30%)</c:v>
                </c:pt>
                <c:pt idx="2">
                  <c:v>고소득 장년층 (20%)</c:v>
                </c:pt>
                <c:pt idx="3">
                  <c:v>다자녀 중장년층 (10%)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449-4D8B-ADB2-EDC2397B3F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 rot="0" vert="horz" wrap="none" lIns="0" tIns="0" rIns="0" bIns="0" anchor="ctr" anchorCtr="1"/>
        <a:lstStyle/>
        <a:p>
          <a:pPr algn="l">
            <a:defRPr sz="900" b="0" i="0" u="none"/>
          </a:pPr>
          <a:endParaRPr lang="en-US"/>
        </a:p>
      </c:txPr>
    </c:legend>
    <c:plotVisOnly val="0"/>
    <c:dispBlanksAs val="gap"/>
    <c:showDLblsOverMax val="1"/>
  </c:chart>
  <c:spPr>
    <a:noFill/>
    <a:ln w="9525">
      <a:noFill/>
    </a:ln>
    <a:effectLst/>
  </c:spPr>
  <c:externalData r:id="rId1">
    <c:autoUpdate val="0"/>
  </c:externalData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149840" y="4937760"/>
            <a:ext cx="2377440" cy="2377440"/>
          </a:xfrm>
          <a:prstGeom prst="ellipse">
            <a:avLst/>
          </a:prstGeom>
          <a:solidFill>
            <a:srgbClr val="2430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1280160" y="-1463040"/>
            <a:ext cx="3200400" cy="3200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AIFFEL AI 데이터 인텔리전스 · 캡스톤 프로젝트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반응 이력 기반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세그먼트별 캠페인 투자 효율화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캠페인 반응 이력의 인과성 검증과 7차 캠페인 예산 배분 제언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서연 있는 서연팀  |  iFood 마케팅 캠페인 데이터셋 (Kaggle)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결론: AnyAccepted 게이트로 1차 필터링한 뒤, 세그먼트별 ROI 기준으로 예산을 차등 배분한다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 반응률(27.3%)을 AnyAccepted=0 그룹은 세그먼트 불문 충족하지 못하고, AnyAccepted=1 그룹은 전 세그먼트가 충족한다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41B47"/>
          </a:solidFill>
          <a:ln w="12700">
            <a:solidFill>
              <a:srgbClr val="3A45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오즈비 H1 7.54 → Model B 6.84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95351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인구통계·소비·채널 변수를 모두 통제해도 오즈비는 9%가량만 감소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(confounding으로 설명 안 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41B47"/>
          </a:solidFill>
          <a:ln w="12700">
            <a:solidFill>
              <a:srgbClr val="3A45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498848" y="19842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49884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98848" y="25603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세그먼트 차이 p = 0.43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98848" y="295351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오즈비 4.70~9.35배로 벌어져 보이나,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교호작용 검정 결과 통계적으로 유의하지 않음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41B47"/>
          </a:solidFill>
          <a:ln w="12700">
            <a:solidFill>
              <a:srgbClr val="3A45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247888" y="19842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4788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7888" y="25603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효과는 보편적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47888" y="295351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반응 이력 신호는 소득·연령·자녀 수와 무관하게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고객군에서 일관되게 강하게 작동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액션플랜 (자세한 내용은 9~12쪽)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49808" y="4334256"/>
            <a:ext cx="31638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CRM팀</a:t>
            </a: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발송 2주 전</a:t>
            </a:r>
            <a:endParaRPr lang="en-US" sz="1300" dirty="0"/>
          </a:p>
          <a:p>
            <a:pPr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AnyAccepted=1 고객 1차 필터링 + 휴면 반응 이력자 윈백 캠페인 운영</a:t>
            </a:r>
            <a:endParaRPr lang="en-US" sz="1300" dirty="0"/>
          </a:p>
          <a:p>
            <a:pPr marL="0" indent="0">
              <a:lnSpc>
                <a:spcPct val="112000"/>
              </a:lnSpc>
              <a:spcBef>
                <a:spcPts val="500"/>
              </a:spcBef>
              <a:buNone/>
            </a:pPr>
            <a:r>
              <a:rPr lang="en-US" sz="9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10쪽 자세히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4206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498848" y="4334256"/>
            <a:ext cx="31638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마케팅기획팀</a:t>
            </a: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발송 시점</a:t>
            </a:r>
            <a:endParaRPr lang="en-US" sz="1300" dirty="0"/>
          </a:p>
          <a:p>
            <a:pPr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ROI 기준 예산 차등 배분 + 채널·메시지·오퍼 실행</a:t>
            </a:r>
            <a:endParaRPr lang="en-US" sz="1300" dirty="0"/>
          </a:p>
          <a:p>
            <a:pPr marL="0" indent="0">
              <a:lnSpc>
                <a:spcPct val="112000"/>
              </a:lnSpc>
              <a:spcBef>
                <a:spcPts val="500"/>
              </a:spcBef>
              <a:buNone/>
            </a:pPr>
            <a:r>
              <a:rPr lang="en-US" sz="9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11쪽 자세히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42062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247888" y="4334256"/>
            <a:ext cx="31638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데이터분석팀</a:t>
            </a: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7차 캠페인 이후</a:t>
            </a:r>
            <a:endParaRPr lang="en-US" sz="1300" dirty="0"/>
          </a:p>
          <a:p>
            <a:pPr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재검정 · 소비행동 기반 세그먼트 재정의 · 정성조사</a:t>
            </a:r>
            <a:endParaRPr lang="en-US" sz="1300" dirty="0"/>
          </a:p>
          <a:p>
            <a:pPr marL="0" indent="0">
              <a:lnSpc>
                <a:spcPct val="112000"/>
              </a:lnSpc>
              <a:spcBef>
                <a:spcPts val="500"/>
              </a:spcBef>
              <a:buNone/>
            </a:pPr>
            <a:r>
              <a:rPr lang="en-US" sz="9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12쪽 자세히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AnyAccepted: 과거 캠페인(1~5차, AcceptedCmp1~5) 중 하나라도 수락(=1)했음을 나타내는 파생변수 · 손익분기 반응률: 캠페인 비용 대비 손익이 0이 되는 최소 반응률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 · Executive Summary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100">
                <a:solidFill>
                  <a:srgbClr val="E8871E"/>
                </a:solidFill>
                <a:latin typeface="Calibri"/>
                <a:ea typeface="Calibri"/>
                <a:cs typeface="Calibri"/>
              </a:rPr>
              <a:t>BUSINESS PROBLEM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비즈니스 문제 정의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 i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7차 캠페인 예산을 정하기 전에, '과거 반응 이력 효과'가 진짜인지부터 검증한다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요청 배경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48639" y="2286000"/>
            <a:ext cx="5394959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CRM팀은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1~5차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캠페인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수락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이력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AnyAccepted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)과 6차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캠페인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수락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이력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(Response)에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기반해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고객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세그먼트별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7차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캠페인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예산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배분을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계획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중이다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. 이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계획의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전제가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되는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'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과거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반응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이력'의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효과부터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검증이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필요했다</a:t>
            </a:r>
            <a:r>
              <a:rPr lang="en-US" sz="130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분석 질문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핵심질문: </a:t>
            </a: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과거 캠페인 수락 경험이 실제로 다음 캠페인 반응을 높이는 원인인가, 아니면 원래 반응 잘하는 고객 특성이 반영된 결과일 뿐인가?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보조질문: </a:t>
            </a: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유의미하다면, 특정 세그먼트에서 그 효과가 더 크게/작게 나타나는가? 그렇다면 어느 세그먼트에 투자하는 게 효율적인가?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446520" y="214884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H1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178040" y="2112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원시 연관성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6446520" y="2587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캠페인을 한번이라도 수락했다면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Response 오즈가 유의하게 높은가?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8851392" y="3383280"/>
            <a:ext cx="219456" cy="137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871E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263640" y="3520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446520" y="370332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H2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7178040" y="36667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Confounder 통제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446520" y="4142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통제변수를 다 넣어도 AnyAccepted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효과가 일부 유의하게 남는가?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8851392" y="4937760"/>
            <a:ext cx="219456" cy="137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871E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263640" y="50749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446520" y="525780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46520" y="52578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H3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7178040" y="52212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세그먼트 이질성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446520" y="56967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이 관련성은 모든 고객에게 균일한가,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특정 특성과 결합해 더 강해지는가?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고객 반응 이력 기반 세그먼트별 캠페인 투자 효율화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개요 &amp; 전처리 판단 요약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판단은 '무엇을 통제할 것인가'와 '무엇이 confounder이고 무엇이 mediator인가'였다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 마케팅 캠페인 (Kaggle)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416552" y="182880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2,036행 (완전중복 182건 제거 후, 고객 1명 = 1행)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82880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119872" y="182880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32개 (원본 29개 + 파생 3개)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목록 (전체)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2697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식별자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Year_Birth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출생연도 (→ Age 파생)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 (Graduation/PhD/Master/2n Cycle/Basic)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Marital_Status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 상태 (Married/Together/Single/Divorced/Widow 등)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가구 소득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Kidhome, Teenhome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수(어린이/청소년) (→ Children 파생)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Dt_Customer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가입일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구매 후 경과일수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697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Mnt* (6종)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와인·과일·고기·생선·단과자·골드 등 카테고리별 지출액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Num*Purchases (4종)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딜·웹·카탈로그·매장 구매 채널별 횟수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NumWebVisitsMonth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웹사이트 방문 횟수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AcceptedCmp1~5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1~5차 캠페인별 수락 여부 (5종, 내용이 같은 유형이라 하나로 묶음 → AnyAccepted 파생)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불만 제기 여부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6차 캠페인 수락 여부 (종속변수)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Income_missing, AgeGroup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 플래그 · 파생 연령대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2514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판단 3가지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834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64808" y="291693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통제변수 선택: confounder vs mediator 구분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64808" y="3200400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Income/Age/Children/Education은 시간상 AnyAccepted보다 선행하는 confounder 후보로 우선 통제(Model A). 소비 규모·구매채널 변수는 AnyAccepted '이후' 발생했을 가능성이 있어 mediator 위험을 명시한 별도 모델(Model B)로 분리해 확인.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4005072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64808" y="4087368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Recency의 역인과 가능성 검토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64808" y="4370832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Recency가 6차 캠페인 발송 이전에 고정된 값인지 문서로 확인되지 않아, Response=1/0 그룹의 Recency 분포를 비교해 극단적 역인과 오염 가능성을 배제한 뒤 통제.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517550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64808" y="5257800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Kidhome+Teenhome → Children 파생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64808" y="5541264"/>
            <a:ext cx="4946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변수는 '자녀 유무'라는 중복 정보를 담고 있어 다중공선성 위험이 있고, 소비 패턴(와인·고기·금 등)은 자녀 나이보다 자녀 수와 관련이 크다고 판단해 단일 변수로 통합.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6281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상세 (Education 재범주화, 결측치 처리, 중복 제거 등)는 부록 14쪽 참고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· H1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 ① 원시 연관성은 매우 강하다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 없이 보면, 과거 캠페인 수락 경험은 6차 캠페인 반응 오즈를 7.5배 높인다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7.54배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오즈비 (OR)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[5.81, 9.79]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358444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.001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3.56e-52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2,036명 기준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5093208"/>
            <a:ext cx="2377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1.11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" y="5614416"/>
            <a:ext cx="237744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환산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 기준 0.8을 상회)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반응률 비교 (AnyAccepted 여부)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520440" y="2286000"/>
          <a:ext cx="81381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3520440" y="52120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 32.8%p — 표본이 커서 p-value는 항상 유의하게 나오므로, %p 차이·Cohen's d까지 함께 확인해 실질적 크기를 판단했다.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· H2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 ② confounder를 통제해도 효과는 견고하다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인구통계·소비·채널 변수를 모두 통제해도 오즈비는 6.84로, 9% 남짓만 줄었다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 오즈비 흐름 (통제 변수를 늘려갈수록)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194560"/>
          <a:ext cx="5943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194560"/>
          <a:ext cx="4937760" cy="15544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오즈비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(통제 없음)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[5.81, 9.79]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3.56e-52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 (인구통계)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[5.14, 9.18]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8.19e-39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 (+소비·채널)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[4.87, 9.61]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1.50e-28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720840" y="397764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6903720" y="41148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점검: </a:t>
            </a: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모델에서 AnyAccepted의 VIF는 1.1~1.4로 다중공선성 문제 없음.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해석: </a:t>
            </a: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A→B로 넘어가도 거의 변화 없다는 것은 소비·채널 변수가 confounder였다는 가설이 기각된다는 뜻.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 중심 모델: Model A (오즈비 6.87) — Model B는 mediator 과잉통제 위험을 감안한 참고용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· H3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 ③ 세그먼트별 차이는 통계적으로 유의하지 않다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오즈비는 4.70~9.35배로 벌어져 보이지만, 교호작용 검정 결과 차이는 없다(p = 0.43)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AnyAccepted → Response 오즈비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317668727"/>
              </p:ext>
            </p:extLst>
          </p:nvPr>
        </p:nvGraphicFramePr>
        <p:xfrm>
          <a:off x="548640" y="2194560"/>
          <a:ext cx="69494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219456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교호작용항 LR Test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0100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0.4288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001000" y="3383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2.768, df = 3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세그먼트에 따라 AnyAccepted 효과가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유의하게 다르다는 근거 없음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16052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955280" y="4297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신뢰구간이 세그먼트 간에 크게 겹쳐, 표에서 보이는 순위 차이는 표본 변동(노이즈)으로 설명 </a:t>
            </a:r>
            <a:r>
              <a:rPr lang="en-US" sz="1100" i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수준이다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정의: 인구통계(Income·Age·Children·Education·Marital_Status) 기반 k-prototypes 군집(k=4, Silhouette 0.464). 상세 프로파일은 부록 19쪽.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B3BDC-FC38-254B-6D35-F38BF287CE86}"/>
              </a:ext>
            </a:extLst>
          </p:cNvPr>
          <p:cNvSpPr txBox="1"/>
          <p:nvPr/>
        </p:nvSpPr>
        <p:spPr>
          <a:xfrm>
            <a:off x="365760" y="3491043"/>
            <a:ext cx="1616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(</a:t>
            </a:r>
            <a:r>
              <a:rPr lang="ko-KR" altLang="en-US" sz="900" dirty="0"/>
              <a:t>평균나이</a:t>
            </a:r>
            <a:r>
              <a:rPr lang="en-GB" altLang="ko-KR" sz="900" dirty="0"/>
              <a:t>: </a:t>
            </a:r>
            <a:r>
              <a:rPr lang="en-GB" sz="900" dirty="0"/>
              <a:t>57.6</a:t>
            </a:r>
            <a:r>
              <a:rPr lang="ko-KR" altLang="en-US" sz="900" dirty="0"/>
              <a:t>세</a:t>
            </a:r>
            <a:r>
              <a:rPr lang="en-GB" altLang="ko-KR" sz="900" dirty="0"/>
              <a:t>)</a:t>
            </a:r>
            <a:endParaRPr lang="en-GB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797D53-C4AC-FD23-FB1E-7CB719EC32A9}"/>
              </a:ext>
            </a:extLst>
          </p:cNvPr>
          <p:cNvSpPr txBox="1"/>
          <p:nvPr/>
        </p:nvSpPr>
        <p:spPr>
          <a:xfrm>
            <a:off x="365760" y="2757291"/>
            <a:ext cx="1616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(</a:t>
            </a:r>
            <a:r>
              <a:rPr lang="ko-KR" altLang="en-US" sz="900" dirty="0"/>
              <a:t>평균나이</a:t>
            </a:r>
            <a:r>
              <a:rPr lang="en-GB" altLang="ko-KR" sz="900" dirty="0"/>
              <a:t>: 48.9</a:t>
            </a:r>
            <a:r>
              <a:rPr lang="ko-KR" altLang="en-US" sz="900" dirty="0"/>
              <a:t>세</a:t>
            </a:r>
            <a:r>
              <a:rPr lang="en-GB" altLang="ko-KR" sz="900" dirty="0"/>
              <a:t>)</a:t>
            </a:r>
            <a:endParaRPr lang="en-GB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5A8D4D-4C9F-78D9-49C6-61F4C64302EF}"/>
              </a:ext>
            </a:extLst>
          </p:cNvPr>
          <p:cNvSpPr txBox="1"/>
          <p:nvPr/>
        </p:nvSpPr>
        <p:spPr>
          <a:xfrm>
            <a:off x="365760" y="4242418"/>
            <a:ext cx="1616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(</a:t>
            </a:r>
            <a:r>
              <a:rPr lang="ko-KR" altLang="en-US" sz="900" dirty="0"/>
              <a:t>평균나이</a:t>
            </a:r>
            <a:r>
              <a:rPr lang="en-GB" altLang="ko-KR" sz="900" dirty="0"/>
              <a:t>: 37.2</a:t>
            </a:r>
            <a:r>
              <a:rPr lang="ko-KR" altLang="en-US" sz="900" dirty="0"/>
              <a:t>세</a:t>
            </a:r>
            <a:r>
              <a:rPr lang="en-GB" altLang="ko-KR" sz="900" dirty="0"/>
              <a:t>)</a:t>
            </a:r>
            <a:endParaRPr lang="en-GB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33D7A9-5F27-3163-8C2A-6D04A2EF68FB}"/>
              </a:ext>
            </a:extLst>
          </p:cNvPr>
          <p:cNvSpPr txBox="1"/>
          <p:nvPr/>
        </p:nvSpPr>
        <p:spPr>
          <a:xfrm>
            <a:off x="365760" y="4996375"/>
            <a:ext cx="1616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(</a:t>
            </a:r>
            <a:r>
              <a:rPr lang="ko-KR" altLang="en-US" sz="900" dirty="0"/>
              <a:t>평균나이</a:t>
            </a:r>
            <a:r>
              <a:rPr lang="en-GB" altLang="ko-KR" sz="900" dirty="0"/>
              <a:t>: 36.4</a:t>
            </a:r>
            <a:r>
              <a:rPr lang="ko-KR" altLang="en-US" sz="900" dirty="0"/>
              <a:t>세</a:t>
            </a:r>
            <a:r>
              <a:rPr lang="en-GB" altLang="ko-KR" sz="900" dirty="0"/>
              <a:t>)</a:t>
            </a:r>
            <a:endParaRPr lang="en-GB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인사이트: 발견이 말해주는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AnyAccepted는 confounding으로 설명되지 않는 고유 신호이며, 그 힘은 인구통계와 무관하게 보편적이다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H2 인사이트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오즈비가 잘 안 줄어드는가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인구통계, 소비력, 구매채널까지 통제해도 오즈비가 9% 남짓만 줄었다는 것은 </a:t>
            </a: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"원래 반응 잘하는 사람이라서 과거에도 지금도 수락한다"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confounding 설명력이 낮다는 뜻이다. 즉 AnyAccepted 자체가 관측되지 않은 무언가(브랜드 충성도, 프로모션 민감도 등)를 담은 고유 신호일 가능성이 높다.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PSM·DiD 같은 반사실적 비교 없이는 "연관성"이지 "인과"로 단정할 수 없다 — 미관측 confounder 가능성은 남아있다.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9659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인사이트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65176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세그먼트 차이가 통계적으로 없는가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오즈비 차이(4.70~9.35배)는 신뢰구간이 서로 크게 겹치고 교호작용 검정에서도 비유의(p=0.43)했다. 이는 세그먼트당 400~600명 규모에서 발생한 </a:t>
            </a: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변동(노이즈)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가능성이 높다는 뜻이다.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 AnyAccepted 신호는 소득·연령·자녀 수 등 인구통계와 무관하게 보편적으로 작동한다 — "특정 세그먼트를 우대해야 한다"는 근거는 확보되지 않았다.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표본을 4분할 후 교호작용까지 검정한 구조상 검정력이 낮아, "차이 없음"보다 "이 표본으로 유의한 차이를 발견 못함"이 정확한 표현이다.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액션플랜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 게이트를 통과한 고객에게만 세그먼트별 차등 예산을 배분한다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“AnyAccepted=1 여부가 세그먼트보다 우선하는 1차 필터다. 손익분기 반응률(27.3%)을 세그먼트 불문 AnyAccepted=0 그룹은 충족하지 못하고, AnyAccepted=1 그룹은 전 세그먼트가 충족한다.”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 게이트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721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AnyAccepted=1(423명, 20.8%)만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타겟 풀로 필터링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041648" y="3497580"/>
            <a:ext cx="109728" cy="182880"/>
          </a:xfrm>
          <a:prstGeom prst="right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16052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3434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4340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배분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43400" y="3721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필터링된 대상 안에서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기준 예산 차등 배분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653528" y="3497580"/>
            <a:ext cx="109728" cy="182880"/>
          </a:xfrm>
          <a:prstGeom prst="right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772400" y="28803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95528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5528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휴면 재분류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0" y="3721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AnyAccepted=1 중 무반응자(248명)를</a:t>
            </a:r>
            <a:endParaRPr lang="en-US" sz="103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윈백 대상으로 재분류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635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49808" y="4754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4980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61872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5029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2주 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5376672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AnyAccepted=1 필터링 + 휴면 반응 이력자 윈백 캠페인 운영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749808" y="587959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10쪽 자세히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4572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635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498848" y="4754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49884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10912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마케팅기획팀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10912" y="5029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시점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98848" y="5376672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ROI 기준 예산 차등 배분 + 채널·메시지·오퍼 실행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4498848" y="587959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11쪽 자세히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46720" y="4572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635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247888" y="4754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247888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759952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데이터분석팀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59952" y="50292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7차 캠페인 이후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47888" y="5376672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재검정 · 소비행동 기반 세그먼트 재정의 · 정성조사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8247888" y="587959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12쪽 자세히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CRM팀 실행 액션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 필터링부터 휴면 재분류, 육성 트랙까지 3단계로 운영한다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635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49808" y="20574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44144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 필터링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95351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· 발송 2주 전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49808" y="3246120"/>
            <a:ext cx="3163824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49808" y="3355848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3593592"/>
            <a:ext cx="3163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대상 확정 시점에 AnyAccepted=1 고객(423명, 20.8%)을 1차 타겟 풀로 필터링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49808" y="4892040"/>
            <a:ext cx="3163824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8680" y="4946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5148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발송(반응률 15.4%) 대비 반응률 대폭 개선(41.4%). 세그먼트 무관하게 오즈비 6.27~9.35로 일관되게 유의한 신호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297680" y="18745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635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498848" y="20574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498848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98848" y="244144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휴면 반응 이력자 윈백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98848" y="295351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· 발송 2주 전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498848" y="3246120"/>
            <a:ext cx="3163824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498848" y="3355848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98848" y="3593592"/>
            <a:ext cx="3163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AnyAccepted=1 중 최근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무반응자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(Response=0) </a:t>
            </a:r>
            <a:b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248명(58.6%)을 '휴면 반응 이력자'로 태깅.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고소득 장년층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(97명)+고소득 청년층(84명), 합산 181명(73%)을 우선 윈백 오퍼 대상으로 선정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498848" y="4892040"/>
            <a:ext cx="3163824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17720" y="4946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51480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휴면</a:t>
            </a: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고객들 중</a:t>
            </a: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숫자가 큰</a:t>
            </a: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고소득 장년층</a:t>
            </a: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/고소득 청년층 중심 재활성화 규모(181명) 확보. 개선율은 A/B 테스트로 검증 필요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046720" y="18745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63500" dist="25400" dir="5400000" algn="bl" rotWithShape="0">
              <a:srgbClr val="9AA5B1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247888" y="20574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247888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47888" y="244144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AnyAccepted=0 육성 트랙 분리 운영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47888" y="2953512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· 캠페인 기간 중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247888" y="3246120"/>
            <a:ext cx="3163824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247888" y="3355848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47888" y="3593592"/>
            <a:ext cx="3163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AnyAccepted=0 고객(1,613명, 79.2%)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본 캠페인에서 제외, 저비용 채널(이메일/앱푸시)로 세그먼트별 차등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고소득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청년층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소액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체험서비스</a:t>
            </a:r>
            <a:endParaRPr lang="en-US" sz="98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GB" altLang="ko-KR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고소득 장년층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리마인드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오퍼</a:t>
            </a:r>
            <a:endParaRPr lang="en-US" sz="98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저소득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청년층 웹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리타겟팅</a:t>
            </a:r>
            <a:endParaRPr lang="en-US" sz="98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다자녀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중장년층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최소접촉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8247888" y="4892040"/>
            <a:ext cx="3163824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366760" y="4946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66760" y="5148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저효율 대상 캠페인 비용 낭비 방지 + 향후 AnyAccepted=1 풀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(현재 20.8%) 점진적 확대 파이프라인 확보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100">
                <a:solidFill>
                  <a:srgbClr val="E8871E"/>
                </a:solidFill>
                <a:latin typeface="Calibri"/>
                <a:ea typeface="Calibri"/>
                <a:cs typeface="Calibri"/>
              </a:rPr>
              <a:t>MARKETING PLANNING TEAM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마케팅기획팀: 예산 배분 및 채널·메시지 전략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 i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ROI가 높은 세그먼트에 예산을 집중해 예산 대비 총 기대 순이익을 극대화한다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세그먼트별 예산 배분 (AnyAccepted=1 대상, ROI 기준)</a:t>
            </a:r>
            <a:endParaRPr lang="en-US" sz="11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2139696"/>
          <a:ext cx="5669280" cy="1417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세그먼트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인원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반응률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ROI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예산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① 고소득 청년층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161명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47.8%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75.4%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40%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② 저소득 청년층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64명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45.3%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66.1%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30%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③ </a:t>
                      </a:r>
                      <a:r>
                        <a:rPr lang="ko-KR" alt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고소득 장년층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152명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36.2%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32.7%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④ 다자녀 중장년층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46명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30.4%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11.6%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98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10%</a:t>
                      </a:r>
                      <a:endParaRPr lang="en-US" sz="98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847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예산 배분 비중</a:t>
            </a:r>
            <a:endParaRPr lang="en-US" sz="115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141962122"/>
              </p:ext>
            </p:extLst>
          </p:nvPr>
        </p:nvGraphicFramePr>
        <p:xfrm>
          <a:off x="6400800" y="2103120"/>
          <a:ext cx="52120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65760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777240" y="373075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0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“원래 반응 성향이 높고 ROI가 높아, 같은 예산 대비 순이익을 더 크게 확보할 수 있</a:t>
            </a:r>
            <a:r>
              <a:rPr lang="ko-KR" altLang="en-US" sz="10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는 고객 세그먼트에</a:t>
            </a:r>
            <a:r>
              <a:rPr lang="en-US" sz="10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0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예산을 </a:t>
            </a:r>
            <a:r>
              <a:rPr lang="en-US" sz="10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우선 배정한다” (base rate + ROI 근거)</a:t>
            </a:r>
            <a:endParaRPr lang="en-US" sz="1050"/>
          </a:p>
        </p:txBody>
      </p:sp>
      <p:sp>
        <p:nvSpPr>
          <p:cNvPr id="7" name="Text 8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세그먼트별 채널·메시지·오퍼 실행 (AnyAccepted=1 대상)</a:t>
            </a:r>
            <a:endParaRPr lang="en-US" sz="115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548640" y="4773168"/>
          <a:ext cx="11064240" cy="1417320"/>
        </p:xfrm>
        <a:graphic>
          <a:graphicData uri="http://schemas.openxmlformats.org/drawingml/2006/table">
            <a:tbl>
              <a:tblPr/>
              <a:tblGrid>
                <a:gridCol w="177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세그먼트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채널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메시지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오퍼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고소득 청년층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ko-KR" alt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매장</a:t>
                      </a:r>
                      <a:r>
                        <a:rPr lang="en-GB" altLang="ko-KR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lang="ko-KR" alt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카탈로그 </a:t>
                      </a:r>
                      <a:r>
                        <a:rPr lang="en-GB" altLang="ko-KR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(</a:t>
                      </a:r>
                      <a:r>
                        <a:rPr lang="ko-KR" alt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매장 중심</a:t>
                      </a:r>
                      <a:r>
                        <a:rPr lang="en-GB" altLang="ko-KR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프리미엄/독점성, 미혼·무자녀엔 '1인 프리미엄'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한정판, 프리미엄 </a:t>
                      </a:r>
                      <a:r>
                        <a:rPr lang="ko-KR" alt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체험 및 프리뷰</a:t>
                      </a: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 (할인 지양)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ko-KR" alt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고소득 장년층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매장+카탈로그 (</a:t>
                      </a:r>
                      <a:r>
                        <a:rPr lang="ko-KR" alt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카탈로그 중심</a:t>
                      </a:r>
                      <a:r>
                        <a:rPr lang="en-GB" altLang="ko-KR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'단골 감사 리워드', 신뢰 강조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누적 리워드, 확실한 혜택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저소득 청년층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웹/모바일 중심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PhD엔 '커리어 스타터', 나머지는 '합리적 소비'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첫구매 할인, 무료배송, 리마인드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다자녀 중장년층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저비용 디지털만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가족 단위 프레이밍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2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다자녀 할인, 대용량 묶음</a:t>
                      </a:r>
                      <a:endParaRPr lang="en-US" sz="92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48640" y="62362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* 채널 선호는 과거 구매 채널 데이터 기반 추정치이며, 실제 개봉률/클릭률은 미검증 — 실행 후 실측 데이터로 보정 필요</a:t>
            </a:r>
            <a:endParaRPr lang="en-US" sz="950"/>
          </a:p>
        </p:txBody>
      </p:sp>
      <p:sp>
        <p:nvSpPr>
          <p:cNvPr id="15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고객 반응 이력 기반 세그먼트별 캠페인 투자 효율화</a:t>
            </a:r>
            <a:endParaRPr lang="en-US" sz="900"/>
          </a:p>
        </p:txBody>
      </p:sp>
      <p:sp>
        <p:nvSpPr>
          <p:cNvPr id="16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100">
                <a:solidFill>
                  <a:srgbClr val="E8871E"/>
                </a:solidFill>
                <a:latin typeface="Calibri"/>
                <a:ea typeface="Calibri"/>
                <a:cs typeface="Calibri"/>
              </a:rPr>
              <a:t>DATA ANALYSIS TEAM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데이터분석팀 후속 검증 및 종합 타임라인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 i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세그먼트 차등 효과와 다자녀 세그먼트 반응 저하 원인을 다음 단계에서 검증한다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548640" y="16897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78123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PSM 및 세그먼트×AnyAccepted 상호작용 재검정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31520" y="209213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altLang="ko-KR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7</a:t>
            </a: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차 캠페인 데이터 누적 후 PSM으로 AnyAccepted 연관성을 인과적 해석에 가깝게 보강, 누적 표본으로 검정력을 높여 세그먼트 간 이질적 효과(2종 오류 가능성) 재확인</a:t>
            </a:r>
          </a:p>
        </p:txBody>
      </p:sp>
      <p:sp>
        <p:nvSpPr>
          <p:cNvPr id="9" name="Shape 7"/>
          <p:cNvSpPr/>
          <p:nvPr/>
        </p:nvSpPr>
        <p:spPr>
          <a:xfrm>
            <a:off x="6172200" y="16897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355080" y="178123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소비행동 피처 반영한 세그먼트 재정의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6355080" y="209213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구매채널(Web/Catalog/Store)·카테고리별 지출액을 추가 반영해 세그먼트 재정의 후 오즈비 비교 재수행</a:t>
            </a:r>
            <a:endParaRPr lang="en-US" sz="980"/>
          </a:p>
        </p:txBody>
      </p:sp>
      <p:sp>
        <p:nvSpPr>
          <p:cNvPr id="12" name="Shape 10"/>
          <p:cNvSpPr/>
          <p:nvPr/>
        </p:nvSpPr>
        <p:spPr>
          <a:xfrm>
            <a:off x="548640" y="281201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31520" y="290345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</a:t>
            </a:r>
            <a:r>
              <a:rPr lang="ko-KR" alt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다자녀</a:t>
            </a: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세그먼트 원인 규명 정성조사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731520" y="321435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다자녀 중장년층 대상 설문/인터뷰 설계 착수, </a:t>
            </a:r>
          </a:p>
          <a:p>
            <a:pPr marL="0" indent="0">
              <a:lnSpc>
                <a:spcPct val="112000"/>
              </a:lnSpc>
              <a:buNone/>
              <a:defRPr/>
            </a:pP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자녀수</a:t>
            </a:r>
            <a:r>
              <a:rPr lang="ko-KR" alt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와 </a:t>
            </a: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반응률 </a:t>
            </a:r>
            <a:r>
              <a:rPr lang="ko-KR" alt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간</a:t>
            </a: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음의 상관관계의</a:t>
            </a: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실제 원인(시간 부족/재정 여력/기타) 규명</a:t>
            </a:r>
            <a:endParaRPr lang="en-US" sz="980"/>
          </a:p>
        </p:txBody>
      </p:sp>
      <p:sp>
        <p:nvSpPr>
          <p:cNvPr id="15" name="Shape 13"/>
          <p:cNvSpPr/>
          <p:nvPr/>
        </p:nvSpPr>
        <p:spPr>
          <a:xfrm>
            <a:off x="6172200" y="281201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55080" y="290345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방법론 한계 명시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6355080" y="321435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98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"Education/Marital_Status는 세그먼트 구분에 거의 기여하지 못했다"는 한계를 리포트에 명시, 후속 프로젝트에서 사후 프로파일링 변수로 전환 검토</a:t>
            </a:r>
            <a:endParaRPr lang="en-US" sz="98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종합 타임라인</a:t>
            </a:r>
            <a:endParaRPr lang="en-US" sz="125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4910328"/>
          <a:ext cx="11064240" cy="1508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시점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담당팀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작업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발송 2주 전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CRM팀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AnyAccepted=1 필터링 + 휴면자(181명) 윈백 리스트 확정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발송 시점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마케팅기획팀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세그먼트별 ROI 기준 예산 배분 실행, 채널/메시지 집행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캠페인 기간 중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CRM팀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AnyAccepted=0 육성 트랙 병행 운영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캠페인 종료 후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마케팅기획팀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실제 채널 성과 측정, 전략 보정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7차 캠페인 이후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데이터분석팀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PSM 재검정 · 세그먼트 재정의 · 정성조사 · 한계 명시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고객 반응 이력 기반 세그먼트별 캠페인 투자 효율화</a:t>
            </a:r>
            <a:endParaRPr lang="en-US" sz="90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  <p:sp>
        <p:nvSpPr>
          <p:cNvPr id="23" name="TextBox 22"/>
          <p:cNvSpPr txBox="1"/>
          <p:nvPr/>
        </p:nvSpPr>
        <p:spPr>
          <a:xfrm>
            <a:off x="2359429" y="4119608"/>
            <a:ext cx="7056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400" b="1">
                <a:solidFill>
                  <a:srgbClr val="1E2761"/>
                </a:solidFill>
                <a:latin typeface="Calibri"/>
                <a:cs typeface="Calibri"/>
              </a:rPr>
              <a:t>“7</a:t>
            </a:r>
            <a:r>
              <a:rPr lang="ko-KR" altLang="en-US" sz="1400" b="1">
                <a:solidFill>
                  <a:srgbClr val="1E2761"/>
                </a:solidFill>
                <a:latin typeface="Calibri"/>
                <a:cs typeface="Calibri"/>
              </a:rPr>
              <a:t>차 캠페인 결과 분석을 바탕으로 고객 세그먼트</a:t>
            </a:r>
            <a:r>
              <a:rPr lang="en-GB" altLang="ko-KR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1400" b="1">
                <a:solidFill>
                  <a:srgbClr val="1E2761"/>
                </a:solidFill>
                <a:latin typeface="Calibri"/>
                <a:cs typeface="Calibri"/>
              </a:rPr>
              <a:t>오퍼를 고도화한 </a:t>
            </a:r>
            <a:r>
              <a:rPr lang="en-GB" altLang="ko-KR" sz="1400" b="1">
                <a:solidFill>
                  <a:srgbClr val="1E2761"/>
                </a:solidFill>
                <a:latin typeface="Calibri"/>
                <a:cs typeface="Calibri"/>
              </a:rPr>
              <a:t>8</a:t>
            </a:r>
            <a:r>
              <a:rPr lang="ko-KR" altLang="en-US" sz="1400" b="1">
                <a:solidFill>
                  <a:srgbClr val="1E2761"/>
                </a:solidFill>
                <a:latin typeface="Calibri"/>
                <a:cs typeface="Calibri"/>
              </a:rPr>
              <a:t>차 캠페인 준비</a:t>
            </a:r>
            <a:r>
              <a:rPr lang="en-GB" altLang="ko-KR" sz="1400" b="1">
                <a:solidFill>
                  <a:srgbClr val="1E2761"/>
                </a:solidFill>
                <a:latin typeface="Calibri"/>
                <a:cs typeface="Calibri"/>
              </a:rPr>
              <a:t>”</a:t>
            </a:r>
            <a:endParaRPr lang="en-GB" sz="1400" b="1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한계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분석은 '연관성'을 확인했을 뿐 '인과'는 증명하지 못했고, ROI 기반 </a:t>
            </a:r>
            <a:r>
              <a:rPr lang="en-US" sz="1500" b="1" i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우선순위는</a:t>
            </a: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i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참고용</a:t>
            </a:r>
            <a:r>
              <a:rPr lang="ko-KR" alt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</a:t>
            </a:r>
            <a:r>
              <a:rPr lang="ko-KR" altLang="en-US" sz="1500" b="1" i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활용해아</a:t>
            </a:r>
            <a:r>
              <a:rPr lang="ko-KR" alt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인과추론의 근본적 한계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51705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데이터 기반 분석으로, 실험적 배정이나 PSM·DiD 같은 반사실적 비교 절차를 거치지 않았다. Model A/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B에서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통제 후에도 오즈비가 견고했다는 사실은 인과적 해석 가능성을 뒷받침하는 정황일 뿐, 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미관측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(브랜드 충성도, 프로모션 민감도 등)의 존재 가능성을 배제하지 못한다.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Recency의 역인과 가능성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767328"/>
            <a:ext cx="5074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Recency가 6차 캠페인 발송 이전 시점에 고정된 값인지 원본 데이터 문서로 확인되지 않았다. Response=1/0 그룹의 Recency 분포 비교(중앙값 30일 vs 52일, 극단적으로 0에 쏠리지 않음)로 심각한 역인과 오염 가능성은 낮다고 판단했으나, 완전히 배제할 수는 없다.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H3</a:t>
            </a:r>
            <a:r>
              <a:rPr lang="ko-KR" alt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검정력(power) 문제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276088"/>
            <a:ext cx="51705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표본을 4개 세그먼트로 분할한 뒤 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</a:t>
            </a:r>
            <a:r>
              <a:rPr lang="ko-KR" alt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세그먼트간 효과를 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검정하는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구조상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적은 표본 수로 인해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검정력이 낮아, 실제로 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존재하는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차이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발견하지 못했을 가능성(2종 오류)이 </a:t>
            </a:r>
            <a:r>
              <a:rPr lang="en-US" sz="9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</a:t>
            </a: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표본 크기로는 유의한 이질성을 발견하지 못했다"는 표현이 더 정확하다.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46520" y="19842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클러스터링의 범주형 변수 한계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2350008"/>
            <a:ext cx="5074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Education·Marital_Status가 세그먼트 구분에 유의미하게 기여하는 gamma 값을 찾지 못했다. gamma를 낮게 유지하면 범주형이 거의 무시되고, 높이면 오히려 범주형이 클러스터를 지배해 원래 목적(인구통계 조합 세그먼트)이 훼손되는 트레이드오프가 확인되었다.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63640" y="416052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46520" y="427024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</a:t>
            </a:r>
            <a:r>
              <a:rPr lang="ko-KR" alt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예산배분</a:t>
            </a:r>
            <a:r>
              <a:rPr lang="ko-KR" alt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한계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4764024"/>
            <a:ext cx="5196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예산배분에 사용한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ROI(75.4%~11.6%)는 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확보된 데이터에 기반한 추정치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이며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간 AnyAccepted 효과 차이는 통계적으로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유의하지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않기 때문에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집행 결과가 이 ROI 순위와 다르게 나타날 수 있</a:t>
            </a: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예산 배분은 확정적 근거가 아닌 참고 지표로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취급해야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한다</a:t>
            </a: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ko-KR" altLang="en-US" sz="98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실제 캠페인을 진행하면서 관측되는 퍼포먼스 데이터로 유연한 예산배분 방법을 고려해야 함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 이력 기반 세그먼트별 캠페인 투자 효율화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상세 · 회귀 결과표 · Recency 검토 · 클러스터링 방법론 · 클러스터링 시각자료 · 세그먼트 프로파일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전처리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3쪽에서 다루지 않은 전처리 판단 근거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재범주화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'2n Cycle'은 포르투갈식 학제 표기로 의미가 애매해, 실무 관행에 따라 Master에 준하는 값으로 취급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3090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Marital_Status 정리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Alone/Absurd/YOLO(각 2~3명, 설문 오류·장난성 응답으로 판단) → Single로 통합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31520" y="4233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결측치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24건, Education·Marital_Status별 결측 비율 차이 미미(0~1.9%) → 중앙값 대체. Total_Mnt가 낮은 경향은 있으나 표본이 작아 확정적 패턴으로 보기는 어려움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" y="5376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income=7500 중복값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모든 값이 서로 다른 정상 케이스로 판단, 주석만 남기고 유지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55080" y="1947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완전중복 레코드 (358건 연루, 182건 제거)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2240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고객이 소득·가입일·지출액까지 완전히 같을 확률은 사실상 0 → 동일 레코드가 중복 삽입된 것으로 판단해 1건만 유지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017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355080" y="3090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ID·Response만 다른 레코드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55080" y="3383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집계 오류로 0이 먼저 기록된 후 1로 정정된 것으로 판단해 Response=1 유지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4160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355080" y="4233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Z_CostContact, Z_Revenue 제거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55080" y="4526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행에서 값이 동일해 통계적으로 정보가 없는 상수 컬럼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530352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355080" y="53766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 파생변수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56692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AcceptedCmp1~5 중 하나라도 수락(=1)했으면 1, 아니면 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회귀분석 상세 결과 (Model A / Model 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confounder 통제 모델의 전체 계수와 VIF 결과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인구통계 통제 (일부 변수)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48640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AnyAccepted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1.7e-06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Marital_Status_Married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인구통계+소비/채널 통제 (일부 변수)</a:t>
            </a:r>
            <a:endParaRPr lang="en-US" sz="12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194560"/>
          <a:ext cx="548640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AnyAccepted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MntMeatProducts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NumStorePurchases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NumWebVisitsMonth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점검 요약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AnyAccepted VIF: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 (A) / 1.35 (B) — 매우 낮음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더미 (Graduation/Master/PhD):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8~12 — 같은 범주형 변수에서 파생된 더미 간 구조적 현상으로, 실질적 다중공선성 문제 아님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개념 변수 간 VIF: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4.05, MntWines 3.20 등 모두 5 미만 — 안전 수준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 역인과 가능성 검토 상세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Response=1 그룹의 Recency가 넓게 분포해, 극단적 역인과 오염 가능성은 낮다고 판단했다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그룹별 Recency 기술통계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21408"/>
          <a:ext cx="11064240" cy="777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(미반응)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(반응)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063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시각화 (min · 25% · 50%(중앙값) · 75% · max, 단위: 일)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85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= 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77440" y="3822192"/>
            <a:ext cx="8778240" cy="36576"/>
          </a:xfrm>
          <a:prstGeom prst="rect">
            <a:avLst/>
          </a:prstGeom>
          <a:solidFill>
            <a:srgbClr val="D8DE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815840" y="3703320"/>
            <a:ext cx="4389120" cy="27432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974517" y="3648456"/>
            <a:ext cx="2743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668193" y="34107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03120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41520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930640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881360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800" dirty="0"/>
          </a:p>
        </p:txBody>
      </p:sp>
      <p:sp>
        <p:nvSpPr>
          <p:cNvPr id="7" name="Text 15"/>
          <p:cNvSpPr/>
          <p:nvPr/>
        </p:nvSpPr>
        <p:spPr>
          <a:xfrm>
            <a:off x="548640" y="4507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= 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77440" y="4645152"/>
            <a:ext cx="8778240" cy="36576"/>
          </a:xfrm>
          <a:prstGeom prst="rect">
            <a:avLst/>
          </a:prstGeom>
          <a:solidFill>
            <a:srgbClr val="D8DE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52800" y="4526280"/>
            <a:ext cx="3990109" cy="27432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023797" y="4471416"/>
            <a:ext cx="2743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717473" y="42336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103120" y="4837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078480" y="4837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068589" y="4837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881360" y="48371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" y="51663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777240" y="528523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근거: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6차 캠페인 구매(Response=1)가 Recency 값에 직접 반영됐다면, Response=1 그룹은 거의 대부분 Recency가 0~수일 이내로 몰려 있어야 한다. 그러나 실제로는 25%가 11일, 중앙값이 30일, 75%가 56일로 넓게 퍼져 있어 극단적 역인과 오염 가능성은 낮다고 판단했다.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남는 한계: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Recency가 6차 캠페인 발송 이전 시점에 정확히 고정(freeze)된 값인지는 원본 데이터 파이프라인 문서로 확인되지 않아, 가능성을 완전히 배제할 수는 없다. (분석 한계 12쪽 참고)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클러스터링 방법론 상세 (k-prototypes gamma 실험)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gamma를 조정해도 범주형·수치형을 동시에 잘 반영하는 지점을 찾지 못했다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2377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(기본값, 채택)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세그먼트 간 범주형 분포 차이 5~15%p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사실상 수치형(Income/Age/Children)이 세그먼트를 주도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 소폭 확대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여전히 수치형이 우세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세그먼트가 Together 62.6%·Master 64.7%·PhD 54% 등으로 쏠림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범주형이 세그먼트를 정의하기 시작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Graduation 94.7%·Master 85.6%·Graduation 0% 등 완전 쏠림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범주형이 클러스터를 지배, 원래 목적(인구통계 조합) 훼손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로딩 확인: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PC1(31.3%)·PC2(25.0%)는 거의 Income/Age/Children으로 설명되며(로딩 0.26~0.86), Education·Marital_Status 로딩은 0.03~0.1 수준으로 사실상 기여도 없음.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판단: </a:t>
            </a: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gamma를 억지로 튜닝하기보다 기본값(0.5)을 채택하고, "범주형 변수는 이 인구통계 축에서 구분력이 낮았다"는 것을 정직하게 리포트하는 편을 선택 (k=4, Silhouette 0.464).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Elbow / Silhouette · PCA 산점도 원본 시각자료는 부록 E(다음 페이지) 참고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클러스터링 시각자료 (Elbow · Silhouette · PCA)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k=4는 비용 감소가 완만해지고 실루엣 점수가 가장 높은 지점에서 합리적으로 선택되었다</a:t>
            </a:r>
            <a:endParaRPr lang="en-US" sz="1500" dirty="0"/>
          </a:p>
        </p:txBody>
      </p:sp>
      <p:pic>
        <p:nvPicPr>
          <p:cNvPr id="6" name="Image 0" descr="/mnt/user-data/uploads/178755468617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96" y="1874520"/>
            <a:ext cx="6766560" cy="23870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1196" y="4298147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Method(좌) · Silhouette Score(우) — k=4에서 실루엣 점수 최고(0.4633), 비용 감소는 k=4 이후 완만해짐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4718771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77240" y="4855931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선택 근거</a:t>
            </a:r>
            <a:endParaRPr lang="en-US" sz="115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Elbow: k=4~5 구간에서 비용 감소가 완만해짐</a:t>
            </a:r>
            <a:endParaRPr lang="en-US" sz="115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k=4에서 최고점(0.4633)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두 지표 모두 k=4를 지지</a:t>
            </a:r>
            <a:endParaRPr lang="en-US" sz="1150" dirty="0"/>
          </a:p>
        </p:txBody>
      </p:sp>
      <p:pic>
        <p:nvPicPr>
          <p:cNvPr id="10" name="Image 1" descr="/mnt/user-data/uploads/1787554695297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981" y="4718771"/>
            <a:ext cx="1884989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0" y="4718771"/>
            <a:ext cx="3931920" cy="1463040"/>
          </a:xfrm>
          <a:prstGeom prst="roundRect">
            <a:avLst>
              <a:gd name="adj" fmla="val 437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909560" y="4855931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해석</a:t>
            </a:r>
            <a:endParaRPr lang="en-US" sz="115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PC1(31.3%): Income(+) · Children(-)</a:t>
            </a:r>
            <a:endParaRPr lang="en-US" sz="1150" dirty="0"/>
          </a:p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PC2(25.0%): Age(+) · Children(+)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Education·Marital_Status 로딩 0.03~0.1 (기여 거의 없음)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6236675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산점도 — 4개 세그먼트가 시각적으로 대체로 분리되나, 누적 설명분산은 56.3%에 그침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100">
                <a:solidFill>
                  <a:srgbClr val="E8871E"/>
                </a:solidFill>
                <a:latin typeface="Calibri"/>
                <a:ea typeface="Calibri"/>
                <a:cs typeface="Calibri"/>
              </a:rPr>
              <a:t>APPENDIX F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세그먼트별 상세 프로파일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1338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 i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k-prototypes(k=4, gamma=0.5) 기준 인구통계 세그먼트 전체 프로파일</a:t>
            </a:r>
            <a:endParaRPr lang="en-US" sz="150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920240"/>
          <a:ext cx="1106424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세그먼트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인원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평균소득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평균연령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평균자녀수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Response율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AnyAccepted 오즈비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고소득 청년층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423 (20.8%)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74,022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37.2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0.39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24%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8.32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ko-KR" alt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고소득 장년층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574 (28.2%)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62,421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57.6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0.59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16%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6.27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저소득 청년층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617 (30.3%)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31,949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36.4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0.88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9.35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다자녀 중장년층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422 (20.7%)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45,255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48.9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2.11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11%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4.70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pPr lvl="0">
              <a:defRPr/>
            </a:pPr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43891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참고: </a:t>
            </a:r>
            <a:r>
              <a:rPr lang="en-US" sz="12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Response율(반응률) 순위와 오즈비 순위가 다르다 — Response율 기준으로는 고소득 청년층이 1위(24%)지만, AnyAccepted 효과(오즈비) 기준으로는 저소득 청년층이 근소하게 높다(9.35 vs 8.32).</a:t>
            </a:r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0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다만 본문 6쪽에서 확인했듯 이 오즈비 차이는 신뢰구간이 크게 겹치고 교호작용 검정(p=0.43)에서도 비유의하므로, </a:t>
            </a:r>
            <a:r>
              <a:rPr lang="en-US" sz="1200" b="1">
                <a:solidFill>
                  <a:srgbClr val="E8871E"/>
                </a:solidFill>
                <a:latin typeface="Calibri"/>
                <a:ea typeface="Calibri"/>
                <a:cs typeface="Calibri"/>
              </a:rPr>
              <a:t>확정적 우선순위 근거로 사용하지 않는다.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Appendix F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3718</Words>
  <Application>Microsoft Office PowerPoint</Application>
  <PresentationFormat>와이드스크린</PresentationFormat>
  <Paragraphs>567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Euihwan Choi</cp:lastModifiedBy>
  <cp:revision>24</cp:revision>
  <dcterms:created xsi:type="dcterms:W3CDTF">2026-08-24T08:15:23Z</dcterms:created>
  <dcterms:modified xsi:type="dcterms:W3CDTF">2026-08-25T03:03:18Z</dcterms:modified>
  <cp:version/>
</cp:coreProperties>
</file>