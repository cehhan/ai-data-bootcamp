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7" y="3977639"/>
            <a:ext cx="6095847" cy="2880360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75488"/>
            <a:ext cx="121916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500" b="0">
                <a:solidFill>
                  <a:srgbClr val="929292"/>
                </a:solidFill>
                <a:latin typeface="KoPubWorld돋움체 Medium"/>
                <a:ea typeface="KoPubWorld돋움체 Medium"/>
                <a:cs typeface="KoPubWorld돋움체 Medium"/>
              </a:rPr>
              <a:t>규모를 통제하면 결론이 뒤집힌다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464646"/>
                </a:solidFill>
                <a:latin typeface="KoPubWorld돋움체 Bold"/>
                <a:ea typeface="KoPubWorld돋움체 Bold"/>
                <a:cs typeface="KoPubWorld돋움체 Bold"/>
              </a:rPr>
              <a:t>서울시 상권분석을 통한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4000" b="1">
                <a:solidFill>
                  <a:srgbClr val="464646"/>
                </a:solidFill>
                <a:latin typeface="KoPubWorld돋움체 Bold"/>
                <a:ea typeface="KoPubWorld돋움체 Bold"/>
                <a:cs typeface="KoPubWorld돋움체 Bold"/>
              </a:rPr>
              <a:t>폐업예측 모델 제안</a:t>
            </a:r>
          </a:p>
        </p:txBody>
      </p:sp>
      <p:pic>
        <p:nvPicPr>
          <p:cNvPr id="5" name="Picture 4" descr="cover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7" y="2761488"/>
            <a:ext cx="6217920" cy="29815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95567" y="5724144"/>
            <a:ext cx="4937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2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서현 없는 서현팀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5567" y="62362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DCDCDC"/>
                </a:solidFill>
                <a:latin typeface="KoPubWorld돋움체 Medium"/>
                <a:ea typeface="KoPubWorld돋움체 Medium"/>
                <a:cs typeface="KoPubWorld돋움체 Medium"/>
              </a:rPr>
              <a:t>AI 데이터 인텔리전스 · Project #1 · 2026. 08.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21792"/>
            <a:ext cx="1874519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6927" y="859536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300" b="0">
                <a:solidFill>
                  <a:srgbClr val="DCDCDC"/>
                </a:solidFill>
                <a:latin typeface="KoPubWorld돋움체 Medium"/>
                <a:ea typeface="KoPubWorld돋움체 Medium"/>
                <a:cs typeface="KoPubWorld돋움체 Medium"/>
              </a:rPr>
              <a:t>핵심 질문 1 · 보조 질문 2 · 가설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144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1">
                <a:solidFill>
                  <a:srgbClr val="6C513E"/>
                </a:solidFill>
                <a:latin typeface="KoPubWorld돋움체 Bold"/>
                <a:ea typeface="KoPubWorld돋움체 Bold"/>
                <a:cs typeface="KoPubWorld돋움체 Bold"/>
              </a:rPr>
              <a:t>배경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20640" y="2642616"/>
            <a:ext cx="4160520" cy="0"/>
          </a:xfrm>
          <a:prstGeom prst="line">
            <a:avLst/>
          </a:prstGeom>
          <a:ln w="1524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64040" y="24414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400" b="0">
                <a:solidFill>
                  <a:srgbClr val="6C513E"/>
                </a:solidFill>
                <a:latin typeface="KoPubWorld돋움체 Medium"/>
                <a:ea typeface="KoPubWorld돋움체 Medium"/>
                <a:cs typeface="KoPubWorld돋움체 Medium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75234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− 주제 선정 · 분석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8152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1">
                <a:solidFill>
                  <a:srgbClr val="6C513E"/>
                </a:solidFill>
                <a:latin typeface="KoPubWorld돋움체 Bold"/>
                <a:ea typeface="KoPubWorld돋움체 Bold"/>
                <a:cs typeface="KoPubWorld돋움체 Bold"/>
              </a:rPr>
              <a:t>데이터 분석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0" y="3282696"/>
            <a:ext cx="4160520" cy="0"/>
          </a:xfrm>
          <a:prstGeom prst="line">
            <a:avLst/>
          </a:prstGeom>
          <a:ln w="1524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64040" y="308152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400" b="0">
                <a:solidFill>
                  <a:srgbClr val="6C513E"/>
                </a:solidFill>
                <a:latin typeface="KoPubWorld돋움체 Medium"/>
                <a:ea typeface="KoPubWorld돋움체 Medium"/>
                <a:cs typeface="KoPubWorld돋움체 Medium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242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− 데이터 선정 · 데이터 병합 · 결측치 처리 · 검정 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2160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1">
                <a:solidFill>
                  <a:srgbClr val="6C513E"/>
                </a:solidFill>
                <a:latin typeface="KoPubWorld돋움체 Bold"/>
                <a:ea typeface="KoPubWorld돋움체 Bold"/>
                <a:cs typeface="KoPubWorld돋움체 Bold"/>
              </a:rPr>
              <a:t>가설 1 — 상권 유형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0" y="3922776"/>
            <a:ext cx="4160520" cy="0"/>
          </a:xfrm>
          <a:prstGeom prst="line">
            <a:avLst/>
          </a:prstGeom>
          <a:ln w="1524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64040" y="372160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400" b="0">
                <a:solidFill>
                  <a:srgbClr val="6C513E"/>
                </a:solidFill>
                <a:latin typeface="KoPubWorld돋움체 Medium"/>
                <a:ea typeface="KoPubWorld돋움체 Medium"/>
                <a:cs typeface="KoPubWorld돋움체 Medium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03250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− 유형별 격차 · 규모 통제 · 층화 재검증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616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1">
                <a:solidFill>
                  <a:srgbClr val="6C513E"/>
                </a:solidFill>
                <a:latin typeface="KoPubWorld돋움체 Bold"/>
                <a:ea typeface="KoPubWorld돋움체 Bold"/>
                <a:cs typeface="KoPubWorld돋움체 Bold"/>
              </a:rPr>
              <a:t>가설 2 — 업종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4562856"/>
            <a:ext cx="4160520" cy="0"/>
          </a:xfrm>
          <a:prstGeom prst="line">
            <a:avLst/>
          </a:prstGeom>
          <a:ln w="1524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64040" y="43616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400" b="0">
                <a:solidFill>
                  <a:srgbClr val="6C513E"/>
                </a:solidFill>
                <a:latin typeface="KoPubWorld돋움체 Medium"/>
                <a:ea typeface="KoPubWorld돋움체 Medium"/>
                <a:cs typeface="KoPubWorld돋움체 Medium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67258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− 선택 효과 · 매칭 역전 · 10업종 · 범인 특정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00176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1">
                <a:solidFill>
                  <a:srgbClr val="6C513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20640" y="5202936"/>
            <a:ext cx="4160520" cy="0"/>
          </a:xfrm>
          <a:prstGeom prst="line">
            <a:avLst/>
          </a:prstGeom>
          <a:ln w="1524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64040" y="50017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400" b="0">
                <a:solidFill>
                  <a:srgbClr val="6C513E"/>
                </a:solidFill>
                <a:latin typeface="KoPubWorld돋움체 Medium"/>
                <a:ea typeface="KoPubWorld돋움체 Medium"/>
                <a:cs typeface="KoPubWorld돋움체 Medium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31266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− 모델 선정 · 예측 성능 · 위험 요인 · 위험 지도 · 자치구별 업종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64184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1">
                <a:solidFill>
                  <a:srgbClr val="6C513E"/>
                </a:solidFill>
                <a:latin typeface="KoPubWorld돋움체 Bold"/>
                <a:ea typeface="KoPubWorld돋움체 Bold"/>
                <a:cs typeface="KoPubWorld돋움체 Bold"/>
              </a:rPr>
              <a:t>분석 활용 전략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5843016"/>
            <a:ext cx="4160520" cy="0"/>
          </a:xfrm>
          <a:prstGeom prst="line">
            <a:avLst/>
          </a:prstGeom>
          <a:ln w="1524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64040" y="56418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400" b="0">
                <a:solidFill>
                  <a:srgbClr val="6C513E"/>
                </a:solidFill>
                <a:latin typeface="KoPubWorld돋움체 Medium"/>
                <a:ea typeface="KoPubWorld돋움체 Medium"/>
                <a:cs typeface="KoPubWorld돋움체 Medium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595274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− 비즈니스 제언 · 한계와 다음 단계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6473952"/>
            <a:ext cx="10390327" cy="45720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01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주제 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1335024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이미 있는 공식 지표는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다음 분기를 맞히는가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542032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서울시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상권변화지표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가 상권마다 HH·HL·LH·LL 을 부여한다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127248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27248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108960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HL = 상권축소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진단이 다음 분기 순감소를 맞히는지 확인했다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730752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849624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HL 진단의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78224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0.937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7258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 = 무작위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8289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보고 판단하는 것이 안 보는 것보다 못하다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상권변화지표별 다음 분기 순감소 Lift(향상도)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1.0 = 무작위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3759" y="1810512"/>
            <a:ext cx="0" cy="2414016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09359" y="427939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  무작위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59" y="1901952"/>
            <a:ext cx="462137" cy="3657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7337" y="196596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1.133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59" y="19659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2813" y="2468880"/>
            <a:ext cx="350946" cy="36576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66973" y="25328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0.899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6773" y="25328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HH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3743" y="3035808"/>
            <a:ext cx="410016" cy="36576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7903" y="3099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0.882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7703" y="309981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LH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04852" y="3602736"/>
            <a:ext cx="218907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9012" y="36667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0.937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8812" y="366674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HL · 상권축소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4681728"/>
            <a:ext cx="2116226" cy="78638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92040" y="4681728"/>
            <a:ext cx="2116226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38344" y="4828032"/>
            <a:ext cx="1823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핵심 질문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어디가 위험하고 무엇이 만드는가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4570" y="4681728"/>
            <a:ext cx="2116226" cy="78638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54570" y="4681728"/>
            <a:ext cx="2116226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0874" y="4828032"/>
            <a:ext cx="1823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보조 Q2 · 가설 1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상권 유형인가 규모인가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7100" y="4681728"/>
            <a:ext cx="2116226" cy="78638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17100" y="4681728"/>
            <a:ext cx="2116226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3404" y="4828032"/>
            <a:ext cx="1823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보조 Q3 · 가설 2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업종인가 선택 효과인가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서울시 공식 지표는 다음 분기 예측에 쓸 수 없다 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Lift 0.937로 무작위보다 낮다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01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필요성 및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2761488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874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5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두 가설은 서로 다른 질문을 하지만 </a:t>
            </a: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같은 함정을 통과해야 한다 — 상권 규모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65376"/>
            <a:ext cx="10874959" cy="676656"/>
          </a:xfrm>
          <a:prstGeom prst="rect">
            <a:avLst/>
          </a:prstGeom>
          <a:solidFill>
            <a:srgbClr val="F4F2EF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75104"/>
            <a:ext cx="1039947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공통 기반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같은 데이터 · 같은 전처리 판단 · 같은 검정 설계(층화 · 매칭)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9383" y="2542032"/>
            <a:ext cx="0" cy="182880"/>
          </a:xfrm>
          <a:prstGeom prst="line">
            <a:avLst/>
          </a:prstGeom>
          <a:ln w="2032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58368" y="2724912"/>
            <a:ext cx="5282031" cy="1591056"/>
          </a:xfrm>
          <a:prstGeom prst="rect">
            <a:avLst/>
          </a:prstGeom>
          <a:solidFill>
            <a:srgbClr val="FFFFFF"/>
          </a:solidFill>
          <a:ln w="20320">
            <a:solidFill>
              <a:srgbClr val="8A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71216"/>
            <a:ext cx="4769967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1 · 상권 유형</a:t>
            </a:r>
          </a:p>
          <a:p>
            <a:pPr algn="l">
              <a:lnSpc>
                <a:spcPct val="142000"/>
              </a:lnSpc>
              <a:spcBef>
                <a:spcPts val="7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유형별 격차 → 규모 통제 → 층화 재검증</a:t>
            </a:r>
          </a:p>
          <a:p>
            <a:pPr algn="l">
              <a:lnSpc>
                <a:spcPct val="142000"/>
              </a:lnSpc>
              <a:spcBef>
                <a:spcPts val="7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χ² · 로지스틱 오즈비 · CMH</a:t>
            </a:r>
          </a:p>
          <a:p>
            <a:pPr algn="l">
              <a:lnSpc>
                <a:spcPct val="142000"/>
              </a:lnSpc>
              <a:spcBef>
                <a:spcPts val="700"/>
              </a:spcBef>
            </a:pPr>
            <a:r>
              <a:rPr sz="12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오즈비 5.49 → 2.51 → 1.02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92311" y="2542032"/>
            <a:ext cx="0" cy="182880"/>
          </a:xfrm>
          <a:prstGeom prst="line">
            <a:avLst/>
          </a:prstGeom>
          <a:ln w="2032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51295" y="2724912"/>
            <a:ext cx="5282031" cy="1591056"/>
          </a:xfrm>
          <a:prstGeom prst="rect">
            <a:avLst/>
          </a:prstGeom>
          <a:solidFill>
            <a:srgbClr val="FFFFFF"/>
          </a:solidFill>
          <a:ln w="20320">
            <a:solidFill>
              <a:srgbClr val="8A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871216"/>
            <a:ext cx="4769967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2 · 업종</a:t>
            </a:r>
          </a:p>
          <a:p>
            <a:pPr algn="l">
              <a:lnSpc>
                <a:spcPct val="142000"/>
              </a:lnSpc>
              <a:spcBef>
                <a:spcPts val="7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선택 효과 → 매칭 → 반사실 → 라벨 분해</a:t>
            </a:r>
          </a:p>
          <a:p>
            <a:pPr algn="l">
              <a:lnSpc>
                <a:spcPct val="142000"/>
              </a:lnSpc>
              <a:spcBef>
                <a:spcPts val="7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순열검정 · PSM · 음이항</a:t>
            </a:r>
          </a:p>
          <a:p>
            <a:pPr algn="l">
              <a:lnSpc>
                <a:spcPct val="142000"/>
              </a:lnSpc>
              <a:spcBef>
                <a:spcPts val="700"/>
              </a:spcBef>
            </a:pPr>
            <a:r>
              <a:rPr sz="12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+2.4%p → −5.8%p  부호 역전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9383" y="4315968"/>
            <a:ext cx="0" cy="201168"/>
          </a:xfrm>
          <a:prstGeom prst="line">
            <a:avLst/>
          </a:prstGeom>
          <a:ln w="2032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92311" y="4315968"/>
            <a:ext cx="0" cy="201168"/>
          </a:xfrm>
          <a:prstGeom prst="line">
            <a:avLst/>
          </a:prstGeom>
          <a:ln w="2032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99383" y="4517136"/>
            <a:ext cx="5592928" cy="0"/>
          </a:xfrm>
          <a:prstGeom prst="line">
            <a:avLst/>
          </a:prstGeom>
          <a:ln w="2032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7" y="4517136"/>
            <a:ext cx="0" cy="182880"/>
          </a:xfrm>
          <a:prstGeom prst="line">
            <a:avLst/>
          </a:prstGeom>
          <a:ln w="20320">
            <a:solidFill>
              <a:srgbClr val="8A6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58368" y="4700016"/>
            <a:ext cx="10874959" cy="603504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64608"/>
            <a:ext cx="10362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핵심 질문 · 가설 3 — 위험 예측 모델과 통합 제언 · 먼저 볼 100~300곳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규모를 통제하지 않으면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무엇을 비교해도 규모를 읽게 된다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02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1572768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36192"/>
            <a:ext cx="1874519" cy="1481328"/>
          </a:xfrm>
          <a:prstGeom prst="roundRect">
            <a:avLst>
              <a:gd name="adj" fmla="val 12000"/>
            </a:avLst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0179" y="168249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1581" y="1821484"/>
            <a:ext cx="36576" cy="453542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7418" y="1821484"/>
            <a:ext cx="25603" cy="168249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91309" y="1821484"/>
            <a:ext cx="25603" cy="168249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7418" y="1982419"/>
            <a:ext cx="69494" cy="36576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3021" y="1982419"/>
            <a:ext cx="25603" cy="292608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1776" y="1821484"/>
            <a:ext cx="47548" cy="256031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82749" y="2070201"/>
            <a:ext cx="25603" cy="204825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7" y="2505456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업체 · 상권 자료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서울 열린데이터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05939" y="3017520"/>
            <a:ext cx="0" cy="402336"/>
          </a:xfrm>
          <a:prstGeom prst="line">
            <a:avLst/>
          </a:prstGeom>
          <a:ln w="254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3419856"/>
            <a:ext cx="1874519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621024"/>
            <a:ext cx="1618487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점포 수 · 개업 · 폐업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영역 · 좌표 · 상권유형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상권변화지표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1536192"/>
            <a:ext cx="1874519" cy="1481328"/>
          </a:xfrm>
          <a:prstGeom prst="roundRect">
            <a:avLst>
              <a:gd name="adj" fmla="val 12000"/>
            </a:avLst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98748" y="168249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52367" y="2011680"/>
            <a:ext cx="424281" cy="270662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30421" y="1894636"/>
            <a:ext cx="468172" cy="102412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98671" y="2106777"/>
            <a:ext cx="131673" cy="1755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6976" y="2505456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상권 특성 자료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우리마을가게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64508" y="3017520"/>
            <a:ext cx="0" cy="402336"/>
          </a:xfrm>
          <a:prstGeom prst="line">
            <a:avLst/>
          </a:prstGeom>
          <a:ln w="254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27248" y="3419856"/>
            <a:ext cx="1874519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55264" y="3621024"/>
            <a:ext cx="1618487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길단위인구 · 집객시설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추정매출 · 면적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업종 구성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85816" y="1536192"/>
            <a:ext cx="1874519" cy="1481328"/>
          </a:xfrm>
          <a:prstGeom prst="roundRect">
            <a:avLst>
              <a:gd name="adj" fmla="val 12000"/>
            </a:avLst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57315" y="168249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10935" y="1836115"/>
            <a:ext cx="424281" cy="424281"/>
          </a:xfrm>
          <a:prstGeom prst="ellipse">
            <a:avLst/>
          </a:prstGeom>
          <a:noFill/>
          <a:ln w="25400">
            <a:solidFill>
              <a:srgbClr val="9A94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110935" y="2048256"/>
            <a:ext cx="424281" cy="0"/>
          </a:xfrm>
          <a:prstGeom prst="line">
            <a:avLst/>
          </a:prstGeom>
          <a:ln w="25400">
            <a:solidFill>
              <a:srgbClr val="9A94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27978" y="1953158"/>
            <a:ext cx="190195" cy="190195"/>
          </a:xfrm>
          <a:prstGeom prst="ellipse">
            <a:avLst/>
          </a:prstGeom>
          <a:noFill/>
          <a:ln w="25400">
            <a:solidFill>
              <a:srgbClr val="9A94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3347" y="2114092"/>
            <a:ext cx="51206" cy="102412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3815" y="2062886"/>
            <a:ext cx="51206" cy="153619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4282" y="2004364"/>
            <a:ext cx="51206" cy="212140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95544" y="2505456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경제 지표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국가통계포털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23075" y="3017520"/>
            <a:ext cx="0" cy="402336"/>
          </a:xfrm>
          <a:prstGeom prst="line">
            <a:avLst/>
          </a:prstGeom>
          <a:ln w="254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85816" y="3419856"/>
            <a:ext cx="1874519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13831" y="3621024"/>
            <a:ext cx="1618487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외식물가지수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외식지출전망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sz="11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운영 개월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71231" y="1810512"/>
            <a:ext cx="3962095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1231" y="201168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출처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7263" y="2505456"/>
            <a:ext cx="3450031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점포 · 영역 · 집객시설 · 길단위인구 · 추정매출</a:t>
            </a:r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 → 서울시 우리마을가게 상권분석서비스</a:t>
            </a:r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상권변화지표 → 서울 열린데이터 광장</a:t>
            </a:r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외식물가지수 · 외식지출전망 → 국가통계포털</a:t>
            </a:r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분석 단위 「칸」 = 상권 × 업종 × 분기</a:t>
            </a:r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기간 2023Q1 – 2026Q1 (13분기)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다섯 개 테이블을 「상권 × 업종 × 분기」 한 칸으로 모았다 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최종 67,475칸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02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병합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1572768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932688" cy="969264"/>
          </a:xfrm>
          <a:prstGeom prst="roundRect">
            <a:avLst>
              <a:gd name="adj" fmla="val 14000"/>
            </a:avLst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969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업체</a:t>
            </a:r>
          </a:p>
        </p:txBody>
      </p:sp>
      <p:sp>
        <p:nvSpPr>
          <p:cNvPr id="10" name="Oval 9"/>
          <p:cNvSpPr/>
          <p:nvPr/>
        </p:nvSpPr>
        <p:spPr>
          <a:xfrm>
            <a:off x="1115568" y="166420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64792" y="1572768"/>
            <a:ext cx="932688" cy="969264"/>
          </a:xfrm>
          <a:prstGeom prst="roundRect">
            <a:avLst>
              <a:gd name="adj" fmla="val 14000"/>
            </a:avLst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4792" y="213969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상권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166420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상권 코드 · 분기 · 업종명</a:t>
            </a:r>
          </a:p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기준으로 키를 맞춤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581912" y="3236976"/>
            <a:ext cx="402336" cy="475488"/>
          </a:xfrm>
          <a:prstGeom prst="rightArrow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3" y="3877056"/>
            <a:ext cx="822960" cy="932688"/>
          </a:xfrm>
          <a:prstGeom prst="roundRect">
            <a:avLst>
              <a:gd name="adj" fmla="val 14000"/>
            </a:avLst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3" y="44074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상권</a:t>
            </a:r>
          </a:p>
        </p:txBody>
      </p:sp>
      <p:sp>
        <p:nvSpPr>
          <p:cNvPr id="18" name="Oval 17"/>
          <p:cNvSpPr/>
          <p:nvPr/>
        </p:nvSpPr>
        <p:spPr>
          <a:xfrm>
            <a:off x="768095" y="396849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44167" y="3877056"/>
            <a:ext cx="822960" cy="932688"/>
          </a:xfrm>
          <a:prstGeom prst="roundRect">
            <a:avLst>
              <a:gd name="adj" fmla="val 14000"/>
            </a:avLst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7" y="44074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업체</a:t>
            </a:r>
          </a:p>
        </p:txBody>
      </p:sp>
      <p:sp>
        <p:nvSpPr>
          <p:cNvPr id="21" name="Oval 20"/>
          <p:cNvSpPr/>
          <p:nvPr/>
        </p:nvSpPr>
        <p:spPr>
          <a:xfrm>
            <a:off x="1554479" y="396849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30552" y="3877056"/>
            <a:ext cx="822960" cy="932688"/>
          </a:xfrm>
          <a:prstGeom prst="roundRect">
            <a:avLst>
              <a:gd name="adj" fmla="val 14000"/>
            </a:avLst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0552" y="44074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경제</a:t>
            </a:r>
          </a:p>
        </p:txBody>
      </p:sp>
      <p:sp>
        <p:nvSpPr>
          <p:cNvPr id="24" name="Oval 23"/>
          <p:cNvSpPr/>
          <p:nvPr/>
        </p:nvSpPr>
        <p:spPr>
          <a:xfrm>
            <a:off x="2340864" y="396849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19" y="49194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분기 기준 병합 · 67,475칸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1700784"/>
            <a:ext cx="3337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원본 5개 테이블은 상권 코드 · 분기 · 업종 코드가 제각각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→ 신·구 파일의 「점포_수」 정의가 달라 먼저 통일 (일반 vs 전체)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→ 결합 전 키 유일성 점검 · validate 옵션으로 관계 명시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→ 결합 후 행 수 재확인 — 행이 저절로 불어나는 사고를 3중으로 차단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→ 라벨은 t+1 분기 결과로 붙임 (피처 t · 라벨 t+1)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→ 상권변화지표는 폐업 정보로 만들어져 피처에서 제외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12280" y="1572768"/>
            <a:ext cx="0" cy="361188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86600" y="1463040"/>
            <a:ext cx="4446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결합 사고를 막은 3중 방어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1901952"/>
            <a:ext cx="4446727" cy="78638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86600" y="1901952"/>
            <a:ext cx="45720" cy="786384"/>
          </a:xfrm>
          <a:prstGeom prst="rect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2029968"/>
            <a:ext cx="412668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① 키 유일성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붙이기 전 중복 키가 없는지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816352"/>
            <a:ext cx="4446727" cy="78638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86600" y="2816352"/>
            <a:ext cx="45720" cy="78638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2944368"/>
            <a:ext cx="412668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② validate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1:1 · 다대일 관계를 코드에 명시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730752"/>
            <a:ext cx="4446727" cy="78638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6600" y="3730752"/>
            <a:ext cx="45720" cy="78638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6912" y="3858768"/>
            <a:ext cx="412668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③ 행 수 재확인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붙인 뒤 행 수가 그대로인지 검사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4736592"/>
            <a:ext cx="4446727" cy="658368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6912" y="4864608"/>
            <a:ext cx="4126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구파일의 「점포_수」는 총수가 아니었다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1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바로잡자 표본 +20.9% · 치킨전문점 +390%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가장 큰 사고는 행이 저절로 불어나는 것 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세 단계로 막고, 컬럼 정의 변경까지 잡아냈다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02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변수 생성 · 결측치 처리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변수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847088"/>
            <a:ext cx="118872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99616"/>
            <a:ext cx="3931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점포당 매출 : 당월 매출 ÷ 전체 점포 수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업종 점포 비중 : 해당 업종 ÷ 상권 전체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해당 업종 점포 밀도 : 업종 점포 ÷ 영역 면적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순감소 여부 y : 다음 분기 폐업 &gt; 개업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사건 여부 : 다음 분기 개업 또는 폐업 발생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로그 변환 : 점포 수 · 유동인구 · 면적 · 매출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3931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결측치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968496"/>
            <a:ext cx="141732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621024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점포 2개 이하 칸은 매출이 비식별 처리 → 원본에 행 자체가 없음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점포 5개 미만을 제외하자 매출 결측률 45.4% → 7.1%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12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− 남은 4,782칸은 평균으로 채우지 않고 「결측」 표시 변수로 학습에 넣음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67728" y="1572768"/>
            <a:ext cx="0" cy="3712464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42048" y="1572768"/>
            <a:ext cx="4291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결측 지도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흰 선이 결측치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084832"/>
            <a:ext cx="1783080" cy="2487168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8728" y="3359173"/>
            <a:ext cx="18288" cy="52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83456" y="2494321"/>
            <a:ext cx="18288" cy="1367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9033" y="2129139"/>
            <a:ext cx="18288" cy="1305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4492" y="2278411"/>
            <a:ext cx="18288" cy="35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9053" y="2145067"/>
            <a:ext cx="18288" cy="20006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38559" y="2957230"/>
            <a:ext cx="18288" cy="1566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7170" y="3473765"/>
            <a:ext cx="18288" cy="1064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39721" y="2205813"/>
            <a:ext cx="18288" cy="2069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04947" y="2710942"/>
            <a:ext cx="18288" cy="4575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41511" y="3185620"/>
            <a:ext cx="18288" cy="5944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41731" y="2893062"/>
            <a:ext cx="18288" cy="10116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67136" y="2528939"/>
            <a:ext cx="18288" cy="330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11911" y="2510640"/>
            <a:ext cx="18288" cy="1131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51479" y="2474453"/>
            <a:ext cx="18288" cy="11874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04724" y="2271516"/>
            <a:ext cx="18288" cy="1722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2638" y="3085140"/>
            <a:ext cx="18288" cy="13441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4878" y="3711303"/>
            <a:ext cx="18288" cy="8277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60644" y="3126696"/>
            <a:ext cx="18288" cy="1111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18023" y="2132738"/>
            <a:ext cx="18288" cy="12652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91300" y="2441303"/>
            <a:ext cx="18288" cy="18650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41913" y="3199529"/>
            <a:ext cx="18288" cy="8839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379" y="2551981"/>
            <a:ext cx="18288" cy="14631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81843" y="2193930"/>
            <a:ext cx="18288" cy="2257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84426" y="3595822"/>
            <a:ext cx="18288" cy="333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2830982"/>
            <a:ext cx="1783080" cy="23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0" y="3378159"/>
            <a:ext cx="1783080" cy="23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3925336"/>
            <a:ext cx="1783080" cy="23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7183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매출 · 집객시설 결측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281159" y="3172968"/>
            <a:ext cx="438912" cy="310896"/>
          </a:xfrm>
          <a:prstGeom prst="rightArrow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02952" y="2084832"/>
            <a:ext cx="1783080" cy="2487168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02952" y="2212848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02952" y="2446020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902952" y="2679192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02952" y="2912364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02952" y="3145536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02952" y="3378708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02952" y="3611880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02952" y="3845052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02952" y="4078224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02952" y="4311396"/>
            <a:ext cx="178308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02952" y="47183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5개 미만 제외 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5084064"/>
            <a:ext cx="4370832" cy="47548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61504" y="521208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결측률 45.4% → 7.1%</a:t>
            </a: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 남은 4,782칸은 표시 변수로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결측은 무작위가 아니라 영세 칸에 몰려 있었다 — 그래서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채우지 않고 「없다」는 사실을 변수로 남겼다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02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검정 방법 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2048256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검정 방법은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데이터가 정했다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542032"/>
            <a:ext cx="3392424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y 가 0/1 이라 정규성 검정을 걸면 표본만 커져도 p 는 반드시 0 이 된다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342132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42132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323844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그래서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검정 단위를 연속량으로 올렸다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— 칸마다 12분기 순감소 비율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945635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4064507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주 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3107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Kruskal-Wallis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8746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정규성 위배 · 등분산 위배 · 왜도 +0.59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0809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평균이 아니라 순위로 비교한다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칸의 12분기 순감소 비율 분포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0 에 봉우리 · 오른쪽 꼬리가 길다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66359" y="3712464"/>
            <a:ext cx="6492241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239512" y="2651760"/>
            <a:ext cx="438912" cy="10607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74436" y="2962656"/>
            <a:ext cx="438912" cy="74980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3127248"/>
            <a:ext cx="438912" cy="58521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44283" y="3255264"/>
            <a:ext cx="438912" cy="45720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9208" y="3346704"/>
            <a:ext cx="438912" cy="3657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14131" y="3429000"/>
            <a:ext cx="438912" cy="28346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9055" y="3493008"/>
            <a:ext cx="438912" cy="21945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83980" y="3547872"/>
            <a:ext cx="438912" cy="164592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3593592"/>
            <a:ext cx="438912" cy="118872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3828" y="3630168"/>
            <a:ext cx="438912" cy="822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88751" y="3657600"/>
            <a:ext cx="438912" cy="5486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23676" y="3675888"/>
            <a:ext cx="438912" cy="3657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17820" y="3250692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52744" y="2866644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87668" y="3086100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22592" y="3268980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57515" y="339699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92440" y="348843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627364" y="3552444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62288" y="3589020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97211" y="3616452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32136" y="3625596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67060" y="3634740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301984" y="3643884"/>
            <a:ext cx="82296" cy="822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38344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● 붉은 점 = 정규분포 기대 도수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212140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관측이 왼쪽에 두껍고 오른쪽 꼬리가 길다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4480560"/>
            <a:ext cx="2116226" cy="84124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92040" y="4480560"/>
            <a:ext cx="2116226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38344" y="4626864"/>
            <a:ext cx="182361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상권유형 4 / 4 위배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Levene p &lt; 0.0001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4570" y="4480560"/>
            <a:ext cx="2116226" cy="84124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54570" y="4480560"/>
            <a:ext cx="2116226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00874" y="4626864"/>
            <a:ext cx="182361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업종 10 / 10 위배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Levene p &lt; 0.0001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7100" y="4480560"/>
            <a:ext cx="2116226" cy="84124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17100" y="4480560"/>
            <a:ext cx="2116226" cy="41148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3404" y="4626864"/>
            <a:ext cx="182361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베타이항은 통과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칸마다 위험 확률이 다르다를 허용해야 설명됨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이산 자료에 맞는 적합도 검정으로 바꾸자 정규·이항은 기각되고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베타이항만 통과했다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Q1 · 가설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03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상권 유형이 위험을 설명하는가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10874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4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유형별 순감소율은 3배 넘게 벌어진다 — </a:t>
            </a:r>
            <a:r>
              <a:rPr sz="14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그러나 효과크기 Cramér's V 는 0.126 「약함」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1051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상권 유형별 순감소율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912,799건 · χ² = 2,332.20 · p &lt; 0.001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관광특구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0008" y="2304288"/>
            <a:ext cx="2349139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0587" y="22860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19.03%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8895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C0392B"/>
                </a:solidFill>
                <a:latin typeface="KoPubWorld돋움체 Medium"/>
                <a:ea typeface="KoPubWorld돋움체 Medium"/>
                <a:cs typeface="KoPubWorld돋움체 Medium"/>
              </a:rPr>
              <a:t>발달상권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0008" y="2907792"/>
            <a:ext cx="1451701" cy="329184"/>
          </a:xfrm>
          <a:prstGeom prst="rect">
            <a:avLst/>
          </a:prstGeom>
          <a:solidFill>
            <a:srgbClr val="DD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3149" y="288950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11.76%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전통시장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3511296"/>
            <a:ext cx="811027" cy="329184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2475" y="349300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6.57%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09651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골목상권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4114800"/>
            <a:ext cx="776462" cy="329184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7910" y="4096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6.29%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45152"/>
            <a:ext cx="5029200" cy="8229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645152"/>
            <a:ext cx="4572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791456"/>
            <a:ext cx="4663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관광특구는 상권이 6곳뿐</a:t>
            </a:r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sz="11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표본이 91만 건이라 p 는 거의 항상 유의하다 — 판단은 효과크기로 한다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7607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27648" y="1810512"/>
            <a:ext cx="52056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각 유형 대 나머지 — 효과크기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Cliff δ · 0.147 이상이 「작음」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59367" y="2322576"/>
            <a:ext cx="0" cy="2176272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10727" y="453542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56710" y="2322576"/>
            <a:ext cx="0" cy="2176272"/>
          </a:xfrm>
          <a:prstGeom prst="line">
            <a:avLst/>
          </a:prstGeom>
          <a:ln w="15240">
            <a:solidFill>
              <a:srgbClr val="C0392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16630" y="20482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0.147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45059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관광특구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59367" y="2478024"/>
            <a:ext cx="1532625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3433" y="245059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C4BFB9"/>
                </a:solidFill>
                <a:latin typeface="KoPubWorld돋움체 Bold"/>
                <a:ea typeface="KoPubWorld돋움체 Bold"/>
                <a:cs typeface="KoPubWorld돋움체 Bold"/>
              </a:rPr>
              <a:t>+0.45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0247" y="245059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58칸 · 신뢰구간이 넓다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296265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발달상권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59367" y="2990088"/>
            <a:ext cx="71048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1296" y="296265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+0.21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0247" y="296265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1,899칸 · 「작음」 구간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7472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골목상권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72175" y="3502152"/>
            <a:ext cx="487192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3807" y="347472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4BFB9"/>
                </a:solidFill>
                <a:latin typeface="KoPubWorld돋움체 Bold"/>
                <a:ea typeface="KoPubWorld돋움체 Bold"/>
                <a:cs typeface="KoPubWorld돋움체 Bold"/>
              </a:rPr>
              <a:t>-0.14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7384" y="347472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2,772칸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98678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전통시장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9391" y="4014216"/>
            <a:ext cx="449976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51023" y="398678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4BFB9"/>
                </a:solidFill>
                <a:latin typeface="KoPubWorld돋움체 Bold"/>
                <a:ea typeface="KoPubWorld돋움체 Bold"/>
                <a:cs typeface="KoPubWorld돋움체 Bold"/>
              </a:rPr>
              <a:t>-0.13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7384" y="398678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750칸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4645152"/>
            <a:ext cx="5205679" cy="8229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27648" y="4645152"/>
            <a:ext cx="45720" cy="8229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4" y="4791456"/>
            <a:ext cx="47667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쓸 수 있는 유형 중에서는 발달상권만 「작음」</a:t>
            </a:r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sz="11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골목상권과 전통시장은 δ −0.14 로 사실상 같은 자리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격차는 존재하지만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효과크기는 「약함」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이고, 관광특구를 빼면 유형 간 차이가 더 좁아진다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Q1 · 가설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03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규모를 통제하면 격차가 절반으로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오즈비가 절반 아래로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내려앉는다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542032"/>
            <a:ext cx="3392424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골목상권 기준 로지스틱 회귀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2912363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12364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894076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점포 규모를 넣자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관광특구 5.49 → 2.51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479291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79292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461004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연도 · 분기를 분리해도 결과는 안정적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082796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201668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가설 1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30268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대체로 지지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2462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상권 유형만으로는 설명할 수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골목상권 대비 순감소 오즈비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규모 통제 전 → 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2066543"/>
            <a:ext cx="0" cy="1956817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55079" y="41148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 · 골목상권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21284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관광특구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1593" y="2331720"/>
            <a:ext cx="3051901" cy="0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1515770" y="2253996"/>
            <a:ext cx="155448" cy="155448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63869" y="2253996"/>
            <a:ext cx="155448" cy="155448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36294" y="197510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5.490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4393" y="248716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2.510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18211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발달상권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16875" y="3300984"/>
            <a:ext cx="583753" cy="0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422904" y="3223260"/>
            <a:ext cx="155448" cy="155448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39151" y="3223260"/>
            <a:ext cx="155448" cy="155448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3428" y="294436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2.470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9675" y="345643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1.900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5844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● 통제 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35844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7A3C"/>
                </a:solidFill>
                <a:latin typeface="KoPubWorld돋움체 Medium"/>
                <a:ea typeface="KoPubWorld돋움체 Medium"/>
                <a:cs typeface="KoPubWorld돋움체 Medium"/>
              </a:rPr>
              <a:t>● 통제 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02336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규모를 넣기 전후 계수 변화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59" y="4370832"/>
            <a:ext cx="5394960" cy="310896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22975" y="440740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0335" y="4407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단순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4407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규모 통제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0656" y="440740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감소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59" y="4681728"/>
            <a:ext cx="5394960" cy="310896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22975" y="471830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관광특구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0335" y="471830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5.49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9056" y="47183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2.51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0656" y="471830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−54%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22975" y="502920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발달상권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0335" y="50292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2.47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9056" y="502920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50292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−23%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59" y="5303520"/>
            <a:ext cx="5394960" cy="310896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22975" y="53400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전통시장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0335" y="534009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49056" y="534009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0.98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0656" y="5340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−7%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격차의 절반 이상이 규모였다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 — 층화로 끝까지 통제하면 무엇이 남는지 확인했다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Q1 · 가설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03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층화로 끝까지 통제하면 부호가 뒤집힌다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네 유형을 각각 「그 유형 대 나머지」로 두고 점포 수 5분위 층 안에서 다시 비교했다 — </a:t>
            </a:r>
            <a:r>
              <a:rPr sz="13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골목상권은 안전에서 위험으로, 발달상권은 위험에서 차이 없음으로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73936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단순 오즈비 → 규모 통제 후 MH 공통 오즈비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1.0 = 차이 없음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176272"/>
            <a:ext cx="0" cy="2871216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30168" y="51389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32257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골목상권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9560" y="2441448"/>
            <a:ext cx="385511" cy="0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901836" y="2363724"/>
            <a:ext cx="155448" cy="155448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87347" y="2363724"/>
            <a:ext cx="155448" cy="1554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2360" y="208483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0.813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7871" y="25968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1.061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03580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발달상권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57812" y="3154680"/>
            <a:ext cx="540959" cy="0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721047" y="3076956"/>
            <a:ext cx="155448" cy="155448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80088" y="3076956"/>
            <a:ext cx="155448" cy="155448"/>
          </a:xfrm>
          <a:prstGeom prst="ellipse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1571" y="279806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1.340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0612" y="33101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F6E9E"/>
                </a:solidFill>
                <a:latin typeface="KoPubWorld돋움체 Bold"/>
                <a:ea typeface="KoPubWorld돋움체 Bold"/>
                <a:cs typeface="KoPubWorld돋움체 Bold"/>
              </a:rPr>
              <a:t>0.992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749039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전통시장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91996" y="3867911"/>
            <a:ext cx="116586" cy="0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914272" y="3790187"/>
            <a:ext cx="155448" cy="155448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30858" y="3790187"/>
            <a:ext cx="155448" cy="155448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4796" y="35112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0.821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1382" y="402335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0.896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46227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관광특구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06001" y="4581144"/>
            <a:ext cx="1190731" cy="0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419008" y="4503420"/>
            <a:ext cx="155448" cy="155448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28277" y="4503420"/>
            <a:ext cx="155448" cy="155448"/>
          </a:xfrm>
          <a:prstGeom prst="ellipse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39532" y="4224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1.789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8801" y="473659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F6E9E"/>
                </a:solidFill>
                <a:latin typeface="KoPubWorld돋움체 Bold"/>
                <a:ea typeface="KoPubWorld돋움체 Bold"/>
                <a:cs typeface="KoPubWorld돋움체 Bold"/>
              </a:rPr>
              <a:t>1.023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7" y="50109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● 단순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501091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0392B"/>
                </a:solidFill>
                <a:latin typeface="KoPubWorld돋움체 Medium"/>
                <a:ea typeface="KoPubWorld돋움체 Medium"/>
                <a:cs typeface="KoPubWorld돋움체 Medium"/>
              </a:rPr>
              <a:t>● 규모 통제 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22007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42048" y="1792224"/>
            <a:ext cx="4291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층 안에서 무엇이 달라졌나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점포 수 5분위 · 골목상권 오즈비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59368" y="2286000"/>
            <a:ext cx="0" cy="2029968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110728" y="435254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239572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1분위 · 5~6개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59368" y="2423160"/>
            <a:ext cx="1336852" cy="2377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7660" y="239572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1.170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27980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2분위 · 7~9개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59368" y="2825496"/>
            <a:ext cx="676290" cy="2377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27098" y="279806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1.086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42048" y="3200400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3분위 · 10~14개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59368" y="3227832"/>
            <a:ext cx="110093" cy="237744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0901" y="320040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4BFB9"/>
                </a:solidFill>
                <a:latin typeface="KoPubWorld돋움체 Bold"/>
                <a:ea typeface="KoPubWorld돋움체 Bold"/>
                <a:cs typeface="KoPubWorld돋움체 Bold"/>
              </a:rPr>
              <a:t>1.014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048" y="360273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4분위 · 15~26개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0542" y="3630168"/>
            <a:ext cx="298825" cy="237744"/>
          </a:xfrm>
          <a:prstGeom prst="rect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69096" y="360273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6E9E"/>
                </a:solidFill>
                <a:latin typeface="KoPubWorld돋움체 Bold"/>
                <a:ea typeface="KoPubWorld돋움체 Bold"/>
                <a:cs typeface="KoPubWorld돋움체 Bold"/>
              </a:rPr>
              <a:t>0.962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400507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5분위 · 27개~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62890" y="4032504"/>
            <a:ext cx="896477" cy="237744"/>
          </a:xfrm>
          <a:prstGeom prst="rect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69096" y="400507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6E9E"/>
                </a:solidFill>
                <a:latin typeface="KoPubWorld돋움체 Bold"/>
                <a:ea typeface="KoPubWorld돋움체 Bold"/>
                <a:cs typeface="KoPubWorld돋움체 Bold"/>
              </a:rPr>
              <a:t>0.886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42048" y="4498848"/>
            <a:ext cx="4291279" cy="804672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42048" y="4498848"/>
            <a:ext cx="45720" cy="8046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61504" y="4626864"/>
            <a:ext cx="385236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작은 층에서 불리, 큰 층에서 유리 — 방향이 뒤집힌다</a:t>
            </a:r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sz="11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Woolf p = 0.0000166 → 평균 하나로 요약할 수 없다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골목과 발달은 서로 거울상 — 남는 것은 유형이 아니라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「규모 × 유형」의 상호작용이다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Q2 · 가설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04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업종이 위험을 설명하는가 — 첫 함정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한식 25.3% vs 그 밖 22.9% — 격차 +2.4%p. 그런데 </a:t>
            </a:r>
            <a:r>
              <a:rPr sz="13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10개 업종 중 가장 높은 것을 골랐다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73936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「10개 중 최고 − 평균」의 귀무분포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라벨을 1,000번 섞어 측정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" y="4151376"/>
            <a:ext cx="566928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61288" y="4023360"/>
            <a:ext cx="292608" cy="128016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13332" y="3877056"/>
            <a:ext cx="292608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65376" y="3675887"/>
            <a:ext cx="292608" cy="475488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420" y="3401568"/>
            <a:ext cx="292608" cy="749808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9464" y="3182112"/>
            <a:ext cx="292608" cy="969264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1508" y="3072384"/>
            <a:ext cx="292608" cy="1078992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73552" y="3145536"/>
            <a:ext cx="292608" cy="100584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5596" y="3310128"/>
            <a:ext cx="292608" cy="841248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3511296"/>
            <a:ext cx="292608" cy="64008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9683" y="3694176"/>
            <a:ext cx="292608" cy="45720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3858768"/>
            <a:ext cx="292608" cy="292608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3772" y="3977639"/>
            <a:ext cx="292608" cy="173736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85816" y="4050791"/>
            <a:ext cx="292608" cy="100584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37860" y="4096512"/>
            <a:ext cx="292608" cy="54864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9904" y="4123944"/>
            <a:ext cx="292608" cy="27432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243834" y="2359152"/>
            <a:ext cx="0" cy="1792224"/>
          </a:xfrm>
          <a:prstGeom prst="line">
            <a:avLst/>
          </a:prstGeom>
          <a:ln w="20320">
            <a:solidFill>
              <a:srgbClr val="7A7A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63674" y="210312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귀무 평균 +1.49%p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71900" y="2651760"/>
            <a:ext cx="0" cy="1499616"/>
          </a:xfrm>
          <a:prstGeom prst="line">
            <a:avLst/>
          </a:prstGeom>
          <a:ln w="3048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81628" y="25054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관측 +1.70%p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58568" y="424281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최고 업종 − 전체 평균 (%p)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98848"/>
            <a:ext cx="5852160" cy="804672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498848"/>
            <a:ext cx="45720" cy="8046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626864"/>
            <a:ext cx="54864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순열검정 p = 0.344 — 관측이 귀무분포 안에 있다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관측 격차의 88% 가 「고르는 행위」의 산물 · 실질 업종 차이는 +0.29%p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84848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59168" y="1773936"/>
            <a:ext cx="44741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매칭 전후 공변량 균형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|SMD| &lt; 0.1 이어야 해석 시작</a:t>
            </a:r>
          </a:p>
        </p:txBody>
      </p:sp>
      <p:pic>
        <p:nvPicPr>
          <p:cNvPr id="39" name="Picture 38" descr="psm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7" y="2395728"/>
            <a:ext cx="4702759" cy="2287829"/>
          </a:xfrm>
          <a:prstGeom prst="rect">
            <a:avLst/>
          </a:prstGeom>
        </p:spPr>
      </p:pic>
      <p:cxnSp>
        <p:nvCxnSpPr>
          <p:cNvPr id="40" name="Connector 39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질문이 바뀐다 — 「왜 한식이 위험한가」에서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「조건을 맞추면 왜 반대 부호가 나오는가」로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Q2 · 가설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04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조건을 맞추면 부호가 뒤집힌다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성향점수매칭 ATT </a:t>
            </a:r>
            <a:r>
              <a:rPr sz="13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−5.77%p</a:t>
            </a:r>
            <a:r>
              <a:rPr sz="13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 ·  7,042쌍 · McNemar p = 5.0e−15 · CI [−7.23, −4.23]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7393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네 가지 방법이 같은 답으로 수렴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매칭 · 이중강건 · 반사실 · 대안 라벨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61688" y="2139696"/>
            <a:ext cx="0" cy="2359152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04487" y="453542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23113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매칭 전 단순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249424"/>
            <a:ext cx="526694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9822" y="22311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+2.4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68833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① 매칭 ATT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5426" y="2706624"/>
            <a:ext cx="1266261" cy="2743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6866" y="26883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-5.77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4553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② 이중강건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2033" y="3163824"/>
            <a:ext cx="1349654" cy="2743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3473" y="31455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-6.15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60273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③ 반사실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91037" y="3621024"/>
            <a:ext cx="1270650" cy="2743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477" y="36027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-5.79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059935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④ 대안 라벨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45837" y="4078223"/>
            <a:ext cx="1915850" cy="2743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37277" y="40599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-8.73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53328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27648" y="1773936"/>
            <a:ext cx="52056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그 평균 하나로 말해도 되는가 — 아니오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점포 수 5분위 층별 ATT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48088" y="2176272"/>
            <a:ext cx="0" cy="2432304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90888" y="464515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26771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Q1 · 5.9개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572" y="2286000"/>
            <a:ext cx="1842516" cy="2743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7012" y="226771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-13.0%p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27432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Q2 · 8.7개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4075" y="2761488"/>
            <a:ext cx="1474012" cy="274320"/>
          </a:xfrm>
          <a:prstGeom prst="rect">
            <a:avLst/>
          </a:prstGeom>
          <a:solidFill>
            <a:srgbClr val="3D9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5515" y="274320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-10.4%p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21868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Q3 · 12.8개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2656" y="3236976"/>
            <a:ext cx="935431" cy="274320"/>
          </a:xfrm>
          <a:prstGeom prst="rect">
            <a:avLst/>
          </a:prstGeom>
          <a:solidFill>
            <a:srgbClr val="6BB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1096" y="321868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-6.6%p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69417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Q4 · 19.6개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63836" y="3712463"/>
            <a:ext cx="184251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12276" y="369417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-1.3%p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416966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Q5 · 38.5개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8088" y="4187952"/>
            <a:ext cx="34015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79684" y="4169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+2.4%p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27648" y="4773168"/>
            <a:ext cx="5205679" cy="530352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4864608"/>
            <a:ext cx="48033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Woolf Q = 78.7 · p &lt; 0.0001 → −5.77%p 단독 인용 금지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작은 칸일수록 뚜렷하게 안전하고,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점포 20개를 넘으면 이점이 사라지며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, 40개에 가까우면 오히려 불리하다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Q2 · 가설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04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10개 업종을 모두 매칭하면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가장 안전해 보이던 업종이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가장 위험한 쪽으로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542032"/>
            <a:ext cx="3392424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각 업종을 처리군으로 두고 규모 · 유동인구 · 면적 · 집객시설을 맞춰 1:1 매칭했다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378708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497580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치킨전문점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26180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−5.31 → +3.35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32054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작고 조용한 상권에 몰려 있어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308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규모가 위험을 가리고 있었다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32604"/>
            <a:ext cx="3703320" cy="18288"/>
          </a:xfrm>
          <a:prstGeom prst="rect">
            <a:avLst/>
          </a:prstGeom>
          <a:solidFill>
            <a:srgbClr val="D9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78908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10개 중 6개는 조건을 맞추면 차이가 사라진다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업종별 ATT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조건을 맞춘 뒤 · + 면 더 위험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79" y="1773936"/>
            <a:ext cx="0" cy="2651760"/>
          </a:xfrm>
          <a:prstGeom prst="line">
            <a:avLst/>
          </a:prstGeom>
          <a:ln w="2032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26679" y="448056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188366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치킨전문점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1901952"/>
            <a:ext cx="1102766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9798" y="188366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+3.35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0207" y="18836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단순 −5.31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226771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호프·간이주점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286000"/>
            <a:ext cx="77029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7322" y="22677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+2.34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265176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패스트푸드점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2670048"/>
            <a:ext cx="648492" cy="256032"/>
          </a:xfrm>
          <a:prstGeom prst="rect">
            <a:avLst/>
          </a:prstGeom>
          <a:solidFill>
            <a:srgbClr val="DD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5524" y="265176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+1.97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303580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일식음식점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3054096"/>
            <a:ext cx="632033" cy="256032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89065" y="303580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+1.92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0207" y="303580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경계 p=0.056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59" y="3419856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양식 · 분식 · 제과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438144"/>
            <a:ext cx="296265" cy="256032"/>
          </a:xfrm>
          <a:prstGeom prst="rect">
            <a:avLst/>
          </a:prstGeom>
          <a:solidFill>
            <a:srgbClr val="D9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53297" y="34198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+0.90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0207" y="34198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비유의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380390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커피-음료 · 중식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9288" y="3822191"/>
            <a:ext cx="164592" cy="256032"/>
          </a:xfrm>
          <a:prstGeom prst="rect">
            <a:avLst/>
          </a:prstGeom>
          <a:solidFill>
            <a:srgbClr val="D9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13448" y="380390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-0.50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6" y="38039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비유의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418795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한식음식점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7600" y="4206240"/>
            <a:ext cx="2146279" cy="256032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9040" y="418795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-6.52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1896" y="418795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단순 +1.85 → 부호 역전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4736592"/>
            <a:ext cx="2116226" cy="69494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92040" y="4736592"/>
            <a:ext cx="2116226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4882896"/>
            <a:ext cx="1823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유의한 업종 4개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치킨 · 호프 · 패스트푸드 · 일식(경계)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54570" y="4736592"/>
            <a:ext cx="2116226" cy="69494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54570" y="4736592"/>
            <a:ext cx="2116226" cy="41148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00874" y="4882896"/>
            <a:ext cx="1823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차이가 사라진 6개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위험은 업종이 아니라 입지·규모에서 왔다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7100" y="4736592"/>
            <a:ext cx="2116226" cy="69494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17100" y="4736592"/>
            <a:ext cx="2116226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63404" y="4882896"/>
            <a:ext cx="1823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남은 효과의 크기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2~3%p — 규모가 만드는 격차보다 작다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업종 기준 지원은 근거가 약하다 — 조건을 맞추면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10개 중 6개는 차이가 사라진다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256032"/>
            <a:ext cx="1993391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2815" y="283464"/>
            <a:ext cx="171907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보조 Q2 · 가설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04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가설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역전을 만든 건 규모 하나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「이 변수를 평균으로 통일했다 치고」 다시 계산하면 — </a:t>
            </a:r>
            <a:r>
              <a:rPr sz="13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점포 규모만 고정해도 부호가 뒤집힌다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7393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반사실 시뮬레이션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격차 = (한식 − 그 밖) · 붉은색 불리 / 초록 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042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아무것도 안 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2331720"/>
            <a:ext cx="1010594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3042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+3.07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8529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유동인구만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4328" y="2880360"/>
            <a:ext cx="1175186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4056" y="28529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+3.57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7530" y="285292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오히려 증가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4015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면적만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8" y="3428999"/>
            <a:ext cx="1053388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4056" y="340156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+3.20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5732" y="340156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기여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5020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점포 규모만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4328" y="3977640"/>
            <a:ext cx="1889516" cy="310896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34056" y="395020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-5.74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1860" y="395020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혼자서 역전을 만든다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49884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공변량 4개 전부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4328" y="4526280"/>
            <a:ext cx="1905975" cy="310896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34056" y="449884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-5.79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319" y="44988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규모 단독과 같다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93407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67728" y="1773936"/>
            <a:ext cx="4565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유동인구는 왜 기여가 0 인가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개업·폐업 분리 음이항 회귀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2212848"/>
            <a:ext cx="4565599" cy="310896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2249424"/>
            <a:ext cx="15523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변수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9759" y="2249424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개업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2879" y="2249424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폐업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5999" y="2249424"/>
            <a:ext cx="11870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방향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67728" y="2523744"/>
            <a:ext cx="4565599" cy="365760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2587751"/>
            <a:ext cx="15523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log_유동인구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9759" y="2587751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+0.098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2879" y="2587751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+0.053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5999" y="2587751"/>
            <a:ext cx="11870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같음 → 상쇄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67728" y="2889503"/>
            <a:ext cx="4565599" cy="3657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6" y="2953511"/>
            <a:ext cx="15523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log_점포수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29759" y="2953511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−0.099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2879" y="2953511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+0.065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55999" y="2953511"/>
            <a:ext cx="11870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반대 → 남음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67728" y="3255263"/>
            <a:ext cx="4565599" cy="3657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77456" y="3319271"/>
            <a:ext cx="15523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외식_비중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29759" y="3319271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+0.472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42879" y="3319271"/>
            <a:ext cx="9131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−0.484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5999" y="3319271"/>
            <a:ext cx="11870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반대 → 남음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67728" y="3785615"/>
            <a:ext cx="4565599" cy="100584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67728" y="3785615"/>
            <a:ext cx="45720" cy="1005840"/>
          </a:xfrm>
          <a:prstGeom prst="rect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68896" y="3913632"/>
            <a:ext cx="416326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칸 고정효과로 재확인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같은 칸 안의 시간 변화만 보면 개업 p = 0.865 · 폐업 p = 0.963 으로 완전한 무효과. 유동인구가 많은 상권은 위험한 게 아니라 「회전이 빠른」 상권이다.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유동인구는 개업도 폐업도 함께 늘려 순감소에서 상쇄된다 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남는 것은 규모 하나다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8051" y="256032"/>
            <a:ext cx="1065276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68051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0931" y="283464"/>
            <a:ext cx="7909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05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분류모델 선정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1810512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다섯 모델의 성능이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거의 같다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542032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AP 0.398 ~ 0.408 —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알고리즘으로 넘을 벽이 아니다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127248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108960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검증 1위를 채택했고 테스트 분기는 선택에 쓰지 않았다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730752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3849624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테스트 분기를 6번 바꿔 재측정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078224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6 /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7258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여섯 분기 전부 랜덤포레스트가 높음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8289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0.411 ± 0.023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검증 분기 AP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무작위 기준선 0.253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1883664"/>
            <a:ext cx="0" cy="2029968"/>
          </a:xfrm>
          <a:prstGeom prst="line">
            <a:avLst/>
          </a:prstGeom>
          <a:ln w="1778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79" y="39684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0.253  무작위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95681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랜덤포레스트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975104"/>
            <a:ext cx="4251959" cy="2743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19" y="1956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0.408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35915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선형 SVM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377440"/>
            <a:ext cx="4197096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63656" y="235915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0.406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276148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로지스틱 회귀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779776"/>
            <a:ext cx="4197096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63656" y="27614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0.406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16382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의사결정나무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182112"/>
            <a:ext cx="3977640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4200" y="316382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0.398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356616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XGBoost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584448"/>
            <a:ext cx="3977640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44200" y="356616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0.398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315968"/>
            <a:ext cx="2116226" cy="8229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92040" y="4315968"/>
            <a:ext cx="2116226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38344" y="4462272"/>
            <a:ext cx="182361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정확도는 못 쓴다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전부 0 으로 찍어도 74.7%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4570" y="4315968"/>
            <a:ext cx="2116226" cy="8229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54570" y="4315968"/>
            <a:ext cx="2116226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00874" y="4462272"/>
            <a:ext cx="182361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오버샘플링 안 함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분할 전 복제는 성능을 부풀림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7100" y="4315968"/>
            <a:ext cx="2116226" cy="8229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17100" y="4315968"/>
            <a:ext cx="2116226" cy="41148"/>
          </a:xfrm>
          <a:prstGeom prst="rect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63404" y="4462272"/>
            <a:ext cx="182361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한계의 정체</a:t>
            </a:r>
          </a:p>
          <a:p>
            <a:pPr algn="l">
              <a:lnSpc>
                <a:spcPct val="132000"/>
              </a:lnSpc>
              <a:spcBef>
                <a:spcPts val="400"/>
              </a:spcBef>
            </a:pP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모델이 아니라 변수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모델을 바꿔 얻는 이득이 거의 없다 — 현재 한계는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알고리즘이 아니라 변수에 가깝다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8051" y="256032"/>
            <a:ext cx="1065276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68051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0931" y="283464"/>
            <a:ext cx="7909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05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예측 성능과 오차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228600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10874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4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테스트 5,479칸 · 실제 순감소 1,423칸 — </a:t>
            </a:r>
            <a:r>
              <a:rPr sz="14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다 찾아내는 모델로는 성립하지 않지만, 상위 소수를 고르는 도구로는 성립한다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혼동행렬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검증에서 정한 임계값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1396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예측 · 위험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2776" y="21396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예측 · 안전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2491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실제 순감소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75688" y="2450592"/>
            <a:ext cx="1737360" cy="859536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1992" y="2542032"/>
            <a:ext cx="14447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적중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2779776"/>
            <a:ext cx="144475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575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22776" y="2450592"/>
            <a:ext cx="1737360" cy="859536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542032"/>
            <a:ext cx="14447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놓침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779776"/>
            <a:ext cx="144475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848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실제 유지·증가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3419856"/>
            <a:ext cx="1737360" cy="859536"/>
          </a:xfrm>
          <a:prstGeom prst="rect">
            <a:avLst/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21992" y="3511296"/>
            <a:ext cx="14447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D1943A"/>
                </a:solidFill>
                <a:latin typeface="KoPubWorld돋움체 Bold"/>
                <a:ea typeface="KoPubWorld돋움체 Bold"/>
                <a:cs typeface="KoPubWorld돋움체 Bold"/>
              </a:rPr>
              <a:t>헛경보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2" y="3749040"/>
            <a:ext cx="144475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1">
                <a:solidFill>
                  <a:srgbClr val="D1943A"/>
                </a:solidFill>
                <a:latin typeface="KoPubWorld돋움체 Bold"/>
                <a:ea typeface="KoPubWorld돋움체 Bold"/>
                <a:cs typeface="KoPubWorld돋움체 Bold"/>
              </a:rPr>
              <a:t>786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22776" y="3419856"/>
            <a:ext cx="1737360" cy="859536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3511296"/>
            <a:ext cx="14447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정상 제외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749040"/>
            <a:ext cx="144475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3,270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535424"/>
            <a:ext cx="5029200" cy="56692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663440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정밀도 42.2%   ·   재현율 40.4%   ·   Lift 1.627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7607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27648" y="1792224"/>
            <a:ext cx="52056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찍은 칸수를 늘려가며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모델 대 점포 수 규칙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04888" y="4242816"/>
            <a:ext cx="420624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04888" y="2322576"/>
            <a:ext cx="0" cy="1920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55079" y="2212848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4096512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35%</a:t>
            </a:r>
          </a:p>
        </p:txBody>
      </p:sp>
      <p:sp>
        <p:nvSpPr>
          <p:cNvPr id="37" name="Oval 36"/>
          <p:cNvSpPr/>
          <p:nvPr/>
        </p:nvSpPr>
        <p:spPr>
          <a:xfrm>
            <a:off x="7209129" y="2258568"/>
            <a:ext cx="128016" cy="128016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09129" y="4014216"/>
            <a:ext cx="128016" cy="128016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5937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50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273137" y="2322576"/>
            <a:ext cx="925373" cy="438912"/>
          </a:xfrm>
          <a:prstGeom prst="line">
            <a:avLst/>
          </a:prstGeom>
          <a:ln w="38100">
            <a:solidFill>
              <a:srgbClr val="1E7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273137" y="3639312"/>
            <a:ext cx="925373" cy="438912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134502" y="2697480"/>
            <a:ext cx="128016" cy="128016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34502" y="3575304"/>
            <a:ext cx="128016" cy="128016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41310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98510" y="2761488"/>
            <a:ext cx="1177747" cy="384048"/>
          </a:xfrm>
          <a:prstGeom prst="line">
            <a:avLst/>
          </a:prstGeom>
          <a:ln w="38100">
            <a:solidFill>
              <a:srgbClr val="1E7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198510" y="3458260"/>
            <a:ext cx="1177747" cy="181052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312249" y="3081528"/>
            <a:ext cx="128016" cy="128016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12249" y="3394252"/>
            <a:ext cx="128016" cy="128016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9057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300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76257" y="3145536"/>
            <a:ext cx="1051560" cy="197510"/>
          </a:xfrm>
          <a:prstGeom prst="line">
            <a:avLst/>
          </a:prstGeom>
          <a:ln w="38100">
            <a:solidFill>
              <a:srgbClr val="1E7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76257" y="3458260"/>
            <a:ext cx="1051560" cy="159106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363809" y="3279038"/>
            <a:ext cx="128016" cy="128016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363809" y="3553358"/>
            <a:ext cx="128016" cy="128016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70617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500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427817" y="3343046"/>
            <a:ext cx="841248" cy="493776"/>
          </a:xfrm>
          <a:prstGeom prst="line">
            <a:avLst/>
          </a:prstGeom>
          <a:ln w="38100">
            <a:solidFill>
              <a:srgbClr val="1E7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27817" y="3617366"/>
            <a:ext cx="841248" cy="202997"/>
          </a:xfrm>
          <a:prstGeom prst="line">
            <a:avLst/>
          </a:prstGeom>
          <a:ln w="38100">
            <a:solidFill>
              <a:srgbClr val="C4BF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1205057" y="3772814"/>
            <a:ext cx="128016" cy="128016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05057" y="3756355"/>
            <a:ext cx="128016" cy="128016"/>
          </a:xfrm>
          <a:prstGeom prst="ellipse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11865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1,285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0568" y="20116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70.0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04150" y="245059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62.0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79" y="3986784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38.0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0648" y="234086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━ 모델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234086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━ 점포 수 규칙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27648" y="4498848"/>
            <a:ext cx="5205679" cy="804672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7648" y="4498848"/>
            <a:ext cx="45720" cy="804672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4" y="4626864"/>
            <a:ext cx="47667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점포 5~6개 구간에서만 보면</a:t>
            </a:r>
          </a:p>
          <a:p>
            <a:pPr algn="l">
              <a:lnSpc>
                <a:spcPct val="142000"/>
              </a:lnSpc>
              <a:spcBef>
                <a:spcPts val="300"/>
              </a:spcBef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점포 수 규칙 0.981(무작위 아래)  ·  모델 1.740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「먼저 볼 50~300곳을 골라주는 도구」로는 성립하고,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특히 작은 상권에서는 대안이 없다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79231" y="256032"/>
            <a:ext cx="3054096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79231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2111" y="283464"/>
            <a:ext cx="2779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핵심 질문 · 보조 Q2 · 가설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05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무엇이 위험을 만드는가 — 변수 기여도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규모가 기여의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3분의 2를 차지한다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542032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SHAP 은 각 변수가 예측을 어느 쪽으로 얼마나 밀었는지 분해한다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127248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108960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상위는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점포 수 계열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이 모두 차지한다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730752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3849624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규모·밀도 계열 비중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078224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66.6%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7258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나머지 33.4% 가 크기와 무관한 요인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단일 모형 변수 기여도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오른쪽(+)이 위험을 올린 쪽 · 붉은 점은 변수값이 큰 칸</a:t>
            </a:r>
          </a:p>
        </p:txBody>
      </p:sp>
      <p:pic>
        <p:nvPicPr>
          <p:cNvPr id="25" name="Picture 24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9" y="1792224"/>
            <a:ext cx="3265329" cy="393192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「점포가 많으면 위험하다」밖에 말하지 못한다 — 그건 위험이 아니라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사건이 일어날 크기다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8051" y="256032"/>
            <a:ext cx="1065276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68051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0931" y="283464"/>
            <a:ext cx="7909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05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규모를 갈라내면 무엇이 남는가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10874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45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P(순감소) = P(사건) × P(순감소 | 사건) 으로 나누자 </a:t>
            </a:r>
            <a:r>
              <a:rPr sz="14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규모는 1단계에 갇히고 2단계에서는 4분의 1로 줄었다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규모·밀도 계열이 차지하는 SHAP 기여 비중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6771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단일 모형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7208" y="2286000"/>
            <a:ext cx="2192365" cy="32918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1013" y="22677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66.6%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87121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1단계 P(사건)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2889504"/>
            <a:ext cx="2317455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6103" y="287121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70.4%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4747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2단계 P(순감소|사건)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7208" y="3493008"/>
            <a:ext cx="852586" cy="32918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1234" y="347472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25.9%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096512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2단계에서 상위로 올라온 변수 셋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규모 계열 제외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805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외식물가지수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4517136"/>
            <a:ext cx="818022" cy="219456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9198" y="448056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전국 지표 — 분기 안에서 값이 하나뿐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864608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한식음식점 여부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1448" y="4901184"/>
            <a:ext cx="591433" cy="219456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42609" y="486460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업종 구성이 실제로 순위를 가른다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48656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외식지출전망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41448" y="5285232"/>
            <a:ext cx="576072" cy="219456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248" y="5248656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전국 지표 — 순위 기여 없음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62472" y="1664208"/>
            <a:ext cx="0" cy="365760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91655" y="1792224"/>
            <a:ext cx="51416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두 축으로 나눈 네 유형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검증 분기 5,479칸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655" y="2212848"/>
            <a:ext cx="2506827" cy="1389888"/>
          </a:xfrm>
          <a:prstGeom prst="rect">
            <a:avLst/>
          </a:prstGeom>
          <a:solidFill>
            <a:srgbClr val="FDF3E3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7" y="2377440"/>
            <a:ext cx="2177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정체 · 변화 시 취약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7" y="2761488"/>
            <a:ext cx="217764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1,813 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7" y="3218688"/>
            <a:ext cx="2177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D1943A"/>
                </a:solidFill>
                <a:latin typeface="KoPubWorld돋움체 Bold"/>
                <a:ea typeface="KoPubWorld돋움체 Bold"/>
                <a:cs typeface="KoPubWorld돋움체 Bold"/>
              </a:rPr>
              <a:t>순감소 18.3% · 평균 6.9개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6499" y="2212848"/>
            <a:ext cx="2506827" cy="1389888"/>
          </a:xfrm>
          <a:prstGeom prst="rect">
            <a:avLst/>
          </a:prstGeom>
          <a:solidFill>
            <a:srgbClr val="F7DCD6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1091" y="2377440"/>
            <a:ext cx="2177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활발 · 쇠퇴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1091" y="2761488"/>
            <a:ext cx="217764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959 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1091" y="3218688"/>
            <a:ext cx="2177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순감소 38.7% · 평균 30.9개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91655" y="3730752"/>
            <a:ext cx="2506827" cy="1389888"/>
          </a:xfrm>
          <a:prstGeom prst="rect">
            <a:avLst/>
          </a:prstGeom>
          <a:solidFill>
            <a:srgbClr val="EAF2EB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7" y="3895344"/>
            <a:ext cx="2177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안정적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6247" y="4279392"/>
            <a:ext cx="217764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935 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7" y="4736592"/>
            <a:ext cx="2177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순감소 14.8% · 평균 7.8개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6499" y="3730752"/>
            <a:ext cx="2506827" cy="1389888"/>
          </a:xfrm>
          <a:prstGeom prst="rect">
            <a:avLst/>
          </a:prstGeom>
          <a:solidFill>
            <a:srgbClr val="FAE8E3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1091" y="3895344"/>
            <a:ext cx="2177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활발 · 성장 · 유지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1091" y="4279392"/>
            <a:ext cx="217764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1,772 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1091" y="4736592"/>
            <a:ext cx="2177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D1943A"/>
                </a:solidFill>
                <a:latin typeface="KoPubWorld돋움체 Bold"/>
                <a:ea typeface="KoPubWorld돋움체 Bold"/>
                <a:cs typeface="KoPubWorld돋움체 Bold"/>
              </a:rPr>
              <a:t>순감소 32.8% · 평균 38.1개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1655" y="5138928"/>
            <a:ext cx="25068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사건확률 낮음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6499" y="5138928"/>
            <a:ext cx="25068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사건확률 높음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곱해서 한 줄로 세우면 왼쪽 위 「정체·취약」 1,813칸이 사라진다 — 그래서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두 축을 함께 쓴다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8051" y="256032"/>
            <a:ext cx="1065276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68051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0931" y="283464"/>
            <a:ext cx="7909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05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상권별 다음 분기 폐업위험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위험등급이 실제와</a:t>
            </a:r>
          </a:p>
          <a:p>
            <a:pPr algn="l">
              <a:lnSpc>
                <a:spcPct val="126000"/>
              </a:lnSpc>
              <a:spcBef>
                <a:spcPts val="0"/>
              </a:spcBef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맞아떨어진다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40864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6032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6032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542032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원 크기 = 점포 수 · 색 = 위험점수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127248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108960"/>
            <a:ext cx="3392424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역과의 거리는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구배가 없다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— 역세권이 높은 것은 평균 점포가 2.4배 크기 때문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945636"/>
            <a:ext cx="370332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064508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관찰 → 위험 등급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293108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13.4 → 42.1%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88746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위험점수 4분위별 실제 순감소율이 단조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189220"/>
            <a:ext cx="3703320" cy="18288"/>
          </a:xfrm>
          <a:prstGeom prst="rect">
            <a:avLst/>
          </a:prstGeom>
          <a:solidFill>
            <a:srgbClr val="D9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335524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상권 경계 폴리곤이 없어 점·버블로 대체</a:t>
            </a:r>
          </a:p>
        </p:txBody>
      </p:sp>
      <p:pic>
        <p:nvPicPr>
          <p:cNvPr id="26" name="Picture 25" descr="map_ris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25296"/>
            <a:ext cx="5334399" cy="4462272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상위 100~300곳을 지도 위에서 바로 고를 수 있다 — 등급은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실제 순감소율과 단조로 맞물린다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8051" y="256032"/>
            <a:ext cx="1065276" cy="310896"/>
          </a:xfrm>
          <a:prstGeom prst="rect">
            <a:avLst/>
          </a:prstGeom>
          <a:solidFill>
            <a:srgbClr val="F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68051" y="256032"/>
            <a:ext cx="41148" cy="310896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0931" y="283464"/>
            <a:ext cx="7909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05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결과 /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자치구별로 어떤 업종을 먼저 볼 것인가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3898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4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25개 자치구 × 요식업 10종 · 245개 조합을 점수화하면 </a:t>
            </a:r>
            <a:r>
              <a:rPr sz="14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자치구 1위는 한식·호프에 몰린다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92224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자치구 1위로 뽑힌 업종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25개 자치구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12252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한식음식점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56815" y="2313432"/>
            <a:ext cx="2092147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1259" y="22677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24912"/>
            <a:ext cx="12252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호프-간이주점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56815" y="2770632"/>
            <a:ext cx="1126540" cy="27432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65652" y="27249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82112"/>
            <a:ext cx="12252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커피-음료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56815" y="3227832"/>
            <a:ext cx="321868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60980" y="31821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39312"/>
            <a:ext cx="12252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양식음식점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56815" y="3685032"/>
            <a:ext cx="160934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0046" y="36393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96512"/>
            <a:ext cx="12252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중식음식점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56815" y="4142232"/>
            <a:ext cx="160934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00046" y="40965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53712"/>
            <a:ext cx="12252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일식음식점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56815" y="4599432"/>
            <a:ext cx="160934" cy="274320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00046" y="45537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084064"/>
            <a:ext cx="3703320" cy="56692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084064"/>
            <a:ext cx="41148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19379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칸이 많은 업종이 먼저 뜬다 — 순위는 규모를 읽는다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1792224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위험 상위 조합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2025Q4 기준 다음 분기 예측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2677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자치구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7" y="226771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업종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2677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칸수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4776" y="226771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평균 위험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3224" y="226771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실제 순감소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92040" y="2542032"/>
            <a:ext cx="6549847" cy="0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818888" y="2615184"/>
            <a:ext cx="6622999" cy="29260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263347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마포구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7607" y="263347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커피-음료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4776" y="26334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0.459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3224" y="263347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38.0%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292150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마포구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7607" y="292150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호프-간이주점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92150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94776" y="29215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0.449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93224" y="292150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28.9%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8888" y="3191256"/>
            <a:ext cx="6622999" cy="29260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92040" y="320954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서초구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07607" y="3209544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호프-간이주점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2095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94776" y="320954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0.448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93224" y="320954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38.1%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40" y="349758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관악구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7607" y="349758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호프-간이주점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349758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4776" y="34975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0.447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93224" y="34975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26.1%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18888" y="3767328"/>
            <a:ext cx="6622999" cy="29260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92040" y="3785615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강남구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07607" y="3785615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호프-간이주점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3785615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94776" y="3785615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0.442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93224" y="3785615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48.7%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40736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강남구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07607" y="407365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커피-음료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40736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66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94776" y="407365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0.431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93224" y="407365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33.3%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18888" y="4343400"/>
            <a:ext cx="6622999" cy="29260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92040" y="43616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종로구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07607" y="436168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호프-간이주점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43616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94776" y="436168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0.423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93224" y="43616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32.0%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92040" y="464972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송파구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07607" y="4649724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한식음식점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464972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60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94776" y="46497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0.418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93224" y="46497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33.3%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18888" y="4919472"/>
            <a:ext cx="6622999" cy="29260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92040" y="49377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강서구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07607" y="493776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한식음식점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49377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57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94776" y="493776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0.418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93224" y="493776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33.3%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18888" y="5084064"/>
            <a:ext cx="6622999" cy="566928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818888" y="5084064"/>
            <a:ext cx="41148" cy="566928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0055" y="5193792"/>
            <a:ext cx="63303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기저 26.0% 대비 강남 호프 48.7% · 서초 호프 38.1% — </a:t>
            </a:r>
            <a:r>
              <a:rPr sz="11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상위 조합은 실제로 더 많이 무너졌다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자치구는 예산을 내리는 창구, 실제 선정은 상권 단위로 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자치구 1위만 보면 규모를 보는 것이 된다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06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활용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비즈니스 제언 · 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329184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91056"/>
            <a:ext cx="2622727" cy="142646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91056"/>
            <a:ext cx="2622727" cy="4572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73936"/>
            <a:ext cx="225696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① 대상 선정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상위 100~300칸 · 두 축 병행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「활발·쇠퇴」 즉시 점검 · 「정체·취약」 관찰목록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9111" y="1591056"/>
            <a:ext cx="2622727" cy="142646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9111" y="1591056"/>
            <a:ext cx="2622727" cy="45720"/>
          </a:xfrm>
          <a:prstGeom prst="rect">
            <a:avLst/>
          </a:prstGeom>
          <a:solidFill>
            <a:srgbClr val="2F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1773936"/>
            <a:ext cx="225696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2F6E9E"/>
                </a:solidFill>
                <a:latin typeface="KoPubWorld돋움체 Bold"/>
                <a:ea typeface="KoPubWorld돋움체 Bold"/>
                <a:cs typeface="KoPubWorld돋움체 Bold"/>
              </a:rPr>
              <a:t>② 우선순위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소규모 상권부터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점포 5~6개 구간에서 점포 수 규칙은 무작위 아래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1591056"/>
            <a:ext cx="2622727" cy="142646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9855" y="1591056"/>
            <a:ext cx="2622727" cy="457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1773936"/>
            <a:ext cx="225696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③ 업종 기준 재검토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입지·규모 기준으로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10개 중 6개는 조건을 맞추면 차이가 사라진다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0599" y="1591056"/>
            <a:ext cx="2622727" cy="142646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0599" y="1591056"/>
            <a:ext cx="2622727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3479" y="1773936"/>
            <a:ext cx="225696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C0392B"/>
                </a:solidFill>
                <a:latin typeface="KoPubWorld돋움체 Bold"/>
                <a:ea typeface="KoPubWorld돋움체 Bold"/>
                <a:cs typeface="KoPubWorld돋움체 Bold"/>
              </a:rPr>
              <a:t>④ 기존 지표 대체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HL 진단 단독 사용 중단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Lift 0.937 — 사후 진단 용도로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00400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기대효과</a:t>
            </a:r>
            <a:r>
              <a:rPr sz="13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  · 같은 100곳을 볼 때 실제로 몇 곳에 닿는가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63931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무작위로 100곳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3666744"/>
            <a:ext cx="1664208" cy="292608"/>
          </a:xfrm>
          <a:prstGeom prst="rect">
            <a:avLst/>
          </a:prstGeom>
          <a:solidFill>
            <a:srgbClr val="C4B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58384" y="36393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26곳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133087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점포 수 규칙 상위 100곳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84448" y="4160520"/>
            <a:ext cx="2944368" cy="292608"/>
          </a:xfrm>
          <a:prstGeom prst="rect">
            <a:avLst/>
          </a:prstGeom>
          <a:solidFill>
            <a:srgbClr val="9A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4133087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7A7A7A"/>
                </a:solidFill>
                <a:latin typeface="KoPubWorld돋움체 Bold"/>
                <a:ea typeface="KoPubWorld돋움체 Bold"/>
                <a:cs typeface="KoPubWorld돋움체 Bold"/>
              </a:rPr>
              <a:t>46곳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6268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모델 상위 100곳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8" y="4654296"/>
            <a:ext cx="3968496" cy="292608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462686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62곳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3529584"/>
            <a:ext cx="3468319" cy="1517904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3529584"/>
            <a:ext cx="45720" cy="151790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712464"/>
            <a:ext cx="30111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같은 100곳을 보더라도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1">
                <a:solidFill>
                  <a:srgbClr val="1E7A3C"/>
                </a:solidFill>
                <a:latin typeface="KoPubWorld돋움체 Bold"/>
                <a:ea typeface="KoPubWorld돋움체 Bold"/>
                <a:cs typeface="KoPubWorld돋움체 Bold"/>
              </a:rPr>
              <a:t>무작위 26곳 → 모델 62곳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2.4배 많은 위험 상권에 닿는다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다만 실제 순감소 1,423곳 중 62곳 — 「우선순위」로만 쓴다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같은 예산으로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2.4배 많은 위험 상권에 닿는다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 — 「전수」가 아니라 「우선순위」로 쓴다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10896"/>
            <a:ext cx="1874519" cy="502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1E1E1E"/>
                </a:solidFill>
                <a:latin typeface="KoPubWorld돋움체 Medium"/>
                <a:ea typeface="KoPubWorld돋움체 Medium"/>
                <a:cs typeface="KoPubWorld돋움체 Medium"/>
              </a:rPr>
              <a:t>06  </a:t>
            </a:r>
            <a:r>
              <a:rPr sz="30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분석 활용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65836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한계와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969264"/>
            <a:ext cx="2286000" cy="32004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53167" y="62910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2000"/>
              </a:lnSpc>
            </a:pPr>
            <a:r>
              <a:rPr sz="1100" b="0">
                <a:solidFill>
                  <a:srgbClr val="8A6A52"/>
                </a:solidFill>
                <a:latin typeface="KoPubWorld돋움체 Medium"/>
                <a:ea typeface="KoPubWorld돋움체 Medium"/>
                <a:cs typeface="KoPubWorld돋움체 Medium"/>
              </a:rPr>
              <a:t>P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66399" y="6547104"/>
            <a:ext cx="566928" cy="29260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617720" y="1444752"/>
            <a:ext cx="0" cy="420624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48132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알고 있는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566928" cy="41148"/>
          </a:xfrm>
          <a:prstGeom prst="rect">
            <a:avLst/>
          </a:prstGeom>
          <a:solidFill>
            <a:srgbClr val="8A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2212848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194560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표본은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점포 5개 이상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칸에 한정 (54% 제외)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779776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79776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761488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「폐업」은 실제 폐점이 아니라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사업자등록 말소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346704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46704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328416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매출은 단일 카드사 추정치 · 영세 칸 4,782개 결측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913632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13632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895344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테스트가 </a:t>
            </a:r>
            <a:r>
              <a:rPr sz="130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한 분기</a:t>
            </a: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 — 상위 100칸 정밀도 ±4.9%p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480560"/>
            <a:ext cx="210312" cy="210312"/>
          </a:xfrm>
          <a:prstGeom prst="ellipse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80560"/>
            <a:ext cx="210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00" b="1">
                <a:solidFill>
                  <a:srgbClr val="8A6A52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462272"/>
            <a:ext cx="3392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3C3C3C"/>
                </a:solidFill>
                <a:latin typeface="KoPubWorld돋움체 Medium"/>
                <a:ea typeface="KoPubWorld돋움체 Medium"/>
                <a:cs typeface="KoPubWorld돋움체 Medium"/>
              </a:rPr>
              <a:t>임대료 · 권리금 · 온라인 관심도는 결합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1463040"/>
            <a:ext cx="664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3C3C3C"/>
                </a:solidFill>
                <a:latin typeface="KoPubWorld돋움체 Bold"/>
                <a:ea typeface="KoPubWorld돋움체 Bold"/>
                <a:cs typeface="KoPubWorld돋움체 Bold"/>
              </a:rPr>
              <a:t>다음 단계 — 순서대로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865376"/>
            <a:ext cx="6641287" cy="877824"/>
          </a:xfrm>
          <a:prstGeom prst="rect">
            <a:avLst/>
          </a:prstGeom>
          <a:solidFill>
            <a:srgbClr val="F4F2EF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9783" y="2029968"/>
            <a:ext cx="61657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STEP 1 · 2026Q2 예측 산출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같은 절차를 2026Q1 피처에 적용하면 라벨 없이도 다음 분기 위험 목록이 나온다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2852928"/>
            <a:ext cx="6641287" cy="877824"/>
          </a:xfrm>
          <a:prstGeom prst="rect">
            <a:avLst/>
          </a:prstGeom>
          <a:solidFill>
            <a:srgbClr val="F4F2EF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9783" y="3017520"/>
            <a:ext cx="61657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STEP 2 · 음이항 회귀로 교차 확인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개업·폐업 건수를 오프셋 log(점포수)로 모형화 — 규모를 구조적으로 통제한다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3840480"/>
            <a:ext cx="6641287" cy="877824"/>
          </a:xfrm>
          <a:prstGeom prst="rect">
            <a:avLst/>
          </a:prstGeom>
          <a:solidFill>
            <a:srgbClr val="F4F2EF"/>
          </a:solidFill>
          <a:ln w="12700">
            <a:solidFill>
              <a:srgbClr val="D9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9783" y="4005072"/>
            <a:ext cx="61657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STEP 3 · 분기 누적 재검증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>
                <a:solidFill>
                  <a:srgbClr val="7A7A7A"/>
                </a:solidFill>
                <a:latin typeface="KoPubWorld돋움체 Medium"/>
                <a:ea typeface="KoPubWorld돋움체 Medium"/>
                <a:cs typeface="KoPubWorld돋움체 Medium"/>
              </a:rPr>
              <a:t>분기가 쌓일 때마다 롤링으로 다시 재고 상위 100칸 정밀도가 유지되는지 확인한다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4828032"/>
            <a:ext cx="6641287" cy="877824"/>
          </a:xfrm>
          <a:prstGeom prst="rect">
            <a:avLst/>
          </a:prstGeom>
          <a:solidFill>
            <a:srgbClr val="53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9783" y="4992624"/>
            <a:ext cx="61657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STEP 4 · 상권 폴리곤 확보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>
                <a:solidFill>
                  <a:srgbClr val="E6E2DD"/>
                </a:solidFill>
                <a:latin typeface="KoPubWorld돋움체 Medium"/>
                <a:ea typeface="KoPubWorld돋움체 Medium"/>
                <a:cs typeface="KoPubWorld돋움체 Medium"/>
              </a:rPr>
              <a:t>영역-상권 Shapefile 을 결합하면 단계구분도와 폴리곤별 업종 구성 분석이 가능해진다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5705856"/>
            <a:ext cx="10874959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>이 모델은 「점포 5개 이상 상권의 다음 분기 우선순위」까지만 말한다 — </a:t>
            </a:r>
            <a:r>
              <a:rPr sz="1650" b="1">
                <a:solidFill>
                  <a:srgbClr val="1E1E1E"/>
                </a:solidFill>
                <a:latin typeface="KoPubWorld돋움체 Bold"/>
                <a:ea typeface="KoPubWorld돋움체 Bold"/>
                <a:cs typeface="KoPubWorld돋움체 Bold"/>
              </a:rPr>
              <a:t>그 밖은 검증되지 않았다</a:t>
            </a:r>
            <a:r>
              <a:rPr sz="1650" b="0">
                <a:solidFill>
                  <a:srgbClr val="444444"/>
                </a:solidFill>
                <a:latin typeface="KoPubWorld돋움체 Medium"/>
                <a:ea typeface="KoPubWorld돋움체 Medium"/>
                <a:cs typeface="KoPubWorld돋움체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