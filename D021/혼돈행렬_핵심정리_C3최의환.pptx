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hart1.xml" ContentType="application/vnd.openxmlformats-officedocument.drawingml.chart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2" d="100"/>
          <a:sy n="102" d="100"/>
        </p:scale>
        <p:origin x="48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B1F3B"/>
                </a:solidFill>
                <a:latin typeface="Arial"/>
              </a:defRPr>
            </a:pPr>
            <a:r>
              <a:rPr lang="ko-KR" altLang="en-US" sz="1300" b="0" i="0" u="none" strike="noStrike">
                <a:solidFill>
                  <a:srgbClr val="1B1F3B"/>
                </a:solidFill>
                <a:latin typeface="Arial"/>
              </a:rPr>
              <a:t>임계값에 따른 정밀도 </a:t>
            </a:r>
            <a:r>
              <a:rPr lang="en-US" altLang="ko-KR" sz="1300" b="0" i="0" u="none" strike="noStrike">
                <a:solidFill>
                  <a:srgbClr val="1B1F3B"/>
                </a:solidFill>
                <a:latin typeface="Arial"/>
              </a:rPr>
              <a:t>· </a:t>
            </a:r>
            <a:r>
              <a:rPr lang="ko-KR" altLang="en-US" sz="1300" b="0" i="0" u="none" strike="noStrike">
                <a:solidFill>
                  <a:srgbClr val="1B1F3B"/>
                </a:solidFill>
                <a:latin typeface="Arial"/>
              </a:rPr>
              <a:t>재현율 변화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재현율 (Recall)</c:v>
                </c:pt>
              </c:strCache>
            </c:strRef>
          </c:tx>
          <c:spPr>
            <a:ln w="31750" cap="flat">
              <a:solidFill>
                <a:srgbClr val="E63946"/>
              </a:solidFill>
              <a:prstDash val="solid"/>
              <a:round/>
            </a:ln>
            <a:effectLst/>
          </c:spPr>
          <c:marker>
            <c:symbol val="circle"/>
            <c:size val="5"/>
            <c:spPr>
              <a:solidFill>
                <a:srgbClr val="E63946"/>
              </a:solidFill>
              <a:ln w="9525" cap="flat">
                <a:solidFill>
                  <a:srgbClr val="E63946"/>
                </a:solidFill>
                <a:prstDash val="solid"/>
                <a:round/>
              </a:ln>
              <a:effectLst/>
            </c:spPr>
          </c:marker>
          <c:cat>
            <c:strRef>
              <c:f>Sheet1!$A$2:$A$13</c:f>
              <c:strCache>
                <c:ptCount val="12"/>
                <c:pt idx="0">
                  <c:v>0.00</c:v>
                </c:pt>
                <c:pt idx="1">
                  <c:v>0.06</c:v>
                </c:pt>
                <c:pt idx="2">
                  <c:v>0.12</c:v>
                </c:pt>
                <c:pt idx="3">
                  <c:v>0.19</c:v>
                </c:pt>
                <c:pt idx="4">
                  <c:v>0.25</c:v>
                </c:pt>
                <c:pt idx="5">
                  <c:v>0.30</c:v>
                </c:pt>
                <c:pt idx="6">
                  <c:v>0.41</c:v>
                </c:pt>
                <c:pt idx="7">
                  <c:v>0.53</c:v>
                </c:pt>
                <c:pt idx="8">
                  <c:v>0.66</c:v>
                </c:pt>
                <c:pt idx="9">
                  <c:v>0.76</c:v>
                </c:pt>
                <c:pt idx="10">
                  <c:v>0.86</c:v>
                </c:pt>
                <c:pt idx="11">
                  <c:v>0.99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1</c:v>
                </c:pt>
                <c:pt idx="1">
                  <c:v>0.98299999999999998</c:v>
                </c:pt>
                <c:pt idx="2">
                  <c:v>0.96699999999999997</c:v>
                </c:pt>
                <c:pt idx="3">
                  <c:v>0.95</c:v>
                </c:pt>
                <c:pt idx="4">
                  <c:v>0.89600000000000002</c:v>
                </c:pt>
                <c:pt idx="5">
                  <c:v>0.84599999999999997</c:v>
                </c:pt>
                <c:pt idx="6">
                  <c:v>0.747</c:v>
                </c:pt>
                <c:pt idx="7">
                  <c:v>0.67200000000000004</c:v>
                </c:pt>
                <c:pt idx="8">
                  <c:v>0.53500000000000003</c:v>
                </c:pt>
                <c:pt idx="9">
                  <c:v>0.38600000000000001</c:v>
                </c:pt>
                <c:pt idx="10">
                  <c:v>0.21199999999999999</c:v>
                </c:pt>
                <c:pt idx="11">
                  <c:v>4.0000000000000001E-3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C047-404F-8DC7-CA9C5285169C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정밀도 (Precision)</c:v>
                </c:pt>
              </c:strCache>
            </c:strRef>
          </c:tx>
          <c:spPr>
            <a:ln w="31750" cap="flat">
              <a:solidFill>
                <a:srgbClr val="2E86AB"/>
              </a:solidFill>
              <a:prstDash val="solid"/>
              <a:round/>
            </a:ln>
            <a:effectLst/>
          </c:spPr>
          <c:marker>
            <c:symbol val="circle"/>
            <c:size val="5"/>
            <c:spPr>
              <a:solidFill>
                <a:srgbClr val="2E86AB"/>
              </a:solidFill>
              <a:ln w="9525" cap="flat">
                <a:solidFill>
                  <a:srgbClr val="2E86AB"/>
                </a:solidFill>
                <a:prstDash val="solid"/>
                <a:round/>
              </a:ln>
              <a:effectLst/>
            </c:spPr>
          </c:marker>
          <c:cat>
            <c:strRef>
              <c:f>Sheet1!$A$2:$A$13</c:f>
              <c:strCache>
                <c:ptCount val="12"/>
                <c:pt idx="0">
                  <c:v>0.00</c:v>
                </c:pt>
                <c:pt idx="1">
                  <c:v>0.06</c:v>
                </c:pt>
                <c:pt idx="2">
                  <c:v>0.12</c:v>
                </c:pt>
                <c:pt idx="3">
                  <c:v>0.19</c:v>
                </c:pt>
                <c:pt idx="4">
                  <c:v>0.25</c:v>
                </c:pt>
                <c:pt idx="5">
                  <c:v>0.30</c:v>
                </c:pt>
                <c:pt idx="6">
                  <c:v>0.41</c:v>
                </c:pt>
                <c:pt idx="7">
                  <c:v>0.53</c:v>
                </c:pt>
                <c:pt idx="8">
                  <c:v>0.66</c:v>
                </c:pt>
                <c:pt idx="9">
                  <c:v>0.76</c:v>
                </c:pt>
                <c:pt idx="10">
                  <c:v>0.86</c:v>
                </c:pt>
                <c:pt idx="11">
                  <c:v>0.99</c:v>
                </c:pt>
              </c:strCache>
            </c: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0.32100000000000001</c:v>
                </c:pt>
                <c:pt idx="1">
                  <c:v>0.40200000000000002</c:v>
                </c:pt>
                <c:pt idx="2">
                  <c:v>0.48199999999999998</c:v>
                </c:pt>
                <c:pt idx="3">
                  <c:v>0.53400000000000003</c:v>
                </c:pt>
                <c:pt idx="4">
                  <c:v>0.57399999999999995</c:v>
                </c:pt>
                <c:pt idx="5">
                  <c:v>0.63400000000000001</c:v>
                </c:pt>
                <c:pt idx="6">
                  <c:v>0.66900000000000004</c:v>
                </c:pt>
                <c:pt idx="7">
                  <c:v>0.753</c:v>
                </c:pt>
                <c:pt idx="8">
                  <c:v>0.79600000000000004</c:v>
                </c:pt>
                <c:pt idx="9">
                  <c:v>0.86099999999999999</c:v>
                </c:pt>
                <c:pt idx="10">
                  <c:v>0.92700000000000005</c:v>
                </c:pt>
                <c:pt idx="11">
                  <c:v>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C047-404F-8DC7-CA9C5285169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1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lang="ko-KR" altLang="en-US" sz="1100" b="0" i="0" u="none" strike="noStrike">
                    <a:solidFill>
                      <a:srgbClr val="000000"/>
                    </a:solidFill>
                    <a:latin typeface="Arial"/>
                  </a:rPr>
                  <a:t>임계값 </a:t>
                </a:r>
                <a:r>
                  <a:rPr lang="en-US" altLang="ko-KR" sz="1100" b="0" i="0" u="none" strike="noStrike">
                    <a:solidFill>
                      <a:srgbClr val="000000"/>
                    </a:solidFill>
                    <a:latin typeface="Arial"/>
                  </a:rPr>
                  <a:t>(</a:t>
                </a:r>
                <a:r>
                  <a:rPr lang="en-GB" sz="1100" b="0" i="0" u="none" strike="noStrike">
                    <a:solidFill>
                      <a:srgbClr val="000000"/>
                    </a:solidFill>
                    <a:latin typeface="Arial"/>
                  </a:rPr>
                  <a:t>threshold)</a:t>
                </a:r>
              </a:p>
            </c:rich>
          </c:tx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"/>
          <c:min val="0"/>
        </c:scaling>
        <c:delete val="0"/>
        <c:axPos val="l"/>
        <c:majorGridlines>
          <c:spPr>
            <a:ln w="9525" cap="flat">
              <a:solidFill>
                <a:srgbClr val="E4E7F5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1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lang="ko-KR" altLang="en-US" sz="1100" b="0" i="0" u="none" strike="noStrike">
                    <a:solidFill>
                      <a:srgbClr val="000000"/>
                    </a:solidFill>
                    <a:latin typeface="Arial"/>
                  </a:rPr>
                  <a:t>지표 값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/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406483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61120" y="-1645920"/>
            <a:ext cx="5486400" cy="5486400"/>
          </a:xfrm>
          <a:prstGeom prst="ellipse">
            <a:avLst/>
          </a:prstGeom>
          <a:solidFill>
            <a:srgbClr val="24316F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10241280" y="4389120"/>
            <a:ext cx="3108960" cy="3108960"/>
          </a:xfrm>
          <a:prstGeom prst="ellipse">
            <a:avLst/>
          </a:prstGeom>
          <a:solidFill>
            <a:srgbClr val="283A82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/>
          <p:nvPr/>
        </p:nvSpPr>
        <p:spPr>
          <a:xfrm>
            <a:off x="822960" y="10515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kern="0" spc="300" dirty="0">
                <a:solidFill>
                  <a:srgbClr val="8FA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CONFUSION MATRIX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77240" y="141732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혼돈행렬 — 분류 모델의 오답노트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822960" y="22860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네 칸의 의미부터 정밀도 · 재현율 · F1까지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822960" y="3063240"/>
            <a:ext cx="9692640" cy="2331720"/>
          </a:xfrm>
          <a:prstGeom prst="rect">
            <a:avLst/>
          </a:prstGeom>
          <a:solidFill>
            <a:srgbClr val="273873"/>
          </a:solidFill>
          <a:ln w="12700">
            <a:solidFill>
              <a:srgbClr val="3C4E9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Text 6"/>
          <p:cNvSpPr/>
          <p:nvPr/>
        </p:nvSpPr>
        <p:spPr>
          <a:xfrm>
            <a:off x="1097280" y="3246120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9FE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쉽게 말하면 — 오답노트를 펼쳐 보기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97280" y="3657600"/>
            <a:ext cx="90525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D6D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시험에서 80점을 받았다면, 숫자만으론 무엇을 공부해야 할지 알 수 없습니다.
</a:t>
            </a:r>
            <a:endParaRPr lang="en-US" sz="14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D6D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하지만 오답노트를 펼치면 "계산 실수 3개, 개념 착각 2개"처럼 </a:t>
            </a: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어떤 종류의 실수를 했는지</a:t>
            </a:r>
            <a:r>
              <a:rPr lang="en-US" sz="1400" dirty="0">
                <a:solidFill>
                  <a:srgbClr val="D6D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보이고, 그때부터 공부 방향이 정해집니다.
혼돈행렬(Confusion Matrix)이 분류 모델의 오답노트입니다 — 모델의 예측을 네 칸으로 쪼개, 무엇을 맞혔고 무엇을 어떻게 틀렸는지 보여줍니다.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22960" y="56692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C89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무대: 구독 서비스 '모두플레이'의 이탈(churn) 예측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혼돈행렬의 네 칸 — 의미와 이름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896112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이름 규칙: 뒷글자 = 모델의 예측(Positive/Negative), 앞글자 = 그 예측이 맞았는지(True/False)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1417320" y="132588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예측: 유지(0)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3886200" y="132588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예측: 이탈(1)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1417320" y="1691640"/>
            <a:ext cx="2377440" cy="1371600"/>
          </a:xfrm>
          <a:prstGeom prst="rect">
            <a:avLst/>
          </a:prstGeom>
          <a:solidFill>
            <a:srgbClr val="E4F7EF"/>
          </a:solidFill>
          <a:ln w="19050">
            <a:solidFill>
              <a:srgbClr val="06A77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" name="Text 5"/>
          <p:cNvSpPr/>
          <p:nvPr/>
        </p:nvSpPr>
        <p:spPr>
          <a:xfrm>
            <a:off x="1554480" y="1801368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A7A5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TN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554480" y="2258568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잘 맞힘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554480" y="2587752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유지할 고객을 제대로 넘김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886200" y="1691640"/>
            <a:ext cx="2377440" cy="1371600"/>
          </a:xfrm>
          <a:prstGeom prst="rect">
            <a:avLst/>
          </a:prstGeom>
          <a:solidFill>
            <a:srgbClr val="FDE9EA"/>
          </a:solidFill>
          <a:ln w="19050">
            <a:solidFill>
              <a:srgbClr val="E6394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" name="Text 9"/>
          <p:cNvSpPr/>
          <p:nvPr/>
        </p:nvSpPr>
        <p:spPr>
          <a:xfrm>
            <a:off x="4023360" y="1801368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B3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FP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023360" y="2258568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헛경보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023360" y="2587752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안 떠날 고객에게 쿠폰 낭비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1417320" y="3154680"/>
            <a:ext cx="2377440" cy="1371600"/>
          </a:xfrm>
          <a:prstGeom prst="rect">
            <a:avLst/>
          </a:prstGeom>
          <a:solidFill>
            <a:srgbClr val="FDE9EA"/>
          </a:solidFill>
          <a:ln w="19050">
            <a:solidFill>
              <a:srgbClr val="E6394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5" name="Text 13"/>
          <p:cNvSpPr/>
          <p:nvPr/>
        </p:nvSpPr>
        <p:spPr>
          <a:xfrm>
            <a:off x="1554480" y="3264408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B3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FN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1554480" y="3721608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놓침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554480" y="4050792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이탈할 고객을 못 잡음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3886200" y="3154680"/>
            <a:ext cx="2377440" cy="1371600"/>
          </a:xfrm>
          <a:prstGeom prst="rect">
            <a:avLst/>
          </a:prstGeom>
          <a:solidFill>
            <a:srgbClr val="E4F7EF"/>
          </a:solidFill>
          <a:ln w="19050">
            <a:solidFill>
              <a:srgbClr val="06A77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9" name="Text 17"/>
          <p:cNvSpPr/>
          <p:nvPr/>
        </p:nvSpPr>
        <p:spPr>
          <a:xfrm>
            <a:off x="4023360" y="3264408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A7A5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TP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023360" y="3721608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잘 맞힘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023360" y="4050792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이탈할 고객을 제대로 찾음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731520" y="2011680"/>
            <a:ext cx="594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실제: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유지(0)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731520" y="3474720"/>
            <a:ext cx="594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실제: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이탈(1)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640080" y="4800600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대각선(초록)은 맞힌 것, 나머지 두 칸(빨강)은 서로 다른 두 종류의 실수입니다.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6537960" y="1554480"/>
            <a:ext cx="5074920" cy="658368"/>
          </a:xfrm>
          <a:prstGeom prst="rect">
            <a:avLst/>
          </a:prstGeom>
          <a:solidFill>
            <a:srgbClr val="F7F8FC"/>
          </a:solidFill>
          <a:ln w="6350">
            <a:solidFill>
              <a:srgbClr val="E4E7F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6" name="Shape 24"/>
          <p:cNvSpPr/>
          <p:nvPr/>
        </p:nvSpPr>
        <p:spPr>
          <a:xfrm>
            <a:off x="6537960" y="1554480"/>
            <a:ext cx="64008" cy="658368"/>
          </a:xfrm>
          <a:prstGeom prst="rect">
            <a:avLst/>
          </a:prstGeom>
          <a:solidFill>
            <a:srgbClr val="06A77D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7" name="Text 25"/>
          <p:cNvSpPr/>
          <p:nvPr/>
        </p:nvSpPr>
        <p:spPr>
          <a:xfrm>
            <a:off x="6720840" y="1554480"/>
            <a:ext cx="822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6A77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TN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7589520" y="1554480"/>
            <a:ext cx="1920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 Negative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9509760" y="1554480"/>
            <a:ext cx="2011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음성 예측 · 맞음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6537960" y="2212848"/>
            <a:ext cx="507492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E4E7F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1" name="Shape 29"/>
          <p:cNvSpPr/>
          <p:nvPr/>
        </p:nvSpPr>
        <p:spPr>
          <a:xfrm>
            <a:off x="6537960" y="2212848"/>
            <a:ext cx="64008" cy="658368"/>
          </a:xfrm>
          <a:prstGeom prst="rect">
            <a:avLst/>
          </a:prstGeom>
          <a:solidFill>
            <a:srgbClr val="E63946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2" name="Text 30"/>
          <p:cNvSpPr/>
          <p:nvPr/>
        </p:nvSpPr>
        <p:spPr>
          <a:xfrm>
            <a:off x="6720840" y="2212848"/>
            <a:ext cx="822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639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FP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7589520" y="2212848"/>
            <a:ext cx="1920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 Positive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9509760" y="2212848"/>
            <a:ext cx="2011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양성 예측 · 틀림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6537960" y="2871216"/>
            <a:ext cx="5074920" cy="658368"/>
          </a:xfrm>
          <a:prstGeom prst="rect">
            <a:avLst/>
          </a:prstGeom>
          <a:solidFill>
            <a:srgbClr val="F7F8FC"/>
          </a:solidFill>
          <a:ln w="6350">
            <a:solidFill>
              <a:srgbClr val="E4E7F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6" name="Shape 34"/>
          <p:cNvSpPr/>
          <p:nvPr/>
        </p:nvSpPr>
        <p:spPr>
          <a:xfrm>
            <a:off x="6537960" y="2871216"/>
            <a:ext cx="64008" cy="658368"/>
          </a:xfrm>
          <a:prstGeom prst="rect">
            <a:avLst/>
          </a:prstGeom>
          <a:solidFill>
            <a:srgbClr val="E63946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7" name="Text 35"/>
          <p:cNvSpPr/>
          <p:nvPr/>
        </p:nvSpPr>
        <p:spPr>
          <a:xfrm>
            <a:off x="6720840" y="2871216"/>
            <a:ext cx="822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639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FN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7589520" y="2871216"/>
            <a:ext cx="1920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 Negative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9509760" y="2871216"/>
            <a:ext cx="2011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음성 예측 · 틀림</a:t>
            </a:r>
            <a:endParaRPr lang="en-US" sz="1150" dirty="0"/>
          </a:p>
        </p:txBody>
      </p:sp>
      <p:sp>
        <p:nvSpPr>
          <p:cNvPr id="40" name="Shape 38"/>
          <p:cNvSpPr/>
          <p:nvPr/>
        </p:nvSpPr>
        <p:spPr>
          <a:xfrm>
            <a:off x="6537960" y="3529584"/>
            <a:ext cx="507492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E4E7F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1" name="Shape 39"/>
          <p:cNvSpPr/>
          <p:nvPr/>
        </p:nvSpPr>
        <p:spPr>
          <a:xfrm>
            <a:off x="6537960" y="3529584"/>
            <a:ext cx="64008" cy="658368"/>
          </a:xfrm>
          <a:prstGeom prst="rect">
            <a:avLst/>
          </a:prstGeom>
          <a:solidFill>
            <a:srgbClr val="06A77D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2" name="Text 40"/>
          <p:cNvSpPr/>
          <p:nvPr/>
        </p:nvSpPr>
        <p:spPr>
          <a:xfrm>
            <a:off x="6720840" y="3529584"/>
            <a:ext cx="822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6A77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TP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7589520" y="3529584"/>
            <a:ext cx="1920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 Positive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9509760" y="3529584"/>
            <a:ext cx="2011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양성 예측 · 맞음</a:t>
            </a:r>
            <a:endParaRPr lang="en-US" sz="1150" dirty="0"/>
          </a:p>
        </p:txBody>
      </p:sp>
      <p:sp>
        <p:nvSpPr>
          <p:cNvPr id="45" name="Shape 43"/>
          <p:cNvSpPr/>
          <p:nvPr/>
        </p:nvSpPr>
        <p:spPr>
          <a:xfrm>
            <a:off x="6537960" y="4416552"/>
            <a:ext cx="5074920" cy="173736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6" name="Text 44"/>
          <p:cNvSpPr/>
          <p:nvPr/>
        </p:nvSpPr>
        <p:spPr>
          <a:xfrm>
            <a:off x="6766560" y="45720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9FE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정확도 (Accuracy)</a:t>
            </a:r>
            <a:endParaRPr lang="en-US" sz="1250" dirty="0"/>
          </a:p>
        </p:txBody>
      </p:sp>
      <p:sp>
        <p:nvSpPr>
          <p:cNvPr id="47" name="Text 45"/>
          <p:cNvSpPr/>
          <p:nvPr/>
        </p:nvSpPr>
        <p:spPr>
          <a:xfrm>
            <a:off x="6766560" y="4873752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(TP + TN) / 전체</a:t>
            </a:r>
            <a:endParaRPr lang="en-US" sz="2000" dirty="0"/>
          </a:p>
        </p:txBody>
      </p:sp>
      <p:sp>
        <p:nvSpPr>
          <p:cNvPr id="48" name="Text 46"/>
          <p:cNvSpPr/>
          <p:nvPr/>
        </p:nvSpPr>
        <p:spPr>
          <a:xfrm>
            <a:off x="6766560" y="5376672"/>
            <a:ext cx="4663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AEBB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분자가 대각선 두 칸의 합이라 FP·FN이 각각 몇인지는 이 식에서 사라집니다 — 두 실수를 구분하지 못함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혼돈행렬 · 정밀도 · 재현율 · F1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1133856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숫자로 확인하기 — 모두플레이 데이터 혼돈행렬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moduplay 구독자 3,000명 (테스트 750명) · 90일 정의(이탈 약 33%) · 로지스틱 회귀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600200" y="123444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예측: 유지(0)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023360" y="123444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예측: 이탈(1)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1600200" y="1645920"/>
            <a:ext cx="2331720" cy="1371600"/>
          </a:xfrm>
          <a:prstGeom prst="rect">
            <a:avLst/>
          </a:prstGeom>
          <a:solidFill>
            <a:srgbClr val="E4F7EF"/>
          </a:solidFill>
          <a:ln w="19050">
            <a:solidFill>
              <a:srgbClr val="06A77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" name="Text 5"/>
          <p:cNvSpPr/>
          <p:nvPr/>
        </p:nvSpPr>
        <p:spPr>
          <a:xfrm>
            <a:off x="1600200" y="1810512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0A7A5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448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600200" y="251460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TN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023360" y="1645920"/>
            <a:ext cx="2331720" cy="1371600"/>
          </a:xfrm>
          <a:prstGeom prst="rect">
            <a:avLst/>
          </a:prstGeom>
          <a:solidFill>
            <a:srgbClr val="FDE9EA"/>
          </a:solidFill>
          <a:ln w="19050">
            <a:solidFill>
              <a:srgbClr val="E6394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" name="Text 8"/>
          <p:cNvSpPr/>
          <p:nvPr/>
        </p:nvSpPr>
        <p:spPr>
          <a:xfrm>
            <a:off x="4023360" y="1810512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B3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61</a:t>
            </a:r>
            <a:endParaRPr lang="en-US" sz="3400" dirty="0"/>
          </a:p>
        </p:txBody>
      </p:sp>
      <p:sp>
        <p:nvSpPr>
          <p:cNvPr id="11" name="Text 9"/>
          <p:cNvSpPr/>
          <p:nvPr/>
        </p:nvSpPr>
        <p:spPr>
          <a:xfrm>
            <a:off x="4023360" y="251460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FP (헛경보)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1600200" y="3108960"/>
            <a:ext cx="2331720" cy="1371600"/>
          </a:xfrm>
          <a:prstGeom prst="rect">
            <a:avLst/>
          </a:prstGeom>
          <a:solidFill>
            <a:srgbClr val="FDE9EA"/>
          </a:solidFill>
          <a:ln w="19050">
            <a:solidFill>
              <a:srgbClr val="E6394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Text 11"/>
          <p:cNvSpPr/>
          <p:nvPr/>
        </p:nvSpPr>
        <p:spPr>
          <a:xfrm>
            <a:off x="1600200" y="3273552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B3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74</a:t>
            </a:r>
            <a:endParaRPr lang="en-US" sz="3400" dirty="0"/>
          </a:p>
        </p:txBody>
      </p:sp>
      <p:sp>
        <p:nvSpPr>
          <p:cNvPr id="14" name="Text 12"/>
          <p:cNvSpPr/>
          <p:nvPr/>
        </p:nvSpPr>
        <p:spPr>
          <a:xfrm>
            <a:off x="1600200" y="397764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FN (놓침)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4023360" y="3108960"/>
            <a:ext cx="2331720" cy="1371600"/>
          </a:xfrm>
          <a:prstGeom prst="rect">
            <a:avLst/>
          </a:prstGeom>
          <a:solidFill>
            <a:srgbClr val="E4F7EF"/>
          </a:solidFill>
          <a:ln w="19050">
            <a:solidFill>
              <a:srgbClr val="06A77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6" name="Text 14"/>
          <p:cNvSpPr/>
          <p:nvPr/>
        </p:nvSpPr>
        <p:spPr>
          <a:xfrm>
            <a:off x="4023360" y="3273552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0A7A5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167</a:t>
            </a:r>
            <a:endParaRPr lang="en-US" sz="3400" dirty="0"/>
          </a:p>
        </p:txBody>
      </p:sp>
      <p:sp>
        <p:nvSpPr>
          <p:cNvPr id="17" name="Text 15"/>
          <p:cNvSpPr/>
          <p:nvPr/>
        </p:nvSpPr>
        <p:spPr>
          <a:xfrm>
            <a:off x="4023360" y="397764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640080" y="1920240"/>
            <a:ext cx="914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실제: 유지(0)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40080" y="3383280"/>
            <a:ext cx="914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실제: 이탈(1)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858000" y="1645920"/>
            <a:ext cx="4754880" cy="123444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1" name="Text 19"/>
          <p:cNvSpPr/>
          <p:nvPr/>
        </p:nvSpPr>
        <p:spPr>
          <a:xfrm>
            <a:off x="7132320" y="1801368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정확도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7132320" y="2103120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0.820</a:t>
            </a:r>
            <a:endParaRPr lang="en-US" sz="4000" dirty="0"/>
          </a:p>
        </p:txBody>
      </p:sp>
      <p:sp>
        <p:nvSpPr>
          <p:cNvPr id="23" name="Text 21"/>
          <p:cNvSpPr/>
          <p:nvPr/>
        </p:nvSpPr>
        <p:spPr>
          <a:xfrm>
            <a:off x="9326880" y="219456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EBB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틀린 것 135개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9326880" y="246888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FA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(FP 61 + FN 74)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858000" y="3063240"/>
            <a:ext cx="4754880" cy="2148840"/>
          </a:xfrm>
          <a:prstGeom prst="rect">
            <a:avLst/>
          </a:prstGeom>
          <a:solidFill>
            <a:srgbClr val="F7F8FC"/>
          </a:solidFill>
          <a:ln w="12700">
            <a:solidFill>
              <a:srgbClr val="E4E7F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6" name="Text 24"/>
          <p:cNvSpPr/>
          <p:nvPr/>
        </p:nvSpPr>
        <p:spPr>
          <a:xfrm>
            <a:off x="7132320" y="3246120"/>
            <a:ext cx="420624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확인하기
</a:t>
            </a:r>
            <a:endParaRPr lang="en-US" sz="13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정확도 0.820은 양호해 보이지만, 네 칸을 열어 보면 </a:t>
            </a:r>
            <a:r>
              <a:rPr lang="en-US" sz="1250" b="1" dirty="0">
                <a:solidFill>
                  <a:srgbClr val="B3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이탈할 고객 74명을 놓쳤다</a:t>
            </a:r>
            <a:r>
              <a:rPr lang="en-US" sz="12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는 사실이 드러납니다.
</a:t>
            </a:r>
            <a:endParaRPr lang="en-US" sz="13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20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정확도라는 한 숫자만 봤다면 이 74명은 끝까지 보이지 않았을 것입니다.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40080" y="5212080"/>
            <a:ext cx="6126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대각선(TN 448, TP 167)이 진하고 나머지 두 칸이 옅을수록 좋은 모델입니다.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548640" y="6355080"/>
            <a:ext cx="8686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데이터 출처: make_moduplay() 합성 데이터셋 (n=3,000, seed=42) · StandardScaler + LogisticRegression 파이프라인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혼돈행렬 · 정밀도 · 재현율 · F1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133856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정밀도 &amp; 재현율 — 네 칸을 두 방향으로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88720"/>
            <a:ext cx="5349240" cy="1783080"/>
          </a:xfrm>
          <a:prstGeom prst="rect">
            <a:avLst/>
          </a:prstGeom>
          <a:solidFill>
            <a:srgbClr val="FFFFFF"/>
          </a:solidFill>
          <a:ln w="19050">
            <a:solidFill>
              <a:srgbClr val="2E86A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/>
          <p:nvPr/>
        </p:nvSpPr>
        <p:spPr>
          <a:xfrm>
            <a:off x="777240" y="1298448"/>
            <a:ext cx="4892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정밀도 (Precision)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77240" y="1609344"/>
            <a:ext cx="4892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TP / (TP + FP)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77240" y="1975104"/>
            <a:ext cx="4892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167/(167+61) = 0.7325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777240" y="2304288"/>
            <a:ext cx="48920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"내가 지목한 것들, 얼마나 믿을 수 있나?"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77240" y="2633472"/>
            <a:ext cx="4892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분모=예측 · FP가 늘면 하락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263640" y="1188720"/>
            <a:ext cx="5349240" cy="1783080"/>
          </a:xfrm>
          <a:prstGeom prst="rect">
            <a:avLst/>
          </a:prstGeom>
          <a:solidFill>
            <a:srgbClr val="FFFFFF"/>
          </a:solidFill>
          <a:ln w="19050">
            <a:solidFill>
              <a:srgbClr val="E6394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" name="Text 8"/>
          <p:cNvSpPr/>
          <p:nvPr/>
        </p:nvSpPr>
        <p:spPr>
          <a:xfrm>
            <a:off x="6492240" y="1298448"/>
            <a:ext cx="4892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재현율 (Recall)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492240" y="1609344"/>
            <a:ext cx="4892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TP / (TP + FN)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6492240" y="1975104"/>
            <a:ext cx="4892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167/(167+74) = 0.6929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6492240" y="2304288"/>
            <a:ext cx="48920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"찾아야 할 것들, 얼마나 놓치지 않았나?"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492240" y="2633472"/>
            <a:ext cx="4892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분모=실제 · FN이 늘면 하락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48640" y="3200400"/>
            <a:ext cx="5349240" cy="1600200"/>
          </a:xfrm>
          <a:prstGeom prst="rect">
            <a:avLst/>
          </a:prstGeom>
          <a:solidFill>
            <a:srgbClr val="F7F8FC"/>
          </a:solidFill>
          <a:ln w="12700">
            <a:solidFill>
              <a:srgbClr val="E4E7F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6" name="Shape 14"/>
          <p:cNvSpPr/>
          <p:nvPr/>
        </p:nvSpPr>
        <p:spPr>
          <a:xfrm>
            <a:off x="1271016" y="3538728"/>
            <a:ext cx="566928" cy="566928"/>
          </a:xfrm>
          <a:prstGeom prst="ellipse">
            <a:avLst/>
          </a:prstGeom>
          <a:solidFill>
            <a:srgbClr val="2E86AB">
              <a:alpha val="25000"/>
            </a:srgbClr>
          </a:solidFill>
          <a:ln w="25400">
            <a:solidFill>
              <a:srgbClr val="2E86AB"/>
            </a:solidFill>
            <a:prstDash val="dash"/>
          </a:ln>
        </p:spPr>
        <p:txBody>
          <a:bodyPr/>
          <a:lstStyle/>
          <a:p>
            <a:endParaRPr lang="en-GB"/>
          </a:p>
        </p:txBody>
      </p:sp>
      <p:sp>
        <p:nvSpPr>
          <p:cNvPr id="17" name="Text 15"/>
          <p:cNvSpPr/>
          <p:nvPr/>
        </p:nvSpPr>
        <p:spPr>
          <a:xfrm>
            <a:off x="2560320" y="3346704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그물을 작게 던지면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2560320" y="3712464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잡은 것은 거의 다 목표 물고기입니다.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560320" y="4059936"/>
            <a:ext cx="1463040" cy="347472"/>
          </a:xfrm>
          <a:prstGeom prst="rect">
            <a:avLst/>
          </a:prstGeom>
          <a:solidFill>
            <a:srgbClr val="2E86A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0" name="Text 18"/>
          <p:cNvSpPr/>
          <p:nvPr/>
        </p:nvSpPr>
        <p:spPr>
          <a:xfrm>
            <a:off x="2560320" y="4059936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정밀도 ↑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777240" y="4480560"/>
            <a:ext cx="4892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놓친 물고기(FN)가 많습니다 → 재현율 ↓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263640" y="3200400"/>
            <a:ext cx="5349240" cy="1600200"/>
          </a:xfrm>
          <a:prstGeom prst="rect">
            <a:avLst/>
          </a:prstGeom>
          <a:solidFill>
            <a:srgbClr val="F7F8FC"/>
          </a:solidFill>
          <a:ln w="12700">
            <a:solidFill>
              <a:srgbClr val="E4E7F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3" name="Shape 21"/>
          <p:cNvSpPr/>
          <p:nvPr/>
        </p:nvSpPr>
        <p:spPr>
          <a:xfrm>
            <a:off x="6830568" y="3383280"/>
            <a:ext cx="877824" cy="877824"/>
          </a:xfrm>
          <a:prstGeom prst="ellipse">
            <a:avLst/>
          </a:prstGeom>
          <a:solidFill>
            <a:srgbClr val="E63946">
              <a:alpha val="25000"/>
            </a:srgbClr>
          </a:solidFill>
          <a:ln w="25400">
            <a:solidFill>
              <a:srgbClr val="E63946"/>
            </a:solidFill>
            <a:prstDash val="dash"/>
          </a:ln>
        </p:spPr>
        <p:txBody>
          <a:bodyPr/>
          <a:lstStyle/>
          <a:p>
            <a:endParaRPr lang="en-GB"/>
          </a:p>
        </p:txBody>
      </p:sp>
      <p:sp>
        <p:nvSpPr>
          <p:cNvPr id="24" name="Text 22"/>
          <p:cNvSpPr/>
          <p:nvPr/>
        </p:nvSpPr>
        <p:spPr>
          <a:xfrm>
            <a:off x="8275320" y="3346704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그물을 크게 던지면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8275320" y="3712464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목표 물고기는 거의 다 잡힙니다.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8275320" y="4059936"/>
            <a:ext cx="1463040" cy="347472"/>
          </a:xfrm>
          <a:prstGeom prst="rect">
            <a:avLst/>
          </a:prstGeom>
          <a:solidFill>
            <a:srgbClr val="E63946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7" name="Text 25"/>
          <p:cNvSpPr/>
          <p:nvPr/>
        </p:nvSpPr>
        <p:spPr>
          <a:xfrm>
            <a:off x="8275320" y="4059936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재현율 ↑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492240" y="4480560"/>
            <a:ext cx="4892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돌멩이·잡초(FP)도 많이 섞입니다 → 정밀도 ↓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548640" y="4846320"/>
            <a:ext cx="5349240" cy="1554480"/>
          </a:xfrm>
          <a:prstGeom prst="rect">
            <a:avLst/>
          </a:prstGeom>
          <a:solidFill>
            <a:srgbClr val="EAF3FA"/>
          </a:solidFill>
          <a:ln w="12700">
            <a:solidFill>
              <a:srgbClr val="2E86A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0" name="Text 28"/>
          <p:cNvSpPr/>
          <p:nvPr/>
        </p:nvSpPr>
        <p:spPr>
          <a:xfrm>
            <a:off x="777240" y="4937760"/>
            <a:ext cx="4892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정밀도가 중요한 경우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777240" y="5212080"/>
            <a:ext cx="4892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잘못 걸러낸 것(FP)의 대가가 되돌릴 수 없을 만큼 클 때 (</a:t>
            </a:r>
            <a:r>
              <a:rPr lang="ko-KR" altLang="en-US" sz="1050" i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놓쳐도 괜찮아</a:t>
            </a:r>
            <a:r>
              <a:rPr lang="en-GB" altLang="ko-KR" sz="1050" i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777240" y="5577840"/>
            <a:ext cx="4892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스팸 메일 자동 삭제 — </a:t>
            </a:r>
            <a:r>
              <a:rPr lang="en-US" sz="100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중요 메일을 스팸으로 삭제(FP)하면 회수 불가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777240" y="5998464"/>
            <a:ext cx="4892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채용 서류 자동 탈락 — </a:t>
            </a:r>
            <a:r>
              <a:rPr lang="en-US" sz="100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우수 지원자를 잘못 걸러내면(FP) 손실이 큼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6263640" y="4846320"/>
            <a:ext cx="5349240" cy="1554480"/>
          </a:xfrm>
          <a:prstGeom prst="rect">
            <a:avLst/>
          </a:prstGeom>
          <a:solidFill>
            <a:srgbClr val="FDEEE9"/>
          </a:solidFill>
          <a:ln w="12700">
            <a:solidFill>
              <a:srgbClr val="E6394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5" name="Text 33"/>
          <p:cNvSpPr/>
          <p:nvPr/>
        </p:nvSpPr>
        <p:spPr>
          <a:xfrm>
            <a:off x="6492240" y="4937760"/>
            <a:ext cx="4892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재현율이 중요한 경우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6492240" y="5212080"/>
            <a:ext cx="4892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놓치는 것(FN)의 대가가 되돌릴 수 없을 만큼 클 때(</a:t>
            </a:r>
            <a:r>
              <a:rPr lang="ko-KR" altLang="en-US" sz="1050" i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잘못 걸러도 괜찮아</a:t>
            </a:r>
            <a:r>
              <a:rPr lang="en-GB" altLang="ko-KR" sz="1050" i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6492240" y="5577840"/>
            <a:ext cx="4892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암 진단 선별검사 — </a:t>
            </a:r>
            <a:r>
              <a:rPr lang="en-US" sz="100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환자를 놓치면(FN) 치료 시기를 놓쳐 위험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6492240" y="5998464"/>
            <a:ext cx="4892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금융 사기 탐지 — </a:t>
            </a:r>
            <a:r>
              <a:rPr lang="en-US" sz="100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사기를 놓치면(FN) 바로 금전 손실로 이어짐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혼돈행렬 · 정밀도 · 재현율 · F1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1133856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정밀도와 재현율의 관계 — 시소처럼 움직인다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90일 정의 모델의 predict_proba로 임계값을 0→1까지 움직이며 계산 (precision_recall_curve)</a:t>
            </a:r>
            <a:endParaRPr lang="en-US" sz="125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548640" y="1463040"/>
          <a:ext cx="7315200" cy="35661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8138160" y="1463040"/>
            <a:ext cx="3520440" cy="1600200"/>
          </a:xfrm>
          <a:prstGeom prst="rect">
            <a:avLst/>
          </a:prstGeom>
          <a:solidFill>
            <a:srgbClr val="F7F8FC"/>
          </a:solidFill>
          <a:ln w="12700">
            <a:solidFill>
              <a:srgbClr val="E4E7F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" name="Text 3"/>
          <p:cNvSpPr/>
          <p:nvPr/>
        </p:nvSpPr>
        <p:spPr>
          <a:xfrm>
            <a:off x="8339328" y="1600200"/>
            <a:ext cx="3154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임계값을 올리면
</a:t>
            </a:r>
            <a:endParaRPr lang="en-US" sz="12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확실한 사람만 이탈로 예측 → </a:t>
            </a:r>
            <a:r>
              <a:rPr lang="en-US" sz="115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정밀도 ↑</a:t>
            </a:r>
            <a:endParaRPr lang="en-US" sz="12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애매한 이탈자를 놓침 → </a:t>
            </a:r>
            <a:r>
              <a:rPr lang="en-US" sz="1150" b="1" dirty="0" err="1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재현율</a:t>
            </a:r>
            <a:r>
              <a:rPr lang="en-US" sz="115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↓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138160" y="3200400"/>
            <a:ext cx="3520440" cy="182880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8" name="Text 5"/>
          <p:cNvSpPr/>
          <p:nvPr/>
        </p:nvSpPr>
        <p:spPr>
          <a:xfrm>
            <a:off x="8339328" y="3337560"/>
            <a:ext cx="315468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9FE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임계값을 낮추면
</a:t>
            </a:r>
            <a:endParaRPr lang="en-US" sz="12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E8EC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그물을 넓게 던짐 → </a:t>
            </a:r>
            <a:r>
              <a:rPr lang="en-US" sz="1150" b="1" dirty="0">
                <a:solidFill>
                  <a:srgbClr val="F294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재현율 ↑</a:t>
            </a:r>
            <a:endParaRPr lang="en-US" sz="12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E8EC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헛경보가 늘어남 → </a:t>
            </a:r>
            <a:r>
              <a:rPr lang="en-US" sz="1150" b="1" dirty="0" err="1">
                <a:solidFill>
                  <a:srgbClr val="6FB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정밀도</a:t>
            </a:r>
            <a:r>
              <a:rPr lang="en-US" sz="1150" b="1" dirty="0">
                <a:solidFill>
                  <a:srgbClr val="6FB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↓</a:t>
            </a:r>
            <a:endParaRPr lang="en-US" sz="1250" dirty="0"/>
          </a:p>
          <a:p>
            <a:pPr marL="0" indent="0">
              <a:lnSpc>
                <a:spcPct val="120000"/>
              </a:lnSpc>
              <a:buNone/>
            </a:pPr>
            <a:endParaRPr lang="en-US" sz="12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050" i="1" dirty="0">
                <a:solidFill>
                  <a:srgbClr val="AEBB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두 곡선이 정확히 반대로 움직입니다.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548640" y="5257800"/>
            <a:ext cx="11064240" cy="1051560"/>
          </a:xfrm>
          <a:prstGeom prst="rect">
            <a:avLst/>
          </a:prstGeom>
          <a:solidFill>
            <a:srgbClr val="FFF4E0"/>
          </a:solidFill>
          <a:ln w="12700">
            <a:solidFill>
              <a:srgbClr val="E8A33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" name="Text 7"/>
          <p:cNvSpPr/>
          <p:nvPr/>
        </p:nvSpPr>
        <p:spPr>
          <a:xfrm>
            <a:off x="777240" y="5394960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b="1" dirty="0" err="1">
                <a:solidFill>
                  <a:srgbClr val="8A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확인하기</a:t>
            </a:r>
            <a:r>
              <a:rPr lang="en-US" sz="1250" b="1" dirty="0">
                <a:solidFill>
                  <a:srgbClr val="8A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</a:t>
            </a:r>
            <a:r>
              <a:rPr lang="en-US" sz="1200" i="1" dirty="0" err="1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임계값</a:t>
            </a:r>
            <a:r>
              <a:rPr lang="en-US" sz="120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조정만으로는 두 지표를 동시에 최대화할 수 없습니다 — 어느 쪽을 우선할지는 결국 </a:t>
            </a:r>
            <a:r>
              <a:rPr lang="en-US" sz="1200" i="1" dirty="0" err="1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비즈니스</a:t>
            </a:r>
            <a:r>
              <a:rPr lang="en-US" sz="120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i="1" dirty="0" err="1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비용</a:t>
            </a:r>
            <a:r>
              <a:rPr lang="ko-KR" altLang="en-US" sz="120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과 선택</a:t>
            </a:r>
            <a:r>
              <a:rPr lang="en-US" sz="120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의 문제입니다.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혼돈행렬 · 정밀도 · 재현율 · F1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1133856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5029200"/>
            <a:ext cx="4572000" cy="4572000"/>
          </a:xfrm>
          <a:prstGeom prst="ellipse">
            <a:avLst/>
          </a:prstGeom>
          <a:solidFill>
            <a:srgbClr val="24316F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548640" y="365760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F1 — 정밀도와 재현율을 하나로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960120"/>
            <a:ext cx="5486400" cy="1737360"/>
          </a:xfrm>
          <a:prstGeom prst="rect">
            <a:avLst/>
          </a:prstGeom>
          <a:solidFill>
            <a:srgbClr val="273873"/>
          </a:solidFill>
          <a:ln w="12700">
            <a:solidFill>
              <a:srgbClr val="3C4E9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Text 3"/>
          <p:cNvSpPr/>
          <p:nvPr/>
        </p:nvSpPr>
        <p:spPr>
          <a:xfrm>
            <a:off x="777240" y="1097280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9FE6C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F1 = 2 × (정밀도 × 재현율) / (정밀도 + 재현율)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77240" y="1627632"/>
            <a:ext cx="5029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조화평균(Harmonic Mean)</a:t>
            </a:r>
            <a:r>
              <a:rPr lang="en-US" sz="1200" dirty="0">
                <a:solidFill>
                  <a:srgbClr val="D6D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산술평균이 아닙니다. 둘 중 낮은 쪽에 끌려갑니다.
</a:t>
            </a:r>
            <a:r>
              <a:rPr lang="en-US" sz="1200" dirty="0">
                <a:solidFill>
                  <a:srgbClr val="AEBB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정밀도 1.0 · 재현율 0.0 이면  </a:t>
            </a:r>
            <a:r>
              <a:rPr lang="en-US" sz="1200" b="1" dirty="0">
                <a:solidFill>
                  <a:srgbClr val="FFB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산술평균 0.5 vs F1 = 0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355080" y="960120"/>
            <a:ext cx="1600200" cy="1051560"/>
          </a:xfrm>
          <a:prstGeom prst="rect">
            <a:avLst/>
          </a:prstGeom>
          <a:solidFill>
            <a:srgbClr val="273873"/>
          </a:solidFill>
          <a:ln w="19050">
            <a:solidFill>
              <a:srgbClr val="6FB4D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Text 6"/>
          <p:cNvSpPr/>
          <p:nvPr/>
        </p:nvSpPr>
        <p:spPr>
          <a:xfrm>
            <a:off x="6355080" y="1024128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6FB4D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0.7325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355080" y="1536192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정밀도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8138160" y="960120"/>
            <a:ext cx="1600200" cy="1051560"/>
          </a:xfrm>
          <a:prstGeom prst="rect">
            <a:avLst/>
          </a:prstGeom>
          <a:solidFill>
            <a:srgbClr val="273873"/>
          </a:solidFill>
          <a:ln w="19050">
            <a:solidFill>
              <a:srgbClr val="F2949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" name="Text 9"/>
          <p:cNvSpPr/>
          <p:nvPr/>
        </p:nvSpPr>
        <p:spPr>
          <a:xfrm>
            <a:off x="8138160" y="1024128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2949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0.6929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8138160" y="1536192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재현율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9921240" y="960120"/>
            <a:ext cx="1600200" cy="1051560"/>
          </a:xfrm>
          <a:prstGeom prst="rect">
            <a:avLst/>
          </a:prstGeom>
          <a:solidFill>
            <a:srgbClr val="273873"/>
          </a:solidFill>
          <a:ln w="19050">
            <a:solidFill>
              <a:srgbClr val="9FE6C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4" name="Text 12"/>
          <p:cNvSpPr/>
          <p:nvPr/>
        </p:nvSpPr>
        <p:spPr>
          <a:xfrm>
            <a:off x="9921240" y="1024128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9FE6C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0.7122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9921240" y="1536192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355080" y="2084832"/>
            <a:ext cx="5303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8FA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[TN=448, FP=61, FN=74, TP=167]을 손계산한 값 — scikit-learn과 일치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48640" y="2834640"/>
            <a:ext cx="11064240" cy="914400"/>
          </a:xfrm>
          <a:prstGeom prst="rect">
            <a:avLst/>
          </a:prstGeom>
          <a:solidFill>
            <a:srgbClr val="1E2761"/>
          </a:solidFill>
          <a:ln w="12700">
            <a:solidFill>
              <a:srgbClr val="3C4E9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8" name="Text 16"/>
          <p:cNvSpPr/>
          <p:nvPr/>
        </p:nvSpPr>
        <p:spPr>
          <a:xfrm>
            <a:off x="777240" y="2834640"/>
            <a:ext cx="10607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9FE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확인하기 — </a:t>
            </a:r>
            <a:r>
              <a:rPr lang="en-US" sz="1150" dirty="0">
                <a:solidFill>
                  <a:srgbClr val="E8EC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두 값이 가까우면(0.7325, 0.6929) 조화평균도 산술평균(0.7127)과 거의 같습니다(F1=0.7122). </a:t>
            </a: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두 값이 크게 벌어질 때(예: 재현율 0.320) F1의 진짜 성격이 드러나 크게 낮아집니다.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548640" y="3886200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9FE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F1은 언제 쓰나 — 정밀도·재현율에 같은 가중치를 둘 때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548640" y="4279392"/>
            <a:ext cx="3538728" cy="1188720"/>
          </a:xfrm>
          <a:prstGeom prst="rect">
            <a:avLst/>
          </a:prstGeom>
          <a:solidFill>
            <a:srgbClr val="273873"/>
          </a:solidFill>
          <a:ln w="12700">
            <a:solidFill>
              <a:srgbClr val="3C4E9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1" name="Text 19"/>
          <p:cNvSpPr/>
          <p:nvPr/>
        </p:nvSpPr>
        <p:spPr>
          <a:xfrm>
            <a:off x="749808" y="4389120"/>
            <a:ext cx="31363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9FE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모델·설정 비교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749808" y="4709160"/>
            <a:ext cx="313639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E8EC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정밀도는 A가, 재현율은 B가 높을 때 — F1 하나로 순위를 매겨 비교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224528" y="4279392"/>
            <a:ext cx="3538728" cy="1188720"/>
          </a:xfrm>
          <a:prstGeom prst="rect">
            <a:avLst/>
          </a:prstGeom>
          <a:solidFill>
            <a:srgbClr val="273873"/>
          </a:solidFill>
          <a:ln w="12700">
            <a:solidFill>
              <a:srgbClr val="3C4E9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4" name="Text 22"/>
          <p:cNvSpPr/>
          <p:nvPr/>
        </p:nvSpPr>
        <p:spPr>
          <a:xfrm>
            <a:off x="4425696" y="4389120"/>
            <a:ext cx="31363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9FE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임계값 선택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4425696" y="4709160"/>
            <a:ext cx="313639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E8EC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예: 임계값 0.30에서 F1 최고점 0.724 — 둘 다 극단으로 치우치지 않는 지점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7900416" y="4279392"/>
            <a:ext cx="3538728" cy="1188720"/>
          </a:xfrm>
          <a:prstGeom prst="rect">
            <a:avLst/>
          </a:prstGeom>
          <a:solidFill>
            <a:srgbClr val="273873"/>
          </a:solidFill>
          <a:ln w="12700">
            <a:solidFill>
              <a:srgbClr val="3C4E9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7" name="Text 25"/>
          <p:cNvSpPr/>
          <p:nvPr/>
        </p:nvSpPr>
        <p:spPr>
          <a:xfrm>
            <a:off x="8101584" y="4389120"/>
            <a:ext cx="31363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9FE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불균형 데이터 평가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8101584" y="4709160"/>
            <a:ext cx="313639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E8EC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정확도가 감추는 소수 클래스 성능을 정밀도·재현율 동시에 반영해 확인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548640" y="5623560"/>
            <a:ext cx="11064240" cy="777240"/>
          </a:xfrm>
          <a:prstGeom prst="rect">
            <a:avLst/>
          </a:prstGeom>
          <a:solidFill>
            <a:srgbClr val="FDE9EA"/>
          </a:solidFill>
          <a:ln w="12700">
            <a:solidFill>
              <a:srgbClr val="E6394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0" name="Text 28"/>
          <p:cNvSpPr/>
          <p:nvPr/>
        </p:nvSpPr>
        <p:spPr>
          <a:xfrm>
            <a:off x="777240" y="5623560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B3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헷갈리기 쉬운 포인트 —  </a:t>
            </a:r>
            <a:r>
              <a:rPr lang="en-US" sz="11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F1은 정밀도·재현율에 같은 가중치를 둔 균형점일 뿐, 한쪽이 더 중요한 상황(예: 암 진단)에서는 F1 최고점이 정답이 아닙니다.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119</TotalTime>
  <Words>978</Words>
  <Application>Microsoft Office PowerPoint</Application>
  <PresentationFormat>와이드스크린</PresentationFormat>
  <Paragraphs>140</Paragraphs>
  <Slides>6</Slides>
  <Notes>6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6</vt:i4>
      </vt:variant>
    </vt:vector>
  </HeadingPairs>
  <TitlesOfParts>
    <vt:vector size="10" baseType="lpstr">
      <vt:lpstr>Arial</vt:lpstr>
      <vt:lpstr>Calibri</vt:lpstr>
      <vt:lpstr>Cambria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Euihwan Choi</cp:lastModifiedBy>
  <cp:revision>6</cp:revision>
  <dcterms:created xsi:type="dcterms:W3CDTF">2026-08-14T04:47:18Z</dcterms:created>
  <dcterms:modified xsi:type="dcterms:W3CDTF">2026-08-14T06:58:20Z</dcterms:modified>
</cp:coreProperties>
</file>