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slide" Target="slides/slide42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slide" Target="slides/slide43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4" name="Google Shape;61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8" name="Google Shape;78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2" name="Google Shape;80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2" name="Google Shape;83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9" name="Google Shape;84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1" name="Google Shape;91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1752898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모두의연구소 · 데이터 시각화와 대시보드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2500610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2100">
                <a:solidFill>
                  <a:srgbClr val="F7585C"/>
                </a:solidFill>
              </a:rPr>
              <a:t>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3038773"/>
            <a:ext cx="17602200" cy="1232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6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대시보드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4462165"/>
            <a:ext cx="1760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화면 하나에 결정을 담는 법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143000" y="5186065"/>
            <a:ext cx="1524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143000" y="562421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1. 대시보드의 역할과 설계 순서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143000" y="6067127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2. 유형 — 사용 목적과 사용자 구분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43000" y="6510040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3. 지표 설계 — 어떤 숫자를 보여줄 것인가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143000" y="6952952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4. 정보 위계 — 시선을 설계한다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43000" y="739586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5. 사례 해부 — 같은 업무, 다른 설계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143000" y="7838777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6. 안티패턴 — 주요 설계 문제 여섯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143000" y="8281690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7. 상호작용 · 상태 · 성능 — 매일 쓰는 도구로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대시보드의 역할과 설계 순서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두 형식 모두 의사결정을 지원합니다. 대시보드는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반복 확인과 탐색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리포트는 맥락과 해석 전달에 무게를 둡니다.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143000" y="7173218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143000" y="6816030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역할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39084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유형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6386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88654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위계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1343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사례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382247" y="6816030"/>
            <a:ext cx="146930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안티패턴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042053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 실무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역할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대시보드와 리포트의 주된 역할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1143000" y="2324100"/>
            <a:ext cx="7810500" cy="5439147"/>
          </a:xfrm>
          <a:prstGeom prst="roundRect">
            <a:avLst>
              <a:gd fmla="val 3502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333625"/>
            <a:ext cx="7791450" cy="542009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9486900" y="2324100"/>
            <a:ext cx="7887843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두 형식 모두 의사결정을 지원합니다. 대시보드는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반복 확인과 탐색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, 리포트는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맥락과 해석 전달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에 무게를 둡니다.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9486900" y="4034730"/>
            <a:ext cx="7658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9486900" y="3457575"/>
            <a:ext cx="7887843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92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리포트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완결된 서술, 맥락 포함, 처음부터 끝까지 읽음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9486900" y="4234755"/>
            <a:ext cx="7887843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4923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한눈에 상태 파악, 이상 감지, 다음 행동 결정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9486900" y="4869061"/>
            <a:ext cx="7658100" cy="1474440"/>
          </a:xfrm>
          <a:custGeom>
            <a:rect b="b" l="l" r="r" t="t"/>
            <a:pathLst>
              <a:path extrusionOk="0" h="1474440" w="7658100">
                <a:moveTo>
                  <a:pt x="0" y="0"/>
                </a:moveTo>
                <a:lnTo>
                  <a:pt x="7658100" y="0"/>
                </a:lnTo>
                <a:lnTo>
                  <a:pt x="7658100" y="1302990"/>
                </a:lnTo>
                <a:cubicBezTo>
                  <a:pt x="7658100" y="1397679"/>
                  <a:pt x="7581339" y="1474440"/>
                  <a:pt x="7486650" y="1474440"/>
                </a:cubicBezTo>
                <a:lnTo>
                  <a:pt x="171450" y="1474440"/>
                </a:lnTo>
                <a:cubicBezTo>
                  <a:pt x="76761" y="1474440"/>
                  <a:pt x="0" y="1397679"/>
                  <a:pt x="0" y="130299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9486900" y="4869061"/>
            <a:ext cx="76581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9791700" y="5192911"/>
            <a:ext cx="7278243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각 요소의 </a:t>
            </a: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사용 목적을 확인 </a:t>
            </a: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합니다. 누군가의 결정이나 행동을 돕지 않는 요소는 화면에서 뺍니다.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143000" y="94773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도식: 세미나용 재구성 (Ch 4에서 정식으로 다룹니다)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· 설계 순서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 설계의 주요 단계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43000" y="2438400"/>
            <a:ext cx="7809357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차트 선택은 다섯 단계 중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네 번째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입니다. 대부분 1~3을 건너뛰고 "무슨 차트?"부터 시작해서 실패합니다.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143000" y="3571875"/>
            <a:ext cx="7581900" cy="976312"/>
          </a:xfrm>
          <a:prstGeom prst="roundRect">
            <a:avLst>
              <a:gd fmla="val 1561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447800" y="3838575"/>
            <a:ext cx="7199757" cy="481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이 파트의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챕터 순서가 곧 이 설계 순서</a:t>
            </a:r>
            <a:r>
              <a:rPr b="0" i="0" lang="en-US" sz="2325" u="none" cap="none" strike="noStrike">
                <a:solidFill>
                  <a:srgbClr val="03071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입니다.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9334500" y="2438400"/>
            <a:ext cx="7810500" cy="676275"/>
          </a:xfrm>
          <a:prstGeom prst="roundRect">
            <a:avLst>
              <a:gd fmla="val 1971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9591675" y="2619375"/>
            <a:ext cx="72850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누가 · 언제 · 왜 보는가 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→ 유형이 결정됨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6404952" y="2645569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8943975" y="3190875"/>
            <a:ext cx="85915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9334500" y="3529013"/>
            <a:ext cx="7810500" cy="676275"/>
          </a:xfrm>
          <a:prstGeom prst="roundRect">
            <a:avLst>
              <a:gd fmla="val 1971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9591675" y="3709988"/>
            <a:ext cx="72850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어떤 결정을 돕는가 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→ 지표가 결정됨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6404952" y="3736181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8943975" y="4281488"/>
            <a:ext cx="85915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334500" y="4619625"/>
            <a:ext cx="7810500" cy="676275"/>
          </a:xfrm>
          <a:prstGeom prst="roundRect">
            <a:avLst>
              <a:gd fmla="val 1971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9591675" y="4800600"/>
            <a:ext cx="72850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어떻게 훑는가 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→ 위계 · 레이아웃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6404952" y="4826794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8943975" y="5372100"/>
            <a:ext cx="85915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9334500" y="5710238"/>
            <a:ext cx="7810500" cy="657225"/>
          </a:xfrm>
          <a:prstGeom prst="roundRect">
            <a:avLst>
              <a:gd fmla="val 20290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9582150" y="5881688"/>
            <a:ext cx="6984563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각 지표를 무엇으로 그릴까 → 채널 원칙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6122253" y="5907881"/>
            <a:ext cx="851297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8943975" y="6443663"/>
            <a:ext cx="859155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9334500" y="6781800"/>
            <a:ext cx="7810500" cy="676275"/>
          </a:xfrm>
          <a:prstGeom prst="roundRect">
            <a:avLst>
              <a:gd fmla="val 1971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9591675" y="6962775"/>
            <a:ext cx="72850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없어도 되는 걸 뺀다 </a:t>
            </a: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→ 안티패턴 점검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6404952" y="6988969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1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143000" y="4995863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143000" y="4361557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723281" y="4204395"/>
            <a:ext cx="15558269" cy="562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리포트와 대시보드는 서로 다른 방식으로 의사결정을 돕는다.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모든 요소는 사용 목적을 설명해야 한다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143000" y="5429250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1723281" y="5272088"/>
            <a:ext cx="12026124" cy="5628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차트 선택은 다섯 단계 중 네 번째다 — 유형 → 지표 → 위계 → 차트 → </a:t>
            </a:r>
            <a:r>
              <a:rPr b="1" i="0" lang="en-US" sz="2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빼기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43000" y="7791450"/>
            <a:ext cx="16002000" cy="1809750"/>
          </a:xfrm>
          <a:prstGeom prst="roundRect">
            <a:avLst>
              <a:gd fmla="val 9474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1524000" y="8096250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대시보드와 리포트의 주된 활용 방식은 어떻게 다른가?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설계 순서에서 차트 선택은 몇 번째인가? 그 앞에는 무엇이 오는가?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유형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사용 목적과 사용자를 먼저 구분합니다. 유형이 갱신 주기 · 정보 밀도 · 상호작용 수준에 영향을 줍니다.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유형은 출발점이며, 업무 요구와 데이터 여건에 맞게 조정합니다.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143000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역할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2390849" y="7173218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2390849" y="6816030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유형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/>
          <p:nvPr/>
        </p:nvSpPr>
        <p:spPr>
          <a:xfrm>
            <a:off x="36386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488654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위계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61343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사례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7382247" y="6816030"/>
            <a:ext cx="146930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안티패턴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042053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 실무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유형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대시보드에는 종류가 있습니다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같은 "대시보드"라도 주요 목적에 따라 세 유형으로 구분할 수 있습니다.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1895475" y="2757488"/>
            <a:ext cx="14497050" cy="4543425"/>
          </a:xfrm>
          <a:prstGeom prst="roundRect">
            <a:avLst>
              <a:gd fmla="val 4193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5000" y="2767013"/>
            <a:ext cx="14478000" cy="452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1143000" y="8363471"/>
            <a:ext cx="16002000" cy="961504"/>
          </a:xfrm>
          <a:prstGeom prst="roundRect">
            <a:avLst>
              <a:gd fmla="val 1783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1524000" y="8630171"/>
            <a:ext cx="15720060" cy="466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만들기 전에 어느 종류인지부터 정합니다. 문헌에 따라 중간관리자용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전술형(Tactical)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을 더해 넷으로 보기도 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분류: Stephen Few, Information Dashboard Design · 도식: 세미나용 재구성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유형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유형별 설계 선택의 예시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1143000" y="2809875"/>
            <a:ext cx="2857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1143000" y="2362200"/>
            <a:ext cx="294322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결정 사항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4343400" y="2809875"/>
            <a:ext cx="40386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4343400" y="2362200"/>
            <a:ext cx="41597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전략형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8724900" y="2809875"/>
            <a:ext cx="40386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8724900" y="2362200"/>
            <a:ext cx="41597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분석형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3106400" y="2809875"/>
            <a:ext cx="40386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13106400" y="2362200"/>
            <a:ext cx="4159758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운영형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1143000" y="3586163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1143000" y="3048000"/>
            <a:ext cx="29432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갱신 주기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4343400" y="3586163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4343400" y="3048000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월 / 분기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8724900" y="3586163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8724900" y="3048000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배치(하루)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13106400" y="3586163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13106400" y="3048000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실시간 / 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1143000" y="4343400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1143000" y="3805237"/>
            <a:ext cx="29432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 개수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/>
          <p:nvPr/>
        </p:nvSpPr>
        <p:spPr>
          <a:xfrm>
            <a:off x="4343400" y="4343400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4343400" y="3805237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5개 내외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8724900" y="4343400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"/>
          <p:cNvSpPr/>
          <p:nvPr/>
        </p:nvSpPr>
        <p:spPr>
          <a:xfrm>
            <a:off x="8724900" y="3805237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많음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13106400" y="4343400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/>
          <p:nvPr/>
        </p:nvSpPr>
        <p:spPr>
          <a:xfrm>
            <a:off x="13106400" y="3805237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중간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1143000" y="5100638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143000" y="4562475"/>
            <a:ext cx="29432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상호작용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4343400" y="5100638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4343400" y="4562475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최소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724900" y="5100638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8724900" y="4562475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필터 · 드릴다운 풍부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13106400" y="5100638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13106400" y="4562475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알림 · 임계값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1143000" y="5857875"/>
            <a:ext cx="2857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1143000" y="5319713"/>
            <a:ext cx="29432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 사용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343400" y="5857875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343400" y="5319713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절제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724900" y="5857875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8724900" y="5319713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분류 · 강조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13106400" y="5857875"/>
            <a:ext cx="4038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13106400" y="5319713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상태(정상/경고/위험)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143000" y="6076950"/>
            <a:ext cx="294322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주 차트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343400" y="6076950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KPI 카드 · 불릿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8724900" y="6076950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산점도 · 히트맵 · 테이블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3106400" y="6076950"/>
            <a:ext cx="415975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시계열 · 상태 표시등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43000" y="8325817"/>
            <a:ext cx="16002000" cy="908670"/>
          </a:xfrm>
          <a:prstGeom prst="roundRect">
            <a:avLst>
              <a:gd fmla="val 1886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1524000" y="8573467"/>
            <a:ext cx="157200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이 표가 이 챕터의 결론입니다.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유형은 출발점이며, 업무 요구와 데이터 여건에 맞게 조정합니다.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1143000" y="9386888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"색 사용" 행은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PART 4 Ch 6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의 「색의 네 번째 일 — 의미·관습」과 이어집니다. 운영형에서 색은 상태를 전달하는 데 활용할 수 있습니다.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· 유형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흔한 실수 — 서로 다른 사용 목적의 혼재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1143000" y="4655344"/>
            <a:ext cx="7966329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"경영진도 보고, 분석가도 쓰고, 실시간 모니터링도 되는" 대시보드를 만들려다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우선순위가 불분명한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화면이 될 수 있습니다.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143000" y="5788819"/>
            <a:ext cx="7966329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해법: 주요 목적을 정하고 필요하면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뷰를 분리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합니다. 같은 데이터라도 역할별 요구가 다르면 화면을 구분하고, 공통 업무는 같은 화면으로 지원할 수도 있습니다.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9410700" y="4655344"/>
            <a:ext cx="7734300" cy="2249686"/>
          </a:xfrm>
          <a:custGeom>
            <a:rect b="b" l="l" r="r" t="t"/>
            <a:pathLst>
              <a:path extrusionOk="0" h="2249686" w="7734300">
                <a:moveTo>
                  <a:pt x="0" y="0"/>
                </a:moveTo>
                <a:lnTo>
                  <a:pt x="7734300" y="0"/>
                </a:lnTo>
                <a:lnTo>
                  <a:pt x="7734300" y="2078236"/>
                </a:lnTo>
                <a:cubicBezTo>
                  <a:pt x="7734300" y="2172925"/>
                  <a:pt x="7657539" y="2249686"/>
                  <a:pt x="7562850" y="2249686"/>
                </a:cubicBezTo>
                <a:lnTo>
                  <a:pt x="171450" y="2249686"/>
                </a:lnTo>
                <a:cubicBezTo>
                  <a:pt x="76761" y="2249686"/>
                  <a:pt x="0" y="2172925"/>
                  <a:pt x="0" y="2078236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9410700" y="4655344"/>
            <a:ext cx="77343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"/>
          <p:cNvSpPr/>
          <p:nvPr/>
        </p:nvSpPr>
        <p:spPr>
          <a:xfrm>
            <a:off x="9791700" y="5055394"/>
            <a:ext cx="7181469" cy="10876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6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사용 목적의 혼재는 </a:t>
            </a:r>
            <a:r>
              <a:rPr b="1" i="0" lang="en-US" sz="28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정보 과밀의 원인 </a:t>
            </a: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될 수 있습니다.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9791700" y="6257330"/>
            <a:ext cx="766953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Ch 6에서 여섯 안티패턴의 첫 번째로 다시 만납니다.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1143000" y="92964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역할 기반 뷰(role-based view)가 실무 표준입니다 — CRM · 프로젝트 도구 대부분이 역할별 홈 화면을 따로 둡니다.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1143000" y="320226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143000" y="261461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1723281" y="2476500"/>
            <a:ext cx="11440857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전략 · 분석 · 운영 — 사용자,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갱신 주기, 상호작용 밀도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에 차이가 있을 수 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1143000" y="41661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143000" y="357849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723281" y="3440385"/>
            <a:ext cx="8132996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유형이 정해지면 나머지 설계 결정의 대부분이 따라온다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1143000" y="454238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1723281" y="4404271"/>
            <a:ext cx="8459272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사용 목적이 충돌하면 우선순위를 정하거나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뷰를 분리한다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143000" y="7367587"/>
            <a:ext cx="16002000" cy="2233613"/>
          </a:xfrm>
          <a:prstGeom prst="roundRect">
            <a:avLst>
              <a:gd fmla="val 767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524000" y="7672388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524000" y="8120063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세 유형을 가르는 결정적 차이 두 가지는?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운영형에서 색은 무슨 일을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"만능 대시보드"의 해법은?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1143000" y="3104257"/>
            <a:ext cx="2455091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3603501" y="3035201"/>
            <a:ext cx="2169542" cy="4476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3774951" y="3120926"/>
            <a:ext cx="190284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 PART의 본론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1143000" y="3749576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 설계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1143000" y="5231606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숫자를 보여줄 것인가. 차트를 잘 그리는 것과 별개로,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애초에 어떤 숫자를 보여줄지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대시보드의 성패를 가릅니다.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1143000" y="6866037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역할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2390849" y="6866037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유형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3638699" y="7223224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/>
          <p:nvPr/>
        </p:nvSpPr>
        <p:spPr>
          <a:xfrm>
            <a:off x="3638699" y="6866037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4886548" y="6866037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위계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6134398" y="6866037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사례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7382247" y="6866037"/>
            <a:ext cx="146930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안티패턴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9042053" y="6866037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 실무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지표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숫자의 해석을 돕는 비교 기준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큰 글씨로 "Q3 매출 3.2억"만 있으면 보는 사람은 묻습니다 — 좋은 건가? 오른 건가? 목표 대비 어떤가?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2085975" y="2738438"/>
            <a:ext cx="14116050" cy="4488805"/>
          </a:xfrm>
          <a:prstGeom prst="roundRect">
            <a:avLst>
              <a:gd fmla="val 4244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0" name="Google Shape;2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2747963"/>
            <a:ext cx="14097000" cy="446975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4"/>
          <p:cNvSpPr/>
          <p:nvPr/>
        </p:nvSpPr>
        <p:spPr>
          <a:xfrm>
            <a:off x="1143000" y="8359155"/>
            <a:ext cx="16002000" cy="965820"/>
          </a:xfrm>
          <a:custGeom>
            <a:rect b="b" l="l" r="r" t="t"/>
            <a:pathLst>
              <a:path extrusionOk="0" h="965820" w="16002000">
                <a:moveTo>
                  <a:pt x="0" y="0"/>
                </a:moveTo>
                <a:lnTo>
                  <a:pt x="16002000" y="0"/>
                </a:lnTo>
                <a:lnTo>
                  <a:pt x="16002000" y="794370"/>
                </a:lnTo>
                <a:cubicBezTo>
                  <a:pt x="16002000" y="889059"/>
                  <a:pt x="15925239" y="965820"/>
                  <a:pt x="15830550" y="965820"/>
                </a:cubicBezTo>
                <a:lnTo>
                  <a:pt x="171450" y="965820"/>
                </a:lnTo>
                <a:cubicBezTo>
                  <a:pt x="76761" y="965820"/>
                  <a:pt x="0" y="889059"/>
                  <a:pt x="0" y="79437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1143000" y="8359155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1466850" y="8663955"/>
            <a:ext cx="158343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모든 지표에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최소 하나의 비교 기준</a:t>
            </a: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을 — ① 목표선과 진척률 ② 추세 스파크라인 ③ 변화율 주석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도식: 세미나용 재구성 · "맥락 3종 세트"는 본 세미나의 정리 표현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지표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숫자로 무엇을 바꿀 것인가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결정 테스트 — "이 숫자가 바뀌면 어떤 구체적 행동이 달라지는가?" 답이 모호하면 필요성과 용도를 재검토합니다.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1143000" y="3238500"/>
            <a:ext cx="779145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1143000" y="2776538"/>
            <a:ext cx="802519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맥락 없이 보기 쉬운 지표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(단독으로는 해석이 어려움)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9353550" y="3238500"/>
            <a:ext cx="7791450" cy="28575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9353550" y="2776538"/>
            <a:ext cx="802519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행동과 연결할 분석 예시 </a:t>
            </a: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(후속 행동이 분명함)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1143000" y="4071938"/>
            <a:ext cx="7791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1143000" y="3495675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총 페이지뷰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9353550" y="4071938"/>
            <a:ext cx="7791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9353550" y="3495675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트래픽 소스별 전환율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1143000" y="4886325"/>
            <a:ext cx="7791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1143000" y="4310063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총 가입자 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9353550" y="4886325"/>
            <a:ext cx="7791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9353550" y="4310063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가입 후 활성화율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1143000" y="5700713"/>
            <a:ext cx="7791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1143000" y="5124450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팔로워 수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9353550" y="5700713"/>
            <a:ext cx="779145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9353550" y="5124450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유입별 구매 전환율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1143000" y="5938838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앱 다운로드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9353550" y="5938838"/>
            <a:ext cx="8025194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다운로드 후 7일 잔존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1143000" y="7916242"/>
            <a:ext cx="16002000" cy="908670"/>
          </a:xfrm>
          <a:prstGeom prst="roundRect">
            <a:avLst>
              <a:gd fmla="val 1886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1524000" y="8163892"/>
            <a:ext cx="157200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지표의 유용성은 이름보다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사용 목적과 후속 행동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에 달려 있습니다.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1143000" y="8977312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 테스트를 문서로 만든 것이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6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의 「결정 지도」입니다. 대시보드 착수 전에 만드는 게 이상적입니다.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143000" y="94011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허영지표(vanity metric): Eric Ries, The Lean Startup (2011)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지표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1143000" y="121920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핵심 성과와 입력지표·가드레일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1143000" y="3509516"/>
            <a:ext cx="9525000" cy="4636219"/>
          </a:xfrm>
          <a:prstGeom prst="roundRect">
            <a:avLst>
              <a:gd fmla="val 4109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3519041"/>
            <a:ext cx="9505950" cy="461716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6"/>
          <p:cNvSpPr/>
          <p:nvPr/>
        </p:nvSpPr>
        <p:spPr>
          <a:xfrm>
            <a:off x="11201400" y="4445794"/>
            <a:ext cx="5943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11201400" y="3509516"/>
            <a:ext cx="6121908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2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제품 가치에 맞는 </a:t>
            </a: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North Star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검토 — 예: 이용 시간이 고객 가치와 연결되는 서비스의 주간 총 이용 시간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1201400" y="5582096"/>
            <a:ext cx="5943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6"/>
          <p:cNvSpPr/>
          <p:nvPr/>
        </p:nvSpPr>
        <p:spPr>
          <a:xfrm>
            <a:off x="11201400" y="4645819"/>
            <a:ext cx="6121908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2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입력지표 몇 개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 아래에 — 팀이 직접 움직일 수 있는 것 (획득 · 활성화 · 잔존 · 심화)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1201400" y="5782121"/>
            <a:ext cx="6121908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29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가드레일 지표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함께 — "성장과 함께 품질·안정성을 유지하는가" (이탈률 · 오류율 · 응답 지연)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1201400" y="6756499"/>
            <a:ext cx="5943600" cy="1470571"/>
          </a:xfrm>
          <a:custGeom>
            <a:rect b="b" l="l" r="r" t="t"/>
            <a:pathLst>
              <a:path extrusionOk="0" h="1470571" w="5943600">
                <a:moveTo>
                  <a:pt x="0" y="0"/>
                </a:moveTo>
                <a:lnTo>
                  <a:pt x="5943600" y="0"/>
                </a:lnTo>
                <a:lnTo>
                  <a:pt x="5943600" y="1299121"/>
                </a:lnTo>
                <a:cubicBezTo>
                  <a:pt x="5943600" y="1393810"/>
                  <a:pt x="5866839" y="1470571"/>
                  <a:pt x="5772150" y="1470571"/>
                </a:cubicBezTo>
                <a:lnTo>
                  <a:pt x="171450" y="1470571"/>
                </a:lnTo>
                <a:cubicBezTo>
                  <a:pt x="76761" y="1470571"/>
                  <a:pt x="0" y="1393810"/>
                  <a:pt x="0" y="1299121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6"/>
          <p:cNvSpPr/>
          <p:nvPr/>
        </p:nvSpPr>
        <p:spPr>
          <a:xfrm>
            <a:off x="11201400" y="6756499"/>
            <a:ext cx="59436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"/>
          <p:cNvSpPr/>
          <p:nvPr/>
        </p:nvSpPr>
        <p:spPr>
          <a:xfrm>
            <a:off x="11506200" y="7080349"/>
            <a:ext cx="5512308" cy="9181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57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제품 가치와 성장을 살펴보는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한 가지 구성 방식 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입니다.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143000" y="94773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North Star Metric: Sean Ellis · Amplitude, North Star Playbook · 입력지표: Bryar &amp; Carr, Working Backwards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지표 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게이지와 불릿 그래프의 비교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2085975" y="2286000"/>
            <a:ext cx="14116050" cy="4144938"/>
          </a:xfrm>
          <a:prstGeom prst="roundRect">
            <a:avLst>
              <a:gd fmla="val 4596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5500" y="2295525"/>
            <a:ext cx="14097000" cy="412588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7"/>
          <p:cNvSpPr/>
          <p:nvPr/>
        </p:nvSpPr>
        <p:spPr>
          <a:xfrm>
            <a:off x="1143000" y="7579072"/>
            <a:ext cx="16002000" cy="1322040"/>
          </a:xfrm>
          <a:prstGeom prst="roundRect">
            <a:avLst>
              <a:gd fmla="val 12969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1524000" y="7826722"/>
            <a:ext cx="15720060" cy="8648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불릿 그래프는 한 줄에 셋을 담습니다 —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실제값(막대) · 목표(세로선) · 성능 구간(배경 음영) 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. 목표 대비 실적을 작은 공간에 배치할 수 있습니다.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143000" y="9053513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주의 — 구간 경계를 살짝 넘어도 "양호"로 보일 수 있으니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구간 기준을 신중히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설정합니다. 게이지가 나쁜 이유는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PART 4 Ch 4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— 각도 채널이라 부정확합니다.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불릿 그래프: Stephen Few 고안 · 도식: 세미나용 재구성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· 지표 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잘 만든 KPI 카드의 구성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1143000" y="3797275"/>
            <a:ext cx="7810500" cy="3971255"/>
          </a:xfrm>
          <a:prstGeom prst="roundRect">
            <a:avLst>
              <a:gd fmla="val 4797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"/>
          <p:cNvSpPr/>
          <p:nvPr/>
        </p:nvSpPr>
        <p:spPr>
          <a:xfrm>
            <a:off x="1609725" y="4225900"/>
            <a:ext cx="342900" cy="342900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8"/>
          <p:cNvSpPr/>
          <p:nvPr/>
        </p:nvSpPr>
        <p:spPr>
          <a:xfrm>
            <a:off x="1571625" y="4225900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2105025" y="4228281"/>
            <a:ext cx="110869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오늘 매출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8"/>
          <p:cNvSpPr/>
          <p:nvPr/>
        </p:nvSpPr>
        <p:spPr>
          <a:xfrm>
            <a:off x="1609725" y="5006950"/>
            <a:ext cx="342900" cy="342900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>
            <a:off x="1571625" y="5006950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/>
          <p:nvPr/>
        </p:nvSpPr>
        <p:spPr>
          <a:xfrm>
            <a:off x="2105025" y="4759300"/>
            <a:ext cx="1968706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7129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3.2억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1609725" y="5790381"/>
            <a:ext cx="342900" cy="342900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"/>
          <p:cNvSpPr/>
          <p:nvPr/>
        </p:nvSpPr>
        <p:spPr>
          <a:xfrm>
            <a:off x="1571625" y="5790381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2105025" y="5788000"/>
            <a:ext cx="2298583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▲ 목표 대비 +6%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8"/>
          <p:cNvSpPr/>
          <p:nvPr/>
        </p:nvSpPr>
        <p:spPr>
          <a:xfrm>
            <a:off x="1609725" y="6661547"/>
            <a:ext cx="342900" cy="342900"/>
          </a:xfrm>
          <a:prstGeom prst="ellipse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/>
          <p:nvPr/>
        </p:nvSpPr>
        <p:spPr>
          <a:xfrm>
            <a:off x="1571625" y="6661547"/>
            <a:ext cx="4191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5" name="Google Shape;3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5025" y="6326163"/>
            <a:ext cx="3238500" cy="1013743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8"/>
          <p:cNvSpPr/>
          <p:nvPr/>
        </p:nvSpPr>
        <p:spPr>
          <a:xfrm>
            <a:off x="9563100" y="4342061"/>
            <a:ext cx="7581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8"/>
          <p:cNvSpPr/>
          <p:nvPr/>
        </p:nvSpPr>
        <p:spPr>
          <a:xfrm>
            <a:off x="9563100" y="3797275"/>
            <a:ext cx="7809357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① 명확한 라벨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무슨 지표인지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9563100" y="5067821"/>
            <a:ext cx="7581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9563100" y="4523036"/>
            <a:ext cx="7809357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② 큰 숫자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읽기 쉬운 현재값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9563100" y="5793581"/>
            <a:ext cx="75819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9563100" y="5248796"/>
            <a:ext cx="7809357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③ 맥락 지표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스파크라인 / 추세 화살표 / 전기 대비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9563100" y="5974556"/>
            <a:ext cx="7809357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④ 상태 표시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(운영형) — 임계값 초과를 색·문구·기호로 표시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9563100" y="6595542"/>
            <a:ext cx="7581900" cy="1446758"/>
          </a:xfrm>
          <a:custGeom>
            <a:rect b="b" l="l" r="r" t="t"/>
            <a:pathLst>
              <a:path extrusionOk="0" h="1446758" w="7581900">
                <a:moveTo>
                  <a:pt x="0" y="0"/>
                </a:moveTo>
                <a:lnTo>
                  <a:pt x="7581900" y="0"/>
                </a:lnTo>
                <a:lnTo>
                  <a:pt x="7581900" y="1275308"/>
                </a:lnTo>
                <a:cubicBezTo>
                  <a:pt x="7581900" y="1369997"/>
                  <a:pt x="7505139" y="1446758"/>
                  <a:pt x="7410450" y="1446758"/>
                </a:cubicBezTo>
                <a:lnTo>
                  <a:pt x="171450" y="1446758"/>
                </a:lnTo>
                <a:cubicBezTo>
                  <a:pt x="76761" y="1446758"/>
                  <a:pt x="0" y="1369997"/>
                  <a:pt x="0" y="127530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9563100" y="6595542"/>
            <a:ext cx="75819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9867900" y="6919392"/>
            <a:ext cx="7199757" cy="894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2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벽걸이 모니터의 운영형이라면, "서버 지연" 카드에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경고색·상태 문구·임계값 </a:t>
            </a: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을 함께 표시합니다.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1143000" y="94773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상태 색은 문구·기호와 함께 — PART 4 Ch 6 「색의 네 번째 일」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9"/>
          <p:cNvSpPr/>
          <p:nvPr/>
        </p:nvSpPr>
        <p:spPr>
          <a:xfrm>
            <a:off x="1143000" y="6858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/>
          <p:nvPr/>
        </p:nvSpPr>
        <p:spPr>
          <a:xfrm>
            <a:off x="1143000" y="11239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1143000" y="2672655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"/>
          <p:cNvSpPr/>
          <p:nvPr/>
        </p:nvSpPr>
        <p:spPr>
          <a:xfrm>
            <a:off x="1143000" y="2192610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1674614" y="2106885"/>
            <a:ext cx="836702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고립된 숫자는 정보가 아니다 —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목표 · 추세 · 변화율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중 최소 하나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1143000" y="3400351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9"/>
          <p:cNvSpPr/>
          <p:nvPr/>
        </p:nvSpPr>
        <p:spPr>
          <a:xfrm>
            <a:off x="1143000" y="2920305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/>
          <p:nvPr/>
        </p:nvSpPr>
        <p:spPr>
          <a:xfrm>
            <a:off x="1674614" y="2834580"/>
            <a:ext cx="9140473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결정 테스트: 이 숫자가 바뀌면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어떤 행동이 달라지는가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모호하면 지운다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1143000" y="41280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9"/>
          <p:cNvSpPr/>
          <p:nvPr/>
        </p:nvSpPr>
        <p:spPr>
          <a:xfrm>
            <a:off x="1143000" y="3648001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9"/>
          <p:cNvSpPr/>
          <p:nvPr/>
        </p:nvSpPr>
        <p:spPr>
          <a:xfrm>
            <a:off x="1674614" y="3562276"/>
            <a:ext cx="5862734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North Star 하나 + 입력지표 몇 개 +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가드레일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9"/>
          <p:cNvSpPr/>
          <p:nvPr/>
        </p:nvSpPr>
        <p:spPr>
          <a:xfrm>
            <a:off x="1143000" y="4855741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1143000" y="4375696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1674614" y="4289971"/>
            <a:ext cx="687193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게이지 대신 불릿 그래프 — 값 · 목표 · 구간을 한 줄에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9"/>
          <p:cNvSpPr/>
          <p:nvPr/>
        </p:nvSpPr>
        <p:spPr>
          <a:xfrm>
            <a:off x="1143000" y="5103391"/>
            <a:ext cx="34111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1674614" y="5017666"/>
            <a:ext cx="726148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카드에는 라벨 · 숫자 · 맥락, 운영형이면 </a:t>
            </a: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상태 색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까지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1143000" y="8181975"/>
            <a:ext cx="16002000" cy="1571625"/>
          </a:xfrm>
          <a:prstGeom prst="roundRect">
            <a:avLst>
              <a:gd fmla="val 10909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9"/>
          <p:cNvSpPr/>
          <p:nvPr/>
        </p:nvSpPr>
        <p:spPr>
          <a:xfrm>
            <a:off x="1524000" y="8429625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/>
          <p:nvPr/>
        </p:nvSpPr>
        <p:spPr>
          <a:xfrm>
            <a:off x="1524000" y="8820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"Q3 매출 3.2억"에 무엇을 붙여야 정보가 되는가?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9334500" y="8820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가드레일 지표는 무엇을 막는가?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9"/>
          <p:cNvSpPr/>
          <p:nvPr/>
        </p:nvSpPr>
        <p:spPr>
          <a:xfrm>
            <a:off x="1524000" y="9201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허영지표와 실행지표의 차이를 예로 들어 보세요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9"/>
          <p:cNvSpPr/>
          <p:nvPr/>
        </p:nvSpPr>
        <p:spPr>
          <a:xfrm>
            <a:off x="9334500" y="9201150"/>
            <a:ext cx="81724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불릿 그래프가 게이지보다 나은 점 두 가지는?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04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정보 위계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시선을 설계합니다. 지표와 카드가 정해졌으니 이제 어디에 놓을지 — 사람의 시선이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어디서 출발해 어디로 흐르는지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를 정합니다.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1143000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역할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/>
          <p:nvPr/>
        </p:nvSpPr>
        <p:spPr>
          <a:xfrm>
            <a:off x="239084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유형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36386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886548" y="7173218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4886548" y="6816030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위계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61343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사례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7382247" y="6816030"/>
            <a:ext cx="146930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안티패턴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9042053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 실무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· 위계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1143000" y="121920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개요 먼저, 그다음 확대·필터, 상세는 요청 시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1143000" y="3213497"/>
            <a:ext cx="8953500" cy="5323880"/>
          </a:xfrm>
          <a:prstGeom prst="roundRect">
            <a:avLst>
              <a:gd fmla="val 3578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8" name="Google Shape;3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3223022"/>
            <a:ext cx="8934450" cy="530483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1"/>
          <p:cNvSpPr/>
          <p:nvPr/>
        </p:nvSpPr>
        <p:spPr>
          <a:xfrm>
            <a:off x="10629900" y="3213497"/>
            <a:ext cx="6515100" cy="830535"/>
          </a:xfrm>
          <a:prstGeom prst="roundRect">
            <a:avLst>
              <a:gd fmla="val 1605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10896600" y="3489722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11243890" y="3442097"/>
            <a:ext cx="5087972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개요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핵심 KPI 3~5개. 한눈에 "괜찮은가"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10629900" y="4272632"/>
            <a:ext cx="6515100" cy="1203871"/>
          </a:xfrm>
          <a:prstGeom prst="roundRect">
            <a:avLst>
              <a:gd fmla="val 1107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1"/>
          <p:cNvSpPr/>
          <p:nvPr/>
        </p:nvSpPr>
        <p:spPr>
          <a:xfrm>
            <a:off x="10896600" y="4548857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11243890" y="4501232"/>
            <a:ext cx="5803442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확대·필터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추세 차트, 세그먼트 분해, 기간/조건 필터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10629900" y="5705103"/>
            <a:ext cx="6515100" cy="830535"/>
          </a:xfrm>
          <a:prstGeom prst="roundRect">
            <a:avLst>
              <a:gd fmla="val 16056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1"/>
          <p:cNvSpPr/>
          <p:nvPr/>
        </p:nvSpPr>
        <p:spPr>
          <a:xfrm>
            <a:off x="10896600" y="5981328"/>
            <a:ext cx="21394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11243890" y="5933703"/>
            <a:ext cx="5930101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상세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원본 테이블, 개별 레코드. 필요할 때만 펼침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0629900" y="6764238"/>
            <a:ext cx="6515100" cy="1408658"/>
          </a:xfrm>
          <a:custGeom>
            <a:rect b="b" l="l" r="r" t="t"/>
            <a:pathLst>
              <a:path extrusionOk="0" h="1408658" w="6515100">
                <a:moveTo>
                  <a:pt x="0" y="0"/>
                </a:moveTo>
                <a:lnTo>
                  <a:pt x="6515100" y="0"/>
                </a:lnTo>
                <a:lnTo>
                  <a:pt x="6515100" y="1237208"/>
                </a:lnTo>
                <a:cubicBezTo>
                  <a:pt x="6515100" y="1331897"/>
                  <a:pt x="6438339" y="1408658"/>
                  <a:pt x="6343650" y="1408658"/>
                </a:cubicBezTo>
                <a:lnTo>
                  <a:pt x="171450" y="1408658"/>
                </a:lnTo>
                <a:cubicBezTo>
                  <a:pt x="76761" y="1408658"/>
                  <a:pt x="0" y="1331897"/>
                  <a:pt x="0" y="123720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10629900" y="6764238"/>
            <a:ext cx="65151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1"/>
          <p:cNvSpPr/>
          <p:nvPr/>
        </p:nvSpPr>
        <p:spPr>
          <a:xfrm>
            <a:off x="10934700" y="7069038"/>
            <a:ext cx="6100953" cy="894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2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처음부터 모든 상세를 펼치지 않습니다 —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점진적 공개(progressive disclosure)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1143000" y="9491663"/>
            <a:ext cx="1760220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Shneiderman, B. (1996). The Eyes Have It — "overview first, zoom and filter, then details on demand"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2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· 위계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중요도와 읽기 방향을 고려한 배치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2"/>
          <p:cNvSpPr/>
          <p:nvPr/>
        </p:nvSpPr>
        <p:spPr>
          <a:xfrm>
            <a:off x="1143000" y="19544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널리 쓰이는 레이아웃 뼈대 하나.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/>
          <p:nvPr/>
        </p:nvSpPr>
        <p:spPr>
          <a:xfrm>
            <a:off x="1143000" y="3350121"/>
            <a:ext cx="8572500" cy="5364956"/>
          </a:xfrm>
          <a:prstGeom prst="roundRect">
            <a:avLst>
              <a:gd fmla="val 3551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1" name="Google Shape;4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3359646"/>
            <a:ext cx="8553450" cy="534590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2"/>
          <p:cNvSpPr/>
          <p:nvPr/>
        </p:nvSpPr>
        <p:spPr>
          <a:xfrm>
            <a:off x="10248900" y="3862536"/>
            <a:ext cx="6896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10248900" y="3350121"/>
            <a:ext cx="7102983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사이드바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240~280px (네비게이션)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/>
          <p:nvPr/>
        </p:nvSpPr>
        <p:spPr>
          <a:xfrm>
            <a:off x="10248900" y="4536877"/>
            <a:ext cx="6896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10248900" y="4024461"/>
            <a:ext cx="7102983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KPI 카드 스트립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4~6개 (상단 가로)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0248900" y="5211217"/>
            <a:ext cx="68961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2"/>
          <p:cNvSpPr/>
          <p:nvPr/>
        </p:nvSpPr>
        <p:spPr>
          <a:xfrm>
            <a:off x="10248900" y="4698802"/>
            <a:ext cx="7102983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콘텐츠 그리드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12컬럼 — 주 차트 8칸 + 분해 4칸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10248900" y="5373142"/>
            <a:ext cx="7102983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상세 테이블 </a:t>
            </a:r>
            <a:r>
              <a:rPr b="0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하단 전체 폭 — "요청 시" 보는 것이므로 스크롤 아래도 허용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10248900" y="6321772"/>
            <a:ext cx="6896100" cy="1757363"/>
          </a:xfrm>
          <a:custGeom>
            <a:rect b="b" l="l" r="r" t="t"/>
            <a:pathLst>
              <a:path extrusionOk="0" h="1757363" w="6896100">
                <a:moveTo>
                  <a:pt x="0" y="0"/>
                </a:moveTo>
                <a:lnTo>
                  <a:pt x="6896100" y="0"/>
                </a:lnTo>
                <a:lnTo>
                  <a:pt x="6896100" y="1585913"/>
                </a:lnTo>
                <a:cubicBezTo>
                  <a:pt x="6896100" y="1680602"/>
                  <a:pt x="6819339" y="1757363"/>
                  <a:pt x="6724650" y="1757363"/>
                </a:cubicBezTo>
                <a:lnTo>
                  <a:pt x="171450" y="1757363"/>
                </a:lnTo>
                <a:cubicBezTo>
                  <a:pt x="76761" y="1757363"/>
                  <a:pt x="0" y="1680602"/>
                  <a:pt x="0" y="158591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"/>
          <p:cNvSpPr/>
          <p:nvPr/>
        </p:nvSpPr>
        <p:spPr>
          <a:xfrm>
            <a:off x="10248900" y="6321772"/>
            <a:ext cx="68961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2"/>
          <p:cNvSpPr/>
          <p:nvPr/>
        </p:nvSpPr>
        <p:spPr>
          <a:xfrm>
            <a:off x="10553700" y="6626572"/>
            <a:ext cx="647509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공간 배분 기준 </a:t>
            </a: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가장 중요한 지표 40% · 보조 KPI 30% · 추세 맥락 20% · 나머지 10%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/>
          <p:nvPr/>
        </p:nvSpPr>
        <p:spPr>
          <a:xfrm>
            <a:off x="10553700" y="7540972"/>
            <a:ext cx="691515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정답이 아니라 위계를 검토하는 출발점입니다.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/>
          <p:nvPr/>
        </p:nvSpPr>
        <p:spPr>
          <a:xfrm>
            <a:off x="1143000" y="95154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좌상단 배치는 좌→우 읽기 환경의 출발점이며 시선 경로는 과제에 따라 다릅니다 · 12컬럼은 웹 UI의 일반 관행이며 표준 규격이 아닙니다 · 40-30-20-10은 본 세미나의 휴리스틱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· 위계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배치 자체가 의미를 만듭니다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143000" y="2476500"/>
            <a:ext cx="7966329" cy="13668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PART 4 Ch 4 </a:t>
            </a:r>
            <a:r>
              <a:rPr b="0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의 게슈탈트 원리가 대시보드에서 그대로 작동합니다. 가까이 둔 것, 같은 카드에 담은 것, 선으로 이은 것은 </a:t>
            </a: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관련 있다고 읽힙니다.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1143000" y="4597673"/>
            <a:ext cx="7734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1143000" y="4052888"/>
            <a:ext cx="796632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관련 지표는 묶고, 무관한 지표는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여백으로 떼어놓기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1143000" y="5323433"/>
            <a:ext cx="7734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1143000" y="4778648"/>
            <a:ext cx="796632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카드 경계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 그룹을 명시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1143000" y="5504408"/>
            <a:ext cx="7966329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같은 색은 같은 의미로만 — 차트가 바뀌어도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색–변수 대응 유지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/>
          <p:nvPr/>
        </p:nvSpPr>
        <p:spPr>
          <a:xfrm>
            <a:off x="9410700" y="2476500"/>
            <a:ext cx="7734300" cy="2194471"/>
          </a:xfrm>
          <a:custGeom>
            <a:rect b="b" l="l" r="r" t="t"/>
            <a:pathLst>
              <a:path extrusionOk="0" h="2194471" w="7734300">
                <a:moveTo>
                  <a:pt x="0" y="0"/>
                </a:moveTo>
                <a:lnTo>
                  <a:pt x="7734300" y="0"/>
                </a:lnTo>
                <a:lnTo>
                  <a:pt x="7734300" y="2023021"/>
                </a:lnTo>
                <a:cubicBezTo>
                  <a:pt x="7734300" y="2117710"/>
                  <a:pt x="7657539" y="2194471"/>
                  <a:pt x="7562850" y="2194471"/>
                </a:cubicBezTo>
                <a:lnTo>
                  <a:pt x="171450" y="2194471"/>
                </a:lnTo>
                <a:cubicBezTo>
                  <a:pt x="76761" y="2194471"/>
                  <a:pt x="0" y="2117710"/>
                  <a:pt x="0" y="2023021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3"/>
          <p:cNvSpPr/>
          <p:nvPr/>
        </p:nvSpPr>
        <p:spPr>
          <a:xfrm>
            <a:off x="9410700" y="2476500"/>
            <a:ext cx="77343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3"/>
          <p:cNvSpPr/>
          <p:nvPr/>
        </p:nvSpPr>
        <p:spPr>
          <a:xfrm>
            <a:off x="9791700" y="2857500"/>
            <a:ext cx="7181469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무관한 두 지표를 나란히 두면 사람은 </a:t>
            </a:r>
            <a:r>
              <a:rPr b="1" i="0" lang="en-US" sz="2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인과관계를 상상합니다.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9791700" y="3985171"/>
            <a:ext cx="766953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레이아웃은 중립이 아닙니다.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9410700" y="4918621"/>
            <a:ext cx="796632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게슈탈트 30초 요약 —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근접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(가까우면 한 그룹) ·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유사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(닮으면 한 그룹) ·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연결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(이어지면 한 그룹). 연결·유사·근접의 효과는 배치와 과제에 따라 달라집니다.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4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4"/>
          <p:cNvSpPr/>
          <p:nvPr/>
        </p:nvSpPr>
        <p:spPr>
          <a:xfrm>
            <a:off x="1143000" y="320226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4"/>
          <p:cNvSpPr/>
          <p:nvPr/>
        </p:nvSpPr>
        <p:spPr>
          <a:xfrm>
            <a:off x="1143000" y="261461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1723281" y="2476500"/>
            <a:ext cx="9432206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개요 → 확대·필터 → 상세.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처음부터 모든 상세를 펼치지 않는다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1143000" y="41661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4"/>
          <p:cNvSpPr/>
          <p:nvPr/>
        </p:nvSpPr>
        <p:spPr>
          <a:xfrm>
            <a:off x="1143000" y="357849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4"/>
          <p:cNvSpPr/>
          <p:nvPr/>
        </p:nvSpPr>
        <p:spPr>
          <a:xfrm>
            <a:off x="1723281" y="3440385"/>
            <a:ext cx="9321455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읽기 방향과 과제에 맞춰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중요한 지표가 먼저 보이도록 배치한다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/>
          <p:nvPr/>
        </p:nvSpPr>
        <p:spPr>
          <a:xfrm>
            <a:off x="1143000" y="454238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4"/>
          <p:cNvSpPr/>
          <p:nvPr/>
        </p:nvSpPr>
        <p:spPr>
          <a:xfrm>
            <a:off x="1723281" y="4404271"/>
            <a:ext cx="9477144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붙여 놓은 것은 관련 있다고 읽힌다 — 레이아웃은 중립이 아니다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/>
          <p:nvPr/>
        </p:nvSpPr>
        <p:spPr>
          <a:xfrm>
            <a:off x="1143000" y="7367587"/>
            <a:ext cx="16002000" cy="2233613"/>
          </a:xfrm>
          <a:prstGeom prst="roundRect">
            <a:avLst>
              <a:gd fmla="val 767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1524000" y="7672388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/>
          <p:nvPr/>
        </p:nvSpPr>
        <p:spPr>
          <a:xfrm>
            <a:off x="1524000" y="8120063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점진적 공개란 무엇인가?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"스크롤 없이 한 화면" 원칙의 예외는?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무관한 두 지표를 나란히 두면 무슨 일이 생기는가?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5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5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사례 해부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같은 업무, 다른 설계. 가상 시나리오 셋을 Before/After와 유형별로 해부합니다.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실제 제품은 화면 없이 이름과 패턴으로만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다룹니다.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5"/>
          <p:cNvSpPr/>
          <p:nvPr/>
        </p:nvSpPr>
        <p:spPr>
          <a:xfrm>
            <a:off x="1143000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역할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5"/>
          <p:cNvSpPr/>
          <p:nvPr/>
        </p:nvSpPr>
        <p:spPr>
          <a:xfrm>
            <a:off x="239084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유형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5"/>
          <p:cNvSpPr/>
          <p:nvPr/>
        </p:nvSpPr>
        <p:spPr>
          <a:xfrm>
            <a:off x="36386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5"/>
          <p:cNvSpPr/>
          <p:nvPr/>
        </p:nvSpPr>
        <p:spPr>
          <a:xfrm>
            <a:off x="488654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위계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6134398" y="7173218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6134398" y="6816030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사례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5"/>
          <p:cNvSpPr/>
          <p:nvPr/>
        </p:nvSpPr>
        <p:spPr>
          <a:xfrm>
            <a:off x="7382247" y="6816030"/>
            <a:ext cx="146930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안티패턴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5"/>
          <p:cNvSpPr/>
          <p:nvPr/>
        </p:nvSpPr>
        <p:spPr>
          <a:xfrm>
            <a:off x="9042053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 실무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6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사례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이커머스 운영 대시보드 — </a:t>
            </a:r>
            <a:r>
              <a:rPr b="1" i="0" lang="en-US" sz="45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6"/>
          <p:cNvSpPr/>
          <p:nvPr/>
        </p:nvSpPr>
        <p:spPr>
          <a:xfrm>
            <a:off x="1143000" y="2711053"/>
            <a:ext cx="9525000" cy="6257330"/>
          </a:xfrm>
          <a:prstGeom prst="roundRect">
            <a:avLst>
              <a:gd fmla="val 3044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6" name="Google Shape;4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720578"/>
            <a:ext cx="9505950" cy="623828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/>
          <p:nvPr/>
        </p:nvSpPr>
        <p:spPr>
          <a:xfrm>
            <a:off x="11201400" y="2711053"/>
            <a:ext cx="6121908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85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흔히 보는 "만능 운영 대시보드" — 지표 18개가 균일한 카드로 나열되고, 무지개색 막대와 게이지가 섞여 있습니다.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11201400" y="4182666"/>
            <a:ext cx="6121908" cy="12811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985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 예시는 크기·배치의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우선순위가 불분명하고 </a:t>
            </a: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, 색은 의미 없이 알록달록하며, 게이지의 비교 기준도 부족합니다.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6"/>
          <p:cNvSpPr/>
          <p:nvPr/>
        </p:nvSpPr>
        <p:spPr>
          <a:xfrm>
            <a:off x="11201400" y="5654278"/>
            <a:ext cx="5943600" cy="1501973"/>
          </a:xfrm>
          <a:custGeom>
            <a:rect b="b" l="l" r="r" t="t"/>
            <a:pathLst>
              <a:path extrusionOk="0" h="1501973" w="5943600">
                <a:moveTo>
                  <a:pt x="0" y="0"/>
                </a:moveTo>
                <a:lnTo>
                  <a:pt x="5943600" y="0"/>
                </a:lnTo>
                <a:lnTo>
                  <a:pt x="5943600" y="1330523"/>
                </a:lnTo>
                <a:cubicBezTo>
                  <a:pt x="5943600" y="1425212"/>
                  <a:pt x="5866839" y="1501973"/>
                  <a:pt x="5772150" y="1501973"/>
                </a:cubicBezTo>
                <a:lnTo>
                  <a:pt x="171450" y="1501973"/>
                </a:lnTo>
                <a:cubicBezTo>
                  <a:pt x="76761" y="1501973"/>
                  <a:pt x="0" y="1425212"/>
                  <a:pt x="0" y="133052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11201400" y="5654278"/>
            <a:ext cx="59436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6"/>
          <p:cNvSpPr/>
          <p:nvPr/>
        </p:nvSpPr>
        <p:spPr>
          <a:xfrm>
            <a:off x="11506200" y="5978128"/>
            <a:ext cx="5512308" cy="9495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이 화면에서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지금 문제가 있는 지표를 3초 안에 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찾아보세요.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11201400" y="7384852"/>
            <a:ext cx="612190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어긴 규칙 —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2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유형 혼재 ·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3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맥락 없음 ·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4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위계 없음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1143000" y="95154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화면: 세미나용 가상 대시보드 (실제 제품 화면이 아닙니다)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7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사례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이커머스 운영 대시보드 — </a:t>
            </a:r>
            <a:r>
              <a:rPr b="1" i="0" lang="en-US" sz="45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1143000" y="2711053"/>
            <a:ext cx="9525000" cy="6257330"/>
          </a:xfrm>
          <a:prstGeom prst="roundRect">
            <a:avLst>
              <a:gd fmla="val 3044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2" name="Google Shape;5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720578"/>
            <a:ext cx="9505950" cy="623828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27"/>
          <p:cNvSpPr/>
          <p:nvPr/>
        </p:nvSpPr>
        <p:spPr>
          <a:xfrm>
            <a:off x="11201400" y="3629174"/>
            <a:ext cx="5943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11201400" y="2711053"/>
            <a:ext cx="6121908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핵심 지표 하나(오늘 매출)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가장 크게, 목표 대비 변화와 함께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11201400" y="4354934"/>
            <a:ext cx="5943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11201400" y="3810149"/>
            <a:ext cx="612190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보조 지표 2개(주문 수 · 전환율)를 그 옆에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11201400" y="5454030"/>
            <a:ext cx="5943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11201400" y="4535909"/>
            <a:ext cx="6121908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아래에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추세 차트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(목표선 포함) + 채널별 기여(정렬된 단색 막대)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11201400" y="5635005"/>
            <a:ext cx="612190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나머지 상세 지표는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제거하거나 드릴다운으로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11201400" y="6236940"/>
            <a:ext cx="5943600" cy="1900535"/>
          </a:xfrm>
          <a:prstGeom prst="roundRect">
            <a:avLst>
              <a:gd fmla="val 9021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11525250" y="6503640"/>
            <a:ext cx="5474208" cy="1405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핵심 지표를 줄이고 맥락을 보완한 예시입니다. 판단 속도의 개선은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사용자 검증 </a:t>
            </a:r>
            <a:r>
              <a:rPr b="1" i="0" lang="en-US" sz="247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이 필요합니다.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1143000" y="95154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화면: 세미나용 가상 대시보드 (실제 제품 화면이 아닙니다)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8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사례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SaaS 그로스 대시보드 — 전략형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1143000" y="2978646"/>
            <a:ext cx="9144000" cy="5722144"/>
          </a:xfrm>
          <a:prstGeom prst="roundRect">
            <a:avLst>
              <a:gd fmla="val 3329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1" name="Google Shape;53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988171"/>
            <a:ext cx="9124950" cy="5703094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8"/>
          <p:cNvSpPr/>
          <p:nvPr/>
        </p:nvSpPr>
        <p:spPr>
          <a:xfrm>
            <a:off x="10820400" y="3896767"/>
            <a:ext cx="6324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8"/>
          <p:cNvSpPr/>
          <p:nvPr/>
        </p:nvSpPr>
        <p:spPr>
          <a:xfrm>
            <a:off x="10820400" y="2978646"/>
            <a:ext cx="6514338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맨 위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핵심 성과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(90일 잔존율)를 크게, 전월 대비와 추세와 함께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8"/>
          <p:cNvSpPr/>
          <p:nvPr/>
        </p:nvSpPr>
        <p:spPr>
          <a:xfrm>
            <a:off x="10820400" y="4995863"/>
            <a:ext cx="6324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8"/>
          <p:cNvSpPr/>
          <p:nvPr/>
        </p:nvSpPr>
        <p:spPr>
          <a:xfrm>
            <a:off x="10820400" y="4077742"/>
            <a:ext cx="6514338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그 아래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보조 성과·효율 지표 4개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(MRR · 신규 유료 · 이탈률 · CAC 회수) 카드, 각각 스파크라인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8"/>
          <p:cNvSpPr/>
          <p:nvPr/>
        </p:nvSpPr>
        <p:spPr>
          <a:xfrm>
            <a:off x="10820400" y="5176838"/>
            <a:ext cx="651433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맨 아래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코호트별 잔존 곡선 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"최근 가입자가 더 잘 남는가"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8"/>
          <p:cNvSpPr/>
          <p:nvPr/>
        </p:nvSpPr>
        <p:spPr>
          <a:xfrm>
            <a:off x="10820400" y="5778773"/>
            <a:ext cx="6324600" cy="1957685"/>
          </a:xfrm>
          <a:custGeom>
            <a:rect b="b" l="l" r="r" t="t"/>
            <a:pathLst>
              <a:path extrusionOk="0" h="1957685" w="6324600">
                <a:moveTo>
                  <a:pt x="0" y="0"/>
                </a:moveTo>
                <a:lnTo>
                  <a:pt x="6324600" y="0"/>
                </a:lnTo>
                <a:lnTo>
                  <a:pt x="6324600" y="1786235"/>
                </a:lnTo>
                <a:cubicBezTo>
                  <a:pt x="6324600" y="1880924"/>
                  <a:pt x="6247839" y="1957685"/>
                  <a:pt x="6153150" y="1957685"/>
                </a:cubicBezTo>
                <a:lnTo>
                  <a:pt x="171450" y="1957685"/>
                </a:lnTo>
                <a:cubicBezTo>
                  <a:pt x="76761" y="1957685"/>
                  <a:pt x="0" y="1880924"/>
                  <a:pt x="0" y="1786235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8"/>
          <p:cNvSpPr/>
          <p:nvPr/>
        </p:nvSpPr>
        <p:spPr>
          <a:xfrm>
            <a:off x="10820400" y="5778773"/>
            <a:ext cx="63246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8"/>
          <p:cNvSpPr/>
          <p:nvPr/>
        </p:nvSpPr>
        <p:spPr>
          <a:xfrm>
            <a:off x="11125200" y="6102623"/>
            <a:ext cx="5904738" cy="1405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92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75"/>
              <a:buFont typeface="Arial"/>
              <a:buNone/>
            </a:pP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잔존율을 </a:t>
            </a:r>
            <a:r>
              <a:rPr b="1" i="0" lang="en-US" sz="24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핵심 성과 </a:t>
            </a:r>
            <a:r>
              <a:rPr b="1" i="0" lang="en-US" sz="2475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로 둔 예시입니다. MRR·CAC 회수기간은 직접 통제할 입력지표와 구분합니다.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8"/>
          <p:cNvSpPr/>
          <p:nvPr/>
        </p:nvSpPr>
        <p:spPr>
          <a:xfrm>
            <a:off x="10820400" y="7965058"/>
            <a:ext cx="6514338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이탈률만 붉은 화살표라 시선이 자연히 그리로 갑니다 —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색이 일을 하고 있습니다.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8"/>
          <p:cNvSpPr/>
          <p:nvPr/>
        </p:nvSpPr>
        <p:spPr>
          <a:xfrm>
            <a:off x="1143000" y="95154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화면: 세미나용 가상 대시보드 (실제 제품 화면이 아닙니다)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9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사례 ③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9"/>
          <p:cNvSpPr/>
          <p:nvPr/>
        </p:nvSpPr>
        <p:spPr>
          <a:xfrm>
            <a:off x="1143000" y="11620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마케팅 캠페인 대시보드 — 분석형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9"/>
          <p:cNvSpPr/>
          <p:nvPr/>
        </p:nvSpPr>
        <p:spPr>
          <a:xfrm>
            <a:off x="1143000" y="2978646"/>
            <a:ext cx="9144000" cy="5722144"/>
          </a:xfrm>
          <a:prstGeom prst="roundRect">
            <a:avLst>
              <a:gd fmla="val 3329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0" name="Google Shape;5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525" y="2988171"/>
            <a:ext cx="9124950" cy="5703094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29"/>
          <p:cNvSpPr/>
          <p:nvPr/>
        </p:nvSpPr>
        <p:spPr>
          <a:xfrm>
            <a:off x="10820400" y="3504381"/>
            <a:ext cx="6324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9"/>
          <p:cNvSpPr/>
          <p:nvPr/>
        </p:nvSpPr>
        <p:spPr>
          <a:xfrm>
            <a:off x="10820400" y="2978646"/>
            <a:ext cx="651433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상단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필터 바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(기간 · 채널 · 세그먼트)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9"/>
          <p:cNvSpPr/>
          <p:nvPr/>
        </p:nvSpPr>
        <p:spPr>
          <a:xfrm>
            <a:off x="10820400" y="4192042"/>
            <a:ext cx="6324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9"/>
          <p:cNvSpPr/>
          <p:nvPr/>
        </p:nvSpPr>
        <p:spPr>
          <a:xfrm>
            <a:off x="10820400" y="3666306"/>
            <a:ext cx="651433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정렬된 단색 막대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(채널별 전환율) — 무지개 게이지 대신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9"/>
          <p:cNvSpPr/>
          <p:nvPr/>
        </p:nvSpPr>
        <p:spPr>
          <a:xfrm>
            <a:off x="10820400" y="4879702"/>
            <a:ext cx="6324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9"/>
          <p:cNvSpPr/>
          <p:nvPr/>
        </p:nvSpPr>
        <p:spPr>
          <a:xfrm>
            <a:off x="10820400" y="4353967"/>
            <a:ext cx="651433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산점도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(비용 vs 전환) — 효율 이상치 탐색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9"/>
          <p:cNvSpPr/>
          <p:nvPr/>
        </p:nvSpPr>
        <p:spPr>
          <a:xfrm>
            <a:off x="10820400" y="5041627"/>
            <a:ext cx="6514338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61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하단 </a:t>
            </a: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드릴다운 테이블</a:t>
            </a: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(캠페인별 상세)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9"/>
          <p:cNvSpPr/>
          <p:nvPr/>
        </p:nvSpPr>
        <p:spPr>
          <a:xfrm>
            <a:off x="10820400" y="5643563"/>
            <a:ext cx="6324600" cy="1389608"/>
          </a:xfrm>
          <a:prstGeom prst="roundRect">
            <a:avLst>
              <a:gd fmla="val 1233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9"/>
          <p:cNvSpPr/>
          <p:nvPr/>
        </p:nvSpPr>
        <p:spPr>
          <a:xfrm>
            <a:off x="11144250" y="5910263"/>
            <a:ext cx="5866638" cy="8943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62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분석형은 상호작용이 풍부하되,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기본 뷰에서 주요 비교가 가능 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해야 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9"/>
          <p:cNvSpPr/>
          <p:nvPr/>
        </p:nvSpPr>
        <p:spPr>
          <a:xfrm>
            <a:off x="10820400" y="7261771"/>
            <a:ext cx="6514338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기본 화면에서는 "검색의 전환율이 가장 높다"가 보여야 합니다 →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9"/>
          <p:cNvSpPr/>
          <p:nvPr/>
        </p:nvSpPr>
        <p:spPr>
          <a:xfrm>
            <a:off x="1143000" y="9515475"/>
            <a:ext cx="17602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화면: 세미나용 가상 대시보드 (실제 제품 화면이 아닙니다)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0"/>
          <p:cNvSpPr/>
          <p:nvPr/>
        </p:nvSpPr>
        <p:spPr>
          <a:xfrm>
            <a:off x="1143000" y="6858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· 제품 패턴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0"/>
          <p:cNvSpPr/>
          <p:nvPr/>
        </p:nvSpPr>
        <p:spPr>
          <a:xfrm>
            <a:off x="1143000" y="1123950"/>
            <a:ext cx="1760220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8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실제 제품에서 우리가 읽어낸 패턴 여섯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0"/>
          <p:cNvSpPr/>
          <p:nvPr/>
        </p:nvSpPr>
        <p:spPr>
          <a:xfrm>
            <a:off x="1143000" y="1882080"/>
            <a:ext cx="176022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스크린샷 대신 이름과 패턴으로 — 관찰이지 각 회사의 공식 표현은 아닙니다.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0"/>
          <p:cNvSpPr/>
          <p:nvPr/>
        </p:nvSpPr>
        <p:spPr>
          <a:xfrm>
            <a:off x="1143000" y="2834580"/>
            <a:ext cx="34290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0"/>
          <p:cNvSpPr/>
          <p:nvPr/>
        </p:nvSpPr>
        <p:spPr>
          <a:xfrm>
            <a:off x="1143000" y="2444055"/>
            <a:ext cx="353187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패턴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0"/>
          <p:cNvSpPr/>
          <p:nvPr/>
        </p:nvSpPr>
        <p:spPr>
          <a:xfrm>
            <a:off x="4914900" y="2834580"/>
            <a:ext cx="71247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0"/>
          <p:cNvSpPr/>
          <p:nvPr/>
        </p:nvSpPr>
        <p:spPr>
          <a:xfrm>
            <a:off x="4914900" y="2444055"/>
            <a:ext cx="733844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무엇을 하는가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0"/>
          <p:cNvSpPr/>
          <p:nvPr/>
        </p:nvSpPr>
        <p:spPr>
          <a:xfrm>
            <a:off x="12382500" y="2834580"/>
            <a:ext cx="47625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0"/>
          <p:cNvSpPr/>
          <p:nvPr/>
        </p:nvSpPr>
        <p:spPr>
          <a:xfrm>
            <a:off x="12382500" y="2444055"/>
            <a:ext cx="49053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이렇게 하는 제품 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0"/>
          <p:cNvSpPr/>
          <p:nvPr/>
        </p:nvSpPr>
        <p:spPr>
          <a:xfrm>
            <a:off x="1143000" y="3482280"/>
            <a:ext cx="342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0"/>
          <p:cNvSpPr/>
          <p:nvPr/>
        </p:nvSpPr>
        <p:spPr>
          <a:xfrm>
            <a:off x="1143000" y="3015555"/>
            <a:ext cx="35318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계층적 공개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0"/>
          <p:cNvSpPr/>
          <p:nvPr/>
        </p:nvSpPr>
        <p:spPr>
          <a:xfrm>
            <a:off x="4914900" y="3482280"/>
            <a:ext cx="71247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0"/>
          <p:cNvSpPr/>
          <p:nvPr/>
        </p:nvSpPr>
        <p:spPr>
          <a:xfrm>
            <a:off x="4914900" y="3015555"/>
            <a:ext cx="73384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요약 먼저, 클릭하면 상세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0"/>
          <p:cNvSpPr/>
          <p:nvPr/>
        </p:nvSpPr>
        <p:spPr>
          <a:xfrm>
            <a:off x="12382500" y="3482280"/>
            <a:ext cx="4762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0"/>
          <p:cNvSpPr/>
          <p:nvPr/>
        </p:nvSpPr>
        <p:spPr>
          <a:xfrm>
            <a:off x="12382500" y="3015555"/>
            <a:ext cx="4905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결제 · 개발자 도구 대시보드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0"/>
          <p:cNvSpPr/>
          <p:nvPr/>
        </p:nvSpPr>
        <p:spPr>
          <a:xfrm>
            <a:off x="1143000" y="4110930"/>
            <a:ext cx="342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0"/>
          <p:cNvSpPr/>
          <p:nvPr/>
        </p:nvSpPr>
        <p:spPr>
          <a:xfrm>
            <a:off x="1143000" y="3644205"/>
            <a:ext cx="35318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표시 정보 선택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0"/>
          <p:cNvSpPr/>
          <p:nvPr/>
        </p:nvSpPr>
        <p:spPr>
          <a:xfrm>
            <a:off x="4914900" y="4110930"/>
            <a:ext cx="71247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0"/>
          <p:cNvSpPr/>
          <p:nvPr/>
        </p:nvSpPr>
        <p:spPr>
          <a:xfrm>
            <a:off x="4914900" y="3644205"/>
            <a:ext cx="73384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업무에 필요한 속성·그룹을 선택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12382500" y="4110930"/>
            <a:ext cx="4762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0"/>
          <p:cNvSpPr/>
          <p:nvPr/>
        </p:nvSpPr>
        <p:spPr>
          <a:xfrm>
            <a:off x="12382500" y="3644205"/>
            <a:ext cx="4905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이슈 트래커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0"/>
          <p:cNvSpPr/>
          <p:nvPr/>
        </p:nvSpPr>
        <p:spPr>
          <a:xfrm>
            <a:off x="1143000" y="4739580"/>
            <a:ext cx="342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0"/>
          <p:cNvSpPr/>
          <p:nvPr/>
        </p:nvSpPr>
        <p:spPr>
          <a:xfrm>
            <a:off x="1143000" y="4272855"/>
            <a:ext cx="35318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사용자별 뷰 구성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0"/>
          <p:cNvSpPr/>
          <p:nvPr/>
        </p:nvSpPr>
        <p:spPr>
          <a:xfrm>
            <a:off x="4914900" y="4739580"/>
            <a:ext cx="71247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0"/>
          <p:cNvSpPr/>
          <p:nvPr/>
        </p:nvSpPr>
        <p:spPr>
          <a:xfrm>
            <a:off x="4914900" y="4272855"/>
            <a:ext cx="73384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위젯을 끌어다 자기 화면을 만듦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0"/>
          <p:cNvSpPr/>
          <p:nvPr/>
        </p:nvSpPr>
        <p:spPr>
          <a:xfrm>
            <a:off x="12382500" y="4739580"/>
            <a:ext cx="4762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12382500" y="4272855"/>
            <a:ext cx="4905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모니터링 도구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1143000" y="5368230"/>
            <a:ext cx="342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30"/>
          <p:cNvSpPr/>
          <p:nvPr/>
        </p:nvSpPr>
        <p:spPr>
          <a:xfrm>
            <a:off x="1143000" y="4901505"/>
            <a:ext cx="35318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변화 우선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0"/>
          <p:cNvSpPr/>
          <p:nvPr/>
        </p:nvSpPr>
        <p:spPr>
          <a:xfrm>
            <a:off x="4914900" y="5368230"/>
            <a:ext cx="71247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30"/>
          <p:cNvSpPr/>
          <p:nvPr/>
        </p:nvSpPr>
        <p:spPr>
          <a:xfrm>
            <a:off x="4914900" y="4901505"/>
            <a:ext cx="73384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지난 방문 이후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바뀐 것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을 먼저 보여줌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12382500" y="5368230"/>
            <a:ext cx="4762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30"/>
          <p:cNvSpPr/>
          <p:nvPr/>
        </p:nvSpPr>
        <p:spPr>
          <a:xfrm>
            <a:off x="12382500" y="4901505"/>
            <a:ext cx="4905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제품 분석 도구의 인사이트 피드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0"/>
          <p:cNvSpPr/>
          <p:nvPr/>
        </p:nvSpPr>
        <p:spPr>
          <a:xfrm>
            <a:off x="1143000" y="5996880"/>
            <a:ext cx="3429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1143000" y="5530155"/>
            <a:ext cx="35318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신뢰 지표 하나를 맨 앞에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0"/>
          <p:cNvSpPr/>
          <p:nvPr/>
        </p:nvSpPr>
        <p:spPr>
          <a:xfrm>
            <a:off x="4914900" y="5996880"/>
            <a:ext cx="71247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0"/>
          <p:cNvSpPr/>
          <p:nvPr/>
        </p:nvSpPr>
        <p:spPr>
          <a:xfrm>
            <a:off x="4914900" y="5530155"/>
            <a:ext cx="73384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잔고 · 런웨이처럼 가장 중요한 숫자 하나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12382500" y="5996880"/>
            <a:ext cx="4762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0"/>
          <p:cNvSpPr/>
          <p:nvPr/>
        </p:nvSpPr>
        <p:spPr>
          <a:xfrm>
            <a:off x="12382500" y="5530155"/>
            <a:ext cx="4905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핀테크 대시보드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1143000" y="6158805"/>
            <a:ext cx="353187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표의 귀환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4914900" y="6158805"/>
            <a:ext cx="7338441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차트보다 구조화된 표가 나을 때가 많음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0"/>
          <p:cNvSpPr/>
          <p:nvPr/>
        </p:nvSpPr>
        <p:spPr>
          <a:xfrm>
            <a:off x="12382500" y="6158805"/>
            <a:ext cx="4905375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결제 · 이슈 트래커 공통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1143000" y="8435355"/>
            <a:ext cx="16002000" cy="908670"/>
          </a:xfrm>
          <a:prstGeom prst="roundRect">
            <a:avLst>
              <a:gd fmla="val 1886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0"/>
          <p:cNvSpPr/>
          <p:nvPr/>
        </p:nvSpPr>
        <p:spPr>
          <a:xfrm>
            <a:off x="1524000" y="8683005"/>
            <a:ext cx="157200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공통 —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첫 사용의 이해도와 반복 사용의 편의성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을 함께 고려합니다.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0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제품명은 설계 패턴을 설명하기 위한 예시이며 해당 회사의 공식 표현이 아닙니다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5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1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1"/>
          <p:cNvSpPr/>
          <p:nvPr/>
        </p:nvSpPr>
        <p:spPr>
          <a:xfrm>
            <a:off x="1143000" y="320226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1"/>
          <p:cNvSpPr/>
          <p:nvPr/>
        </p:nvSpPr>
        <p:spPr>
          <a:xfrm>
            <a:off x="1143000" y="261461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1"/>
          <p:cNvSpPr/>
          <p:nvPr/>
        </p:nvSpPr>
        <p:spPr>
          <a:xfrm>
            <a:off x="1723281" y="2476500"/>
            <a:ext cx="7154250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지표 선별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의 효과는 사용자 과제로 검증한다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1"/>
          <p:cNvSpPr/>
          <p:nvPr/>
        </p:nvSpPr>
        <p:spPr>
          <a:xfrm>
            <a:off x="1143000" y="41661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1"/>
          <p:cNvSpPr/>
          <p:nvPr/>
        </p:nvSpPr>
        <p:spPr>
          <a:xfrm>
            <a:off x="1143000" y="357849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1"/>
          <p:cNvSpPr/>
          <p:nvPr/>
        </p:nvSpPr>
        <p:spPr>
          <a:xfrm>
            <a:off x="1723281" y="3440385"/>
            <a:ext cx="7137060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전략형은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North Star 구조가 그대로 화면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 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1143000" y="454238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1"/>
          <p:cNvSpPr/>
          <p:nvPr/>
        </p:nvSpPr>
        <p:spPr>
          <a:xfrm>
            <a:off x="1723281" y="4404271"/>
            <a:ext cx="9647731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분석형은 상호작용이 풍부하되,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기본 뷰에서 주요 비교가 가능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하다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1"/>
          <p:cNvSpPr/>
          <p:nvPr/>
        </p:nvSpPr>
        <p:spPr>
          <a:xfrm>
            <a:off x="1143000" y="7367587"/>
            <a:ext cx="16002000" cy="2233613"/>
          </a:xfrm>
          <a:prstGeom prst="roundRect">
            <a:avLst>
              <a:gd fmla="val 767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1524000" y="7672388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1"/>
          <p:cNvSpPr/>
          <p:nvPr/>
        </p:nvSpPr>
        <p:spPr>
          <a:xfrm>
            <a:off x="1524000" y="8120063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Before 화면에서 문제를 찾기 어렵게 만드는 요소는?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1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전략형 화면에서 이탈률만 붉은 이유는?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분석형에서 필터를 만지기 전에 무엇이 보여야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2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2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안티패턴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2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주요 설계 문제 여섯. PART 4 Ch 5「왜곡」과 짝을 이루는 챕터입니다. 여섯 안티패턴은 모두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앞 챕터에서 배운 원칙의 위반 사례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이므로 복습이 됩니다.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2"/>
          <p:cNvSpPr/>
          <p:nvPr/>
        </p:nvSpPr>
        <p:spPr>
          <a:xfrm>
            <a:off x="1143000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역할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2"/>
          <p:cNvSpPr/>
          <p:nvPr/>
        </p:nvSpPr>
        <p:spPr>
          <a:xfrm>
            <a:off x="239084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유형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2"/>
          <p:cNvSpPr/>
          <p:nvPr/>
        </p:nvSpPr>
        <p:spPr>
          <a:xfrm>
            <a:off x="36386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2"/>
          <p:cNvSpPr/>
          <p:nvPr/>
        </p:nvSpPr>
        <p:spPr>
          <a:xfrm>
            <a:off x="488654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위계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2"/>
          <p:cNvSpPr/>
          <p:nvPr/>
        </p:nvSpPr>
        <p:spPr>
          <a:xfrm>
            <a:off x="61343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사례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2"/>
          <p:cNvSpPr/>
          <p:nvPr/>
        </p:nvSpPr>
        <p:spPr>
          <a:xfrm>
            <a:off x="7382247" y="7173218"/>
            <a:ext cx="1393106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2"/>
          <p:cNvSpPr/>
          <p:nvPr/>
        </p:nvSpPr>
        <p:spPr>
          <a:xfrm>
            <a:off x="7382247" y="6816030"/>
            <a:ext cx="1469306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안티패턴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2"/>
          <p:cNvSpPr/>
          <p:nvPr/>
        </p:nvSpPr>
        <p:spPr>
          <a:xfrm>
            <a:off x="9042053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 실무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33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 · 안티패턴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3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설계 문제 ① ② ③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3"/>
          <p:cNvSpPr/>
          <p:nvPr/>
        </p:nvSpPr>
        <p:spPr>
          <a:xfrm>
            <a:off x="1143000" y="4056236"/>
            <a:ext cx="5105400" cy="3660428"/>
          </a:xfrm>
          <a:prstGeom prst="roundRect">
            <a:avLst>
              <a:gd fmla="val 46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3"/>
          <p:cNvSpPr/>
          <p:nvPr/>
        </p:nvSpPr>
        <p:spPr>
          <a:xfrm>
            <a:off x="1466850" y="4399136"/>
            <a:ext cx="490347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1466850" y="4813474"/>
            <a:ext cx="490347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1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만능 대시보드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3"/>
          <p:cNvSpPr/>
          <p:nvPr/>
        </p:nvSpPr>
        <p:spPr>
          <a:xfrm>
            <a:off x="1466850" y="5418311"/>
            <a:ext cx="459143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모든 사용자, 모든 지표를 한 화면에. 사용자별 우선순위가 흐려질 수 있음.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1466850" y="6313661"/>
            <a:ext cx="490347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유형을 정하거나 뷰를 분리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3"/>
          <p:cNvSpPr/>
          <p:nvPr/>
        </p:nvSpPr>
        <p:spPr>
          <a:xfrm>
            <a:off x="1466850" y="6959426"/>
            <a:ext cx="787673" cy="414338"/>
          </a:xfrm>
          <a:prstGeom prst="roundRect">
            <a:avLst>
              <a:gd fmla="val 18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33"/>
          <p:cNvSpPr/>
          <p:nvPr/>
        </p:nvSpPr>
        <p:spPr>
          <a:xfrm>
            <a:off x="1619250" y="7035626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6591300" y="4056236"/>
            <a:ext cx="5105400" cy="3660428"/>
          </a:xfrm>
          <a:prstGeom prst="roundRect">
            <a:avLst>
              <a:gd fmla="val 46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6915150" y="4399136"/>
            <a:ext cx="490347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6915150" y="4813474"/>
            <a:ext cx="490347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1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맥락 없는 숫자 벽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3"/>
          <p:cNvSpPr/>
          <p:nvPr/>
        </p:nvSpPr>
        <p:spPr>
          <a:xfrm>
            <a:off x="6915150" y="5418311"/>
            <a:ext cx="49034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큰 숫자만 잔뜩. "좋은 건지" 알 수 없음.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3"/>
          <p:cNvSpPr/>
          <p:nvPr/>
        </p:nvSpPr>
        <p:spPr>
          <a:xfrm>
            <a:off x="6915150" y="5942186"/>
            <a:ext cx="490347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목적에 맞는 목표·추세·변화율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6915150" y="6959426"/>
            <a:ext cx="787673" cy="414338"/>
          </a:xfrm>
          <a:prstGeom prst="roundRect">
            <a:avLst>
              <a:gd fmla="val 18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3"/>
          <p:cNvSpPr/>
          <p:nvPr/>
        </p:nvSpPr>
        <p:spPr>
          <a:xfrm>
            <a:off x="7067550" y="7035626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3"/>
          <p:cNvSpPr/>
          <p:nvPr/>
        </p:nvSpPr>
        <p:spPr>
          <a:xfrm>
            <a:off x="12039600" y="4056236"/>
            <a:ext cx="5105400" cy="3660428"/>
          </a:xfrm>
          <a:prstGeom prst="roundRect">
            <a:avLst>
              <a:gd fmla="val 4684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3"/>
          <p:cNvSpPr/>
          <p:nvPr/>
        </p:nvSpPr>
        <p:spPr>
          <a:xfrm>
            <a:off x="12363450" y="4399136"/>
            <a:ext cx="490347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3"/>
          <p:cNvSpPr/>
          <p:nvPr/>
        </p:nvSpPr>
        <p:spPr>
          <a:xfrm>
            <a:off x="12363450" y="4813474"/>
            <a:ext cx="490347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1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장식적 색과 게이지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3"/>
          <p:cNvSpPr/>
          <p:nvPr/>
        </p:nvSpPr>
        <p:spPr>
          <a:xfrm>
            <a:off x="12363450" y="5418311"/>
            <a:ext cx="459143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무지개색, 3D, 게이지 남발. 색이 의미를 나르지 않고 시선만 분산.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12363450" y="6313661"/>
            <a:ext cx="490347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색의 역할을 명확히, 불릿 그래프로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12363450" y="6959426"/>
            <a:ext cx="787673" cy="414338"/>
          </a:xfrm>
          <a:prstGeom prst="roundRect">
            <a:avLst>
              <a:gd fmla="val 18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3"/>
          <p:cNvSpPr/>
          <p:nvPr/>
        </p:nvSpPr>
        <p:spPr>
          <a:xfrm>
            <a:off x="12515850" y="7035626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3"/>
          <p:cNvSpPr/>
          <p:nvPr/>
        </p:nvSpPr>
        <p:spPr>
          <a:xfrm>
            <a:off x="13246373" y="6959426"/>
            <a:ext cx="1626319" cy="414338"/>
          </a:xfrm>
          <a:prstGeom prst="roundRect">
            <a:avLst>
              <a:gd fmla="val 1839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3"/>
          <p:cNvSpPr/>
          <p:nvPr/>
        </p:nvSpPr>
        <p:spPr>
          <a:xfrm>
            <a:off x="13398773" y="7035626"/>
            <a:ext cx="1397719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PART 4 Ch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3"/>
          <p:cNvSpPr/>
          <p:nvPr/>
        </p:nvSpPr>
        <p:spPr>
          <a:xfrm>
            <a:off x="1143000" y="92964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여섯 안티패턴은 모두 앞 챕터에서 배운 원칙의 위반입니다. 카드 오른쪽 아래 칩이 가리키는 챕터가 곧 해법입니다.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4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 · 안티패턴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4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설계 문제 ④ ⑤ 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4"/>
          <p:cNvSpPr/>
          <p:nvPr/>
        </p:nvSpPr>
        <p:spPr>
          <a:xfrm>
            <a:off x="1143000" y="2476500"/>
            <a:ext cx="5105400" cy="3660428"/>
          </a:xfrm>
          <a:prstGeom prst="roundRect">
            <a:avLst>
              <a:gd fmla="val 46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34"/>
          <p:cNvSpPr/>
          <p:nvPr/>
        </p:nvSpPr>
        <p:spPr>
          <a:xfrm>
            <a:off x="1466850" y="2819400"/>
            <a:ext cx="490347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4"/>
          <p:cNvSpPr/>
          <p:nvPr/>
        </p:nvSpPr>
        <p:spPr>
          <a:xfrm>
            <a:off x="1466850" y="3233738"/>
            <a:ext cx="490347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1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위계 없는 균일 배치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4"/>
          <p:cNvSpPr/>
          <p:nvPr/>
        </p:nvSpPr>
        <p:spPr>
          <a:xfrm>
            <a:off x="1466850" y="3838575"/>
            <a:ext cx="4591431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모든 카드가 같은 크기. 무엇이 중요한지 알 수 없음.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4"/>
          <p:cNvSpPr/>
          <p:nvPr/>
        </p:nvSpPr>
        <p:spPr>
          <a:xfrm>
            <a:off x="1466850" y="4733925"/>
            <a:ext cx="490347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공간·위치·제목으로 위계 표현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1466850" y="5379690"/>
            <a:ext cx="787673" cy="414338"/>
          </a:xfrm>
          <a:prstGeom prst="roundRect">
            <a:avLst>
              <a:gd fmla="val 1839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4"/>
          <p:cNvSpPr/>
          <p:nvPr/>
        </p:nvSpPr>
        <p:spPr>
          <a:xfrm>
            <a:off x="1619250" y="5455890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6591300" y="2476500"/>
            <a:ext cx="5105400" cy="3660428"/>
          </a:xfrm>
          <a:prstGeom prst="roundRect">
            <a:avLst>
              <a:gd fmla="val 46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4"/>
          <p:cNvSpPr/>
          <p:nvPr/>
        </p:nvSpPr>
        <p:spPr>
          <a:xfrm>
            <a:off x="6915150" y="2819400"/>
            <a:ext cx="490347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4"/>
          <p:cNvSpPr/>
          <p:nvPr/>
        </p:nvSpPr>
        <p:spPr>
          <a:xfrm>
            <a:off x="6915150" y="3233738"/>
            <a:ext cx="490347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1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아무도 안 보는 대시보드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6915150" y="3838575"/>
            <a:ext cx="49034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만들었지만 결정에 안 쓰임. 허영지표만 가득.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6915150" y="4362450"/>
            <a:ext cx="490347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결정 테스트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4"/>
          <p:cNvSpPr/>
          <p:nvPr/>
        </p:nvSpPr>
        <p:spPr>
          <a:xfrm>
            <a:off x="6915150" y="5379690"/>
            <a:ext cx="787673" cy="414338"/>
          </a:xfrm>
          <a:prstGeom prst="roundRect">
            <a:avLst>
              <a:gd fmla="val 1839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4"/>
          <p:cNvSpPr/>
          <p:nvPr/>
        </p:nvSpPr>
        <p:spPr>
          <a:xfrm>
            <a:off x="7067550" y="5455890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4"/>
          <p:cNvSpPr/>
          <p:nvPr/>
        </p:nvSpPr>
        <p:spPr>
          <a:xfrm>
            <a:off x="12039600" y="2476500"/>
            <a:ext cx="5105400" cy="3660428"/>
          </a:xfrm>
          <a:prstGeom prst="roundRect">
            <a:avLst>
              <a:gd fmla="val 46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4"/>
          <p:cNvSpPr/>
          <p:nvPr/>
        </p:nvSpPr>
        <p:spPr>
          <a:xfrm>
            <a:off x="12363450" y="2819400"/>
            <a:ext cx="4903470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4"/>
          <p:cNvSpPr/>
          <p:nvPr/>
        </p:nvSpPr>
        <p:spPr>
          <a:xfrm>
            <a:off x="12363450" y="3233738"/>
            <a:ext cx="4903470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919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설명 없이는 못 읽는 화면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4"/>
          <p:cNvSpPr/>
          <p:nvPr/>
        </p:nvSpPr>
        <p:spPr>
          <a:xfrm>
            <a:off x="12363450" y="3838575"/>
            <a:ext cx="490347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온보딩 툴팁·투어 없이는 이해 불가.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4"/>
          <p:cNvSpPr/>
          <p:nvPr/>
        </p:nvSpPr>
        <p:spPr>
          <a:xfrm>
            <a:off x="12363450" y="4362450"/>
            <a:ext cx="490347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935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→ 기본 화면의 용어·범위를 명확히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4"/>
          <p:cNvSpPr/>
          <p:nvPr/>
        </p:nvSpPr>
        <p:spPr>
          <a:xfrm>
            <a:off x="12363450" y="5379690"/>
            <a:ext cx="787673" cy="414338"/>
          </a:xfrm>
          <a:prstGeom prst="roundRect">
            <a:avLst>
              <a:gd fmla="val 1839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4"/>
          <p:cNvSpPr/>
          <p:nvPr/>
        </p:nvSpPr>
        <p:spPr>
          <a:xfrm>
            <a:off x="12515850" y="5455890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4"/>
          <p:cNvSpPr/>
          <p:nvPr/>
        </p:nvSpPr>
        <p:spPr>
          <a:xfrm>
            <a:off x="13246373" y="5379690"/>
            <a:ext cx="787673" cy="414338"/>
          </a:xfrm>
          <a:prstGeom prst="roundRect">
            <a:avLst>
              <a:gd fmla="val 18391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34"/>
          <p:cNvSpPr/>
          <p:nvPr/>
        </p:nvSpPr>
        <p:spPr>
          <a:xfrm>
            <a:off x="13398773" y="5455890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Ch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4"/>
          <p:cNvSpPr/>
          <p:nvPr/>
        </p:nvSpPr>
        <p:spPr>
          <a:xfrm>
            <a:off x="1143000" y="8126760"/>
            <a:ext cx="16002000" cy="1474440"/>
          </a:xfrm>
          <a:custGeom>
            <a:rect b="b" l="l" r="r" t="t"/>
            <a:pathLst>
              <a:path extrusionOk="0" h="1474440" w="16002000">
                <a:moveTo>
                  <a:pt x="0" y="0"/>
                </a:moveTo>
                <a:lnTo>
                  <a:pt x="16002000" y="0"/>
                </a:lnTo>
                <a:lnTo>
                  <a:pt x="16002000" y="1302990"/>
                </a:lnTo>
                <a:cubicBezTo>
                  <a:pt x="16002000" y="1397679"/>
                  <a:pt x="15925239" y="1474440"/>
                  <a:pt x="15830550" y="1474440"/>
                </a:cubicBezTo>
                <a:lnTo>
                  <a:pt x="171450" y="1474440"/>
                </a:lnTo>
                <a:cubicBezTo>
                  <a:pt x="76761" y="1474440"/>
                  <a:pt x="0" y="1397679"/>
                  <a:pt x="0" y="130299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4"/>
          <p:cNvSpPr/>
          <p:nvPr/>
        </p:nvSpPr>
        <p:spPr>
          <a:xfrm>
            <a:off x="1143000" y="8126760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4"/>
          <p:cNvSpPr/>
          <p:nvPr/>
        </p:nvSpPr>
        <p:spPr>
          <a:xfrm>
            <a:off x="1466850" y="8450610"/>
            <a:ext cx="15834360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진단 질문 —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"처음 온 사람이 설명 없이 이 화면을 이해할 수 있는가?" </a:t>
            </a: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어렵다면 용어·레이아웃·정보량·사용자 지식을 함께 점검합니다.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5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 · 결정 지도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5"/>
          <p:cNvSpPr/>
          <p:nvPr/>
        </p:nvSpPr>
        <p:spPr>
          <a:xfrm>
            <a:off x="1143000" y="1219200"/>
            <a:ext cx="17602200" cy="7585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53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650"/>
              <a:buFont typeface="Arial"/>
              <a:buNone/>
            </a:pPr>
            <a:r>
              <a:rPr b="1" i="0" lang="en-US" sz="46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지표마다 "결정 지도"를 그려보세요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5"/>
          <p:cNvSpPr/>
          <p:nvPr/>
        </p:nvSpPr>
        <p:spPr>
          <a:xfrm>
            <a:off x="1143000" y="2053903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안티패턴을 예방하는 실무 도구 하나 — 지표의 목적을 합의하고 요구 범위를 검토하는 데 활용합니다.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1143000" y="3134990"/>
            <a:ext cx="4000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5"/>
          <p:cNvSpPr/>
          <p:nvPr/>
        </p:nvSpPr>
        <p:spPr>
          <a:xfrm>
            <a:off x="1143000" y="2725415"/>
            <a:ext cx="412051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지표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5"/>
          <p:cNvSpPr/>
          <p:nvPr/>
        </p:nvSpPr>
        <p:spPr>
          <a:xfrm>
            <a:off x="5524500" y="3134990"/>
            <a:ext cx="742950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35"/>
          <p:cNvSpPr/>
          <p:nvPr/>
        </p:nvSpPr>
        <p:spPr>
          <a:xfrm>
            <a:off x="5524500" y="2725415"/>
            <a:ext cx="765238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지원하는 결정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5"/>
          <p:cNvSpPr/>
          <p:nvPr/>
        </p:nvSpPr>
        <p:spPr>
          <a:xfrm>
            <a:off x="13335000" y="3134990"/>
            <a:ext cx="381000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5"/>
          <p:cNvSpPr/>
          <p:nvPr/>
        </p:nvSpPr>
        <p:spPr>
          <a:xfrm>
            <a:off x="13335000" y="2725415"/>
            <a:ext cx="3924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필요한 사람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5"/>
          <p:cNvSpPr/>
          <p:nvPr/>
        </p:nvSpPr>
        <p:spPr>
          <a:xfrm>
            <a:off x="1143000" y="3930328"/>
            <a:ext cx="4000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5"/>
          <p:cNvSpPr/>
          <p:nvPr/>
        </p:nvSpPr>
        <p:spPr>
          <a:xfrm>
            <a:off x="1143000" y="3373115"/>
            <a:ext cx="412051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전환율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5"/>
          <p:cNvSpPr/>
          <p:nvPr/>
        </p:nvSpPr>
        <p:spPr>
          <a:xfrm>
            <a:off x="5524500" y="3930328"/>
            <a:ext cx="7429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35"/>
          <p:cNvSpPr/>
          <p:nvPr/>
        </p:nvSpPr>
        <p:spPr>
          <a:xfrm>
            <a:off x="5524500" y="3373115"/>
            <a:ext cx="765238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랜딩 페이지 개선 여부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5"/>
          <p:cNvSpPr/>
          <p:nvPr/>
        </p:nvSpPr>
        <p:spPr>
          <a:xfrm>
            <a:off x="13335000" y="3930328"/>
            <a:ext cx="3810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35"/>
          <p:cNvSpPr/>
          <p:nvPr/>
        </p:nvSpPr>
        <p:spPr>
          <a:xfrm>
            <a:off x="13335000" y="3373115"/>
            <a:ext cx="39243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마케터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5"/>
          <p:cNvSpPr/>
          <p:nvPr/>
        </p:nvSpPr>
        <p:spPr>
          <a:xfrm>
            <a:off x="1143000" y="4706615"/>
            <a:ext cx="4000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35"/>
          <p:cNvSpPr/>
          <p:nvPr/>
        </p:nvSpPr>
        <p:spPr>
          <a:xfrm>
            <a:off x="1143000" y="4149403"/>
            <a:ext cx="412051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서버 지연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5"/>
          <p:cNvSpPr/>
          <p:nvPr/>
        </p:nvSpPr>
        <p:spPr>
          <a:xfrm>
            <a:off x="5524500" y="4706615"/>
            <a:ext cx="7429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5"/>
          <p:cNvSpPr/>
          <p:nvPr/>
        </p:nvSpPr>
        <p:spPr>
          <a:xfrm>
            <a:off x="5524500" y="4149403"/>
            <a:ext cx="765238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스케일업 여부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5"/>
          <p:cNvSpPr/>
          <p:nvPr/>
        </p:nvSpPr>
        <p:spPr>
          <a:xfrm>
            <a:off x="13335000" y="4706615"/>
            <a:ext cx="3810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5"/>
          <p:cNvSpPr/>
          <p:nvPr/>
        </p:nvSpPr>
        <p:spPr>
          <a:xfrm>
            <a:off x="13335000" y="4149403"/>
            <a:ext cx="39243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인프라팀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5"/>
          <p:cNvSpPr/>
          <p:nvPr/>
        </p:nvSpPr>
        <p:spPr>
          <a:xfrm>
            <a:off x="1143000" y="5482903"/>
            <a:ext cx="4000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35"/>
          <p:cNvSpPr/>
          <p:nvPr/>
        </p:nvSpPr>
        <p:spPr>
          <a:xfrm>
            <a:off x="1143000" y="4925690"/>
            <a:ext cx="412051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90일 잔존율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5"/>
          <p:cNvSpPr/>
          <p:nvPr/>
        </p:nvSpPr>
        <p:spPr>
          <a:xfrm>
            <a:off x="5524500" y="5482903"/>
            <a:ext cx="74295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5"/>
          <p:cNvSpPr/>
          <p:nvPr/>
        </p:nvSpPr>
        <p:spPr>
          <a:xfrm>
            <a:off x="5524500" y="4925690"/>
            <a:ext cx="765238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온보딩 개선 우선순위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5"/>
          <p:cNvSpPr/>
          <p:nvPr/>
        </p:nvSpPr>
        <p:spPr>
          <a:xfrm>
            <a:off x="13335000" y="5482903"/>
            <a:ext cx="38100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35"/>
          <p:cNvSpPr/>
          <p:nvPr/>
        </p:nvSpPr>
        <p:spPr>
          <a:xfrm>
            <a:off x="13335000" y="4925690"/>
            <a:ext cx="3924300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프로덕트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5"/>
          <p:cNvSpPr/>
          <p:nvPr/>
        </p:nvSpPr>
        <p:spPr>
          <a:xfrm>
            <a:off x="1143000" y="5701978"/>
            <a:ext cx="412051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5"/>
          <p:cNvSpPr/>
          <p:nvPr/>
        </p:nvSpPr>
        <p:spPr>
          <a:xfrm>
            <a:off x="5524500" y="5701978"/>
            <a:ext cx="7652385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(용도와 필요성 재검토)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5"/>
          <p:cNvSpPr/>
          <p:nvPr/>
        </p:nvSpPr>
        <p:spPr>
          <a:xfrm>
            <a:off x="13335000" y="5701978"/>
            <a:ext cx="39243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5"/>
          <p:cNvSpPr/>
          <p:nvPr/>
        </p:nvSpPr>
        <p:spPr>
          <a:xfrm>
            <a:off x="1143000" y="8325817"/>
            <a:ext cx="16002000" cy="908670"/>
          </a:xfrm>
          <a:prstGeom prst="roundRect">
            <a:avLst>
              <a:gd fmla="val 1886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5"/>
          <p:cNvSpPr/>
          <p:nvPr/>
        </p:nvSpPr>
        <p:spPr>
          <a:xfrm>
            <a:off x="1524000" y="8573467"/>
            <a:ext cx="157200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의 결정 테스트를 </a:t>
            </a: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문서로 만든 것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입니다. 대시보드 착수 전에 만드는 게 이상적입니다.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5"/>
          <p:cNvSpPr/>
          <p:nvPr/>
        </p:nvSpPr>
        <p:spPr>
          <a:xfrm>
            <a:off x="1143000" y="9386888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"이 지표가 지원하는 결정"이 빈칸이면 필요성과 사용 목적을 다시 검토합니다. 핸즈온 세션에서 각자 채웁니다.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6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6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6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6"/>
          <p:cNvSpPr/>
          <p:nvPr/>
        </p:nvSpPr>
        <p:spPr>
          <a:xfrm>
            <a:off x="1143000" y="320226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6"/>
          <p:cNvSpPr/>
          <p:nvPr/>
        </p:nvSpPr>
        <p:spPr>
          <a:xfrm>
            <a:off x="1143000" y="261461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6"/>
          <p:cNvSpPr/>
          <p:nvPr/>
        </p:nvSpPr>
        <p:spPr>
          <a:xfrm>
            <a:off x="1723281" y="2476500"/>
            <a:ext cx="8237934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여섯 안티패턴은 모두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앞 챕터에서 배운 원칙의 위반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6"/>
          <p:cNvSpPr/>
          <p:nvPr/>
        </p:nvSpPr>
        <p:spPr>
          <a:xfrm>
            <a:off x="1143000" y="416614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36"/>
          <p:cNvSpPr/>
          <p:nvPr/>
        </p:nvSpPr>
        <p:spPr>
          <a:xfrm>
            <a:off x="1143000" y="357849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6"/>
          <p:cNvSpPr/>
          <p:nvPr/>
        </p:nvSpPr>
        <p:spPr>
          <a:xfrm>
            <a:off x="1723281" y="3440385"/>
            <a:ext cx="9791551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진단 질문 —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처음 온 사람이 설명 없이 이 화면을 이해할 수 있는가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6"/>
          <p:cNvSpPr/>
          <p:nvPr/>
        </p:nvSpPr>
        <p:spPr>
          <a:xfrm>
            <a:off x="1143000" y="454238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6"/>
          <p:cNvSpPr/>
          <p:nvPr/>
        </p:nvSpPr>
        <p:spPr>
          <a:xfrm>
            <a:off x="1723281" y="4404271"/>
            <a:ext cx="6828056" cy="5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731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결정 지도는 결정 테스트를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문서로 만든 것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6"/>
          <p:cNvSpPr/>
          <p:nvPr/>
        </p:nvSpPr>
        <p:spPr>
          <a:xfrm>
            <a:off x="1143000" y="7367587"/>
            <a:ext cx="16002000" cy="2233613"/>
          </a:xfrm>
          <a:prstGeom prst="roundRect">
            <a:avLst>
              <a:gd fmla="val 7676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36"/>
          <p:cNvSpPr/>
          <p:nvPr/>
        </p:nvSpPr>
        <p:spPr>
          <a:xfrm>
            <a:off x="1524000" y="7672388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6"/>
          <p:cNvSpPr/>
          <p:nvPr/>
        </p:nvSpPr>
        <p:spPr>
          <a:xfrm>
            <a:off x="1524000" y="8120063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"맥락 없는 숫자 벽"의 해법은 어느 챕터에 있는가?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6"/>
          <p:cNvSpPr/>
          <p:nvPr/>
        </p:nvSpPr>
        <p:spPr>
          <a:xfrm>
            <a:off x="1524000" y="8543925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위계가 없는 화면의 증상은?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6"/>
          <p:cNvSpPr/>
          <p:nvPr/>
        </p:nvSpPr>
        <p:spPr>
          <a:xfrm>
            <a:off x="1524000" y="8967788"/>
            <a:ext cx="167640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결정 지도에서 "지원하는 결정"이 빈칸인 지표는 어떻게 하는가?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585C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7"/>
          <p:cNvSpPr/>
          <p:nvPr/>
        </p:nvSpPr>
        <p:spPr>
          <a:xfrm>
            <a:off x="1143000" y="3085207"/>
            <a:ext cx="17602200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CHAPTER 07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7"/>
          <p:cNvSpPr/>
          <p:nvPr/>
        </p:nvSpPr>
        <p:spPr>
          <a:xfrm>
            <a:off x="1143000" y="3661470"/>
            <a:ext cx="17602200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8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상호작용 · 상태 · 성능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7"/>
          <p:cNvSpPr/>
          <p:nvPr/>
        </p:nvSpPr>
        <p:spPr>
          <a:xfrm>
            <a:off x="1143000" y="5143500"/>
            <a:ext cx="13735050" cy="11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09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매일 쓰는 도구로. 여기서부터는 화면 설계를 넘어 구현 실무입니다. </a:t>
            </a: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반복 사용을 지원하는 구현 요소를 살펴봅니다.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7"/>
          <p:cNvSpPr/>
          <p:nvPr/>
        </p:nvSpPr>
        <p:spPr>
          <a:xfrm>
            <a:off x="1143000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1 역할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7"/>
          <p:cNvSpPr/>
          <p:nvPr/>
        </p:nvSpPr>
        <p:spPr>
          <a:xfrm>
            <a:off x="239084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2 유형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7"/>
          <p:cNvSpPr/>
          <p:nvPr/>
        </p:nvSpPr>
        <p:spPr>
          <a:xfrm>
            <a:off x="3638699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3 지표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7"/>
          <p:cNvSpPr/>
          <p:nvPr/>
        </p:nvSpPr>
        <p:spPr>
          <a:xfrm>
            <a:off x="488654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4 위계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7"/>
          <p:cNvSpPr/>
          <p:nvPr/>
        </p:nvSpPr>
        <p:spPr>
          <a:xfrm>
            <a:off x="6134398" y="6816030"/>
            <a:ext cx="1057349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5 사례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7"/>
          <p:cNvSpPr/>
          <p:nvPr/>
        </p:nvSpPr>
        <p:spPr>
          <a:xfrm>
            <a:off x="7382247" y="6816030"/>
            <a:ext cx="146930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6 안티패턴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7"/>
          <p:cNvSpPr/>
          <p:nvPr/>
        </p:nvSpPr>
        <p:spPr>
          <a:xfrm>
            <a:off x="9042053" y="7173218"/>
            <a:ext cx="981149" cy="2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7"/>
          <p:cNvSpPr/>
          <p:nvPr/>
        </p:nvSpPr>
        <p:spPr>
          <a:xfrm>
            <a:off x="9042053" y="6816030"/>
            <a:ext cx="1057349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 7 실무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8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7 · 상호작용 ①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8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유용한 기본 화면과 목적에 맞는 상호작용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8"/>
          <p:cNvSpPr/>
          <p:nvPr/>
        </p:nvSpPr>
        <p:spPr>
          <a:xfrm>
            <a:off x="3038475" y="2286000"/>
            <a:ext cx="12211050" cy="4547443"/>
          </a:xfrm>
          <a:prstGeom prst="roundRect">
            <a:avLst>
              <a:gd fmla="val 4189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4" name="Google Shape;7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0" y="2295525"/>
            <a:ext cx="12192000" cy="4528393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38"/>
          <p:cNvSpPr/>
          <p:nvPr/>
        </p:nvSpPr>
        <p:spPr>
          <a:xfrm>
            <a:off x="1143000" y="7204770"/>
            <a:ext cx="16002000" cy="1405830"/>
          </a:xfrm>
          <a:custGeom>
            <a:rect b="b" l="l" r="r" t="t"/>
            <a:pathLst>
              <a:path extrusionOk="0" h="1405830" w="16002000">
                <a:moveTo>
                  <a:pt x="0" y="0"/>
                </a:moveTo>
                <a:lnTo>
                  <a:pt x="16002000" y="0"/>
                </a:lnTo>
                <a:lnTo>
                  <a:pt x="16002000" y="1234380"/>
                </a:lnTo>
                <a:cubicBezTo>
                  <a:pt x="16002000" y="1329069"/>
                  <a:pt x="15925239" y="1405830"/>
                  <a:pt x="15830550" y="1405830"/>
                </a:cubicBezTo>
                <a:lnTo>
                  <a:pt x="171450" y="1405830"/>
                </a:lnTo>
                <a:cubicBezTo>
                  <a:pt x="76761" y="1405830"/>
                  <a:pt x="0" y="1329069"/>
                  <a:pt x="0" y="123438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8"/>
          <p:cNvSpPr/>
          <p:nvPr/>
        </p:nvSpPr>
        <p:spPr>
          <a:xfrm>
            <a:off x="1143000" y="7204770"/>
            <a:ext cx="160020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8"/>
          <p:cNvSpPr/>
          <p:nvPr/>
        </p:nvSpPr>
        <p:spPr>
          <a:xfrm>
            <a:off x="1466850" y="7509570"/>
            <a:ext cx="15834360" cy="89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108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탐색 질문에는 필터가 필요할 수 있습니다. 기본 화면의 목적과 범위를 명확히 합니다. </a:t>
            </a:r>
            <a:r>
              <a:rPr b="1" i="0" lang="en-US" sz="24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아무것도 클릭하지 않은 상태 </a:t>
            </a:r>
            <a:r>
              <a:rPr b="1" i="0" lang="en-US" sz="2400" u="none" cap="none" strike="noStrike">
                <a:solidFill>
                  <a:srgbClr val="030712"/>
                </a:solidFill>
                <a:highlight>
                  <a:srgbClr val="FFF2F2"/>
                </a:highlight>
                <a:latin typeface="Arial"/>
                <a:ea typeface="Arial"/>
                <a:cs typeface="Arial"/>
                <a:sym typeface="Arial"/>
              </a:rPr>
              <a:t>가 이미 유용해야 합니다.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8"/>
          <p:cNvSpPr/>
          <p:nvPr/>
        </p:nvSpPr>
        <p:spPr>
          <a:xfrm>
            <a:off x="1143000" y="8763000"/>
            <a:ext cx="1648206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기본 뷰 — 주요 상태와 범위 파악 →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필터 · 드릴다운 — 탐색 지원 →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3 </a:t>
            </a: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커스터마이즈 — 사용자별 업무 지원. 기본 화면의 이해도와 탐색 과제의 완료 여부를 함께 검증합니다.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8"/>
          <p:cNvSpPr/>
          <p:nvPr/>
        </p:nvSpPr>
        <p:spPr>
          <a:xfrm>
            <a:off x="1143000" y="9477375"/>
            <a:ext cx="164820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도식: 세미나용 재구성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9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7 · 상호작용 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9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상호작용의 세 가지 방식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9"/>
          <p:cNvSpPr/>
          <p:nvPr/>
        </p:nvSpPr>
        <p:spPr>
          <a:xfrm>
            <a:off x="1143000" y="3086546"/>
            <a:ext cx="7734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39"/>
          <p:cNvSpPr/>
          <p:nvPr/>
        </p:nvSpPr>
        <p:spPr>
          <a:xfrm>
            <a:off x="1143000" y="2476500"/>
            <a:ext cx="7966329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필터 </a:t>
            </a: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조건으로 데이터 범위를 좁힘 (기간 · 세그먼트)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39"/>
          <p:cNvSpPr/>
          <p:nvPr/>
        </p:nvSpPr>
        <p:spPr>
          <a:xfrm>
            <a:off x="1143000" y="4316164"/>
            <a:ext cx="7734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9"/>
          <p:cNvSpPr/>
          <p:nvPr/>
        </p:nvSpPr>
        <p:spPr>
          <a:xfrm>
            <a:off x="1143000" y="3305621"/>
            <a:ext cx="7966329" cy="8390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드릴다운 </a:t>
            </a: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요약에서 상세로 한 단계 내려감 (채널 → 캠페인 → 개별 광고)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9"/>
          <p:cNvSpPr/>
          <p:nvPr/>
        </p:nvSpPr>
        <p:spPr>
          <a:xfrm>
            <a:off x="1143000" y="4535239"/>
            <a:ext cx="7966329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크로스필터 </a:t>
            </a: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한 차트를 클릭하면 다른 차트들이 연동해 필터됨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9"/>
          <p:cNvSpPr/>
          <p:nvPr/>
        </p:nvSpPr>
        <p:spPr>
          <a:xfrm>
            <a:off x="9410700" y="2476500"/>
            <a:ext cx="7734300" cy="2012603"/>
          </a:xfrm>
          <a:custGeom>
            <a:rect b="b" l="l" r="r" t="t"/>
            <a:pathLst>
              <a:path extrusionOk="0" h="2012603" w="7734300">
                <a:moveTo>
                  <a:pt x="0" y="0"/>
                </a:moveTo>
                <a:lnTo>
                  <a:pt x="7734300" y="0"/>
                </a:lnTo>
                <a:lnTo>
                  <a:pt x="7734300" y="1841153"/>
                </a:lnTo>
                <a:cubicBezTo>
                  <a:pt x="7734300" y="1935842"/>
                  <a:pt x="7657539" y="2012603"/>
                  <a:pt x="7562850" y="2012603"/>
                </a:cubicBezTo>
                <a:lnTo>
                  <a:pt x="171450" y="2012603"/>
                </a:lnTo>
                <a:cubicBezTo>
                  <a:pt x="76761" y="2012603"/>
                  <a:pt x="0" y="1935842"/>
                  <a:pt x="0" y="1841153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39"/>
          <p:cNvSpPr/>
          <p:nvPr/>
        </p:nvSpPr>
        <p:spPr>
          <a:xfrm>
            <a:off x="9410700" y="2476500"/>
            <a:ext cx="77343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9"/>
          <p:cNvSpPr/>
          <p:nvPr/>
        </p:nvSpPr>
        <p:spPr>
          <a:xfrm>
            <a:off x="9753600" y="2838450"/>
            <a:ext cx="7259955" cy="921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405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분석형은 셋 다 풍부하게, 전략형은 최소한으로, 운영형은 알림·임계값 위주로.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9"/>
          <p:cNvSpPr/>
          <p:nvPr/>
        </p:nvSpPr>
        <p:spPr>
          <a:xfrm>
            <a:off x="9753600" y="3855690"/>
            <a:ext cx="77533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2의 유형을 참고하되 과제에 맞게 조정합니다.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9"/>
          <p:cNvSpPr/>
          <p:nvPr/>
        </p:nvSpPr>
        <p:spPr>
          <a:xfrm>
            <a:off x="9410700" y="4736753"/>
            <a:ext cx="796632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크로스필터는 유형보다 </a:t>
            </a:r>
            <a:r>
              <a:rPr b="1" i="0" lang="en-US" sz="19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사용자 과제와 숙련도 </a:t>
            </a: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에 맞춰 선택합니다. 선택 상태와 초기화 방법을 명확히 표시합니다.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0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7 · 상태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0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대시보드의 네 가지 상태를 설계하세요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0"/>
          <p:cNvSpPr/>
          <p:nvPr/>
        </p:nvSpPr>
        <p:spPr>
          <a:xfrm>
            <a:off x="1143000" y="2095500"/>
            <a:ext cx="1760220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"정상 상태" 외에 데이터 대기·부재·실패도 고려합니다.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40"/>
          <p:cNvSpPr/>
          <p:nvPr/>
        </p:nvSpPr>
        <p:spPr>
          <a:xfrm>
            <a:off x="1704975" y="2738438"/>
            <a:ext cx="14878050" cy="4005560"/>
          </a:xfrm>
          <a:prstGeom prst="roundRect">
            <a:avLst>
              <a:gd fmla="val 4756" name="adj"/>
            </a:avLst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6" name="Google Shape;82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4500" y="2747963"/>
            <a:ext cx="14859000" cy="398651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40"/>
          <p:cNvSpPr/>
          <p:nvPr/>
        </p:nvSpPr>
        <p:spPr>
          <a:xfrm>
            <a:off x="1143000" y="8402017"/>
            <a:ext cx="16002000" cy="908670"/>
          </a:xfrm>
          <a:prstGeom prst="roundRect">
            <a:avLst>
              <a:gd fmla="val 18868" name="adj"/>
            </a:avLst>
          </a:prstGeom>
          <a:solidFill>
            <a:srgbClr val="0307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0"/>
          <p:cNvSpPr/>
          <p:nvPr/>
        </p:nvSpPr>
        <p:spPr>
          <a:xfrm>
            <a:off x="1524000" y="8649667"/>
            <a:ext cx="15720060" cy="4514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254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"데이터 없음"과 "값이 0"은 다릅니다. </a:t>
            </a:r>
            <a:r>
              <a:rPr b="1" i="0" lang="en-US" sz="2325" u="none" cap="none" strike="noStrike">
                <a:solidFill>
                  <a:srgbClr val="FFFFFF"/>
                </a:solidFill>
                <a:highlight>
                  <a:srgbClr val="030712"/>
                </a:highlight>
                <a:latin typeface="Arial"/>
                <a:ea typeface="Arial"/>
                <a:cs typeface="Arial"/>
                <a:sym typeface="Arial"/>
              </a:rPr>
              <a:t>그리고 "언제 데이터인가"(신선도)가 신뢰의 핵심입니다.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0"/>
          <p:cNvSpPr/>
          <p:nvPr/>
        </p:nvSpPr>
        <p:spPr>
          <a:xfrm>
            <a:off x="1143000" y="9463087"/>
            <a:ext cx="1648206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로딩 진행 안내·스켈레톤 등 · 빈 상태 명확한 안내 · 오류 실패 메시지 + 다시 시도 · 정상 </a:t>
            </a: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갱신 시각 표시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8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1"/>
          <p:cNvSpPr/>
          <p:nvPr/>
        </p:nvSpPr>
        <p:spPr>
          <a:xfrm>
            <a:off x="1143000" y="8382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7 · 성능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41"/>
          <p:cNvSpPr/>
          <p:nvPr/>
        </p:nvSpPr>
        <p:spPr>
          <a:xfrm>
            <a:off x="1143000" y="12954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응답 속도와 반복 사용성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41"/>
          <p:cNvSpPr/>
          <p:nvPr/>
        </p:nvSpPr>
        <p:spPr>
          <a:xfrm>
            <a:off x="1143000" y="3487043"/>
            <a:ext cx="7734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41"/>
          <p:cNvSpPr/>
          <p:nvPr/>
        </p:nvSpPr>
        <p:spPr>
          <a:xfrm>
            <a:off x="1143000" y="2476500"/>
            <a:ext cx="7966329" cy="8390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응답 지연은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사용 흐름을 방해할 수 있습니다. </a:t>
            </a: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성능도 사용성의 일부입니다.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41"/>
          <p:cNvSpPr/>
          <p:nvPr/>
        </p:nvSpPr>
        <p:spPr>
          <a:xfrm>
            <a:off x="1143000" y="4316164"/>
            <a:ext cx="77343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1"/>
          <p:cNvSpPr/>
          <p:nvPr/>
        </p:nvSpPr>
        <p:spPr>
          <a:xfrm>
            <a:off x="1143000" y="3706118"/>
            <a:ext cx="7966329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무거운 쿼리는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사전 집계</a:t>
            </a: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로, 실시간이 꼭 필요한 것만 실시간으로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1"/>
          <p:cNvSpPr/>
          <p:nvPr/>
        </p:nvSpPr>
        <p:spPr>
          <a:xfrm>
            <a:off x="1143000" y="4535239"/>
            <a:ext cx="7966329" cy="4385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522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초기 로드는 핵심 KPI 먼저, 상세는 </a:t>
            </a:r>
            <a:r>
              <a:rPr b="1" i="0" lang="en-US" sz="21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지연 로딩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41"/>
          <p:cNvSpPr/>
          <p:nvPr/>
        </p:nvSpPr>
        <p:spPr>
          <a:xfrm>
            <a:off x="9410700" y="2476500"/>
            <a:ext cx="7734300" cy="2067818"/>
          </a:xfrm>
          <a:custGeom>
            <a:rect b="b" l="l" r="r" t="t"/>
            <a:pathLst>
              <a:path extrusionOk="0" h="2067818" w="7734300">
                <a:moveTo>
                  <a:pt x="0" y="0"/>
                </a:moveTo>
                <a:lnTo>
                  <a:pt x="7734300" y="0"/>
                </a:lnTo>
                <a:lnTo>
                  <a:pt x="7734300" y="1896368"/>
                </a:lnTo>
                <a:cubicBezTo>
                  <a:pt x="7734300" y="1991057"/>
                  <a:pt x="7657539" y="2067818"/>
                  <a:pt x="7562850" y="2067818"/>
                </a:cubicBezTo>
                <a:lnTo>
                  <a:pt x="171450" y="2067818"/>
                </a:lnTo>
                <a:cubicBezTo>
                  <a:pt x="76761" y="2067818"/>
                  <a:pt x="0" y="1991057"/>
                  <a:pt x="0" y="1896368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1"/>
          <p:cNvSpPr/>
          <p:nvPr/>
        </p:nvSpPr>
        <p:spPr>
          <a:xfrm>
            <a:off x="9410700" y="2476500"/>
            <a:ext cx="7734300" cy="57150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41"/>
          <p:cNvSpPr/>
          <p:nvPr/>
        </p:nvSpPr>
        <p:spPr>
          <a:xfrm>
            <a:off x="9753600" y="2838450"/>
            <a:ext cx="7259955" cy="9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6410"/>
              </a:lnSpc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주요 업무의 완료 시간과 오류 </a:t>
            </a:r>
            <a:r>
              <a:rPr b="1" i="0" lang="en-US" sz="25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를 살펴 반복 사용성을 평가합니다.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41"/>
          <p:cNvSpPr/>
          <p:nvPr/>
        </p:nvSpPr>
        <p:spPr>
          <a:xfrm>
            <a:off x="9753600" y="3910905"/>
            <a:ext cx="77533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실제 업무에서 반복해 사용하는 과제로 검증합니다.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41"/>
          <p:cNvSpPr/>
          <p:nvPr/>
        </p:nvSpPr>
        <p:spPr>
          <a:xfrm>
            <a:off x="9410700" y="4791968"/>
            <a:ext cx="7966329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시각적 완성도와 응답 속도를 함께 고려합니다. 실제 업무에서 반복해 사용하는 과제로 검증합니다.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42"/>
          <p:cNvSpPr/>
          <p:nvPr/>
        </p:nvSpPr>
        <p:spPr>
          <a:xfrm>
            <a:off x="1143000" y="7620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CH 7 요약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42"/>
          <p:cNvSpPr/>
          <p:nvPr/>
        </p:nvSpPr>
        <p:spPr>
          <a:xfrm>
            <a:off x="1143000" y="1219200"/>
            <a:ext cx="17602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정리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2"/>
          <p:cNvSpPr/>
          <p:nvPr/>
        </p:nvSpPr>
        <p:spPr>
          <a:xfrm>
            <a:off x="1143000" y="2967930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42"/>
          <p:cNvSpPr/>
          <p:nvPr/>
        </p:nvSpPr>
        <p:spPr>
          <a:xfrm>
            <a:off x="1143000" y="243363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42"/>
          <p:cNvSpPr/>
          <p:nvPr/>
        </p:nvSpPr>
        <p:spPr>
          <a:xfrm>
            <a:off x="1723281" y="2324100"/>
            <a:ext cx="7064946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아무것도 클릭하지 않은 상태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 이미 유용해야 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2"/>
          <p:cNvSpPr/>
          <p:nvPr/>
        </p:nvSpPr>
        <p:spPr>
          <a:xfrm>
            <a:off x="1143000" y="3811786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2"/>
          <p:cNvSpPr/>
          <p:nvPr/>
        </p:nvSpPr>
        <p:spPr>
          <a:xfrm>
            <a:off x="1143000" y="3277493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42"/>
          <p:cNvSpPr/>
          <p:nvPr/>
        </p:nvSpPr>
        <p:spPr>
          <a:xfrm>
            <a:off x="1723281" y="3167955"/>
            <a:ext cx="9447922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필터 · 드릴다운 · 크로스필터는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사용자 과제와 숙련도에 맞게 정한다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42"/>
          <p:cNvSpPr/>
          <p:nvPr/>
        </p:nvSpPr>
        <p:spPr>
          <a:xfrm>
            <a:off x="1143000" y="4655641"/>
            <a:ext cx="16002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42"/>
          <p:cNvSpPr/>
          <p:nvPr/>
        </p:nvSpPr>
        <p:spPr>
          <a:xfrm>
            <a:off x="1143000" y="4121348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42"/>
          <p:cNvSpPr/>
          <p:nvPr/>
        </p:nvSpPr>
        <p:spPr>
          <a:xfrm>
            <a:off x="1723281" y="4011811"/>
            <a:ext cx="9374743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정상 말고 세 상태를 더 설계한다 — </a:t>
            </a: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로딩 · 빈 · 오류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 그리고 신선도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42"/>
          <p:cNvSpPr/>
          <p:nvPr/>
        </p:nvSpPr>
        <p:spPr>
          <a:xfrm>
            <a:off x="1143000" y="4965204"/>
            <a:ext cx="35168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42"/>
          <p:cNvSpPr/>
          <p:nvPr/>
        </p:nvSpPr>
        <p:spPr>
          <a:xfrm>
            <a:off x="1723281" y="4855666"/>
            <a:ext cx="7064946" cy="4914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0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응답 지연을 줄이고 </a:t>
            </a:r>
            <a:r>
              <a:rPr b="0" i="0" lang="en-US" sz="25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실제 업무의 사용성을 검증한다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42"/>
          <p:cNvSpPr/>
          <p:nvPr/>
        </p:nvSpPr>
        <p:spPr>
          <a:xfrm>
            <a:off x="1143000" y="7639050"/>
            <a:ext cx="16002000" cy="2038350"/>
          </a:xfrm>
          <a:prstGeom prst="roundRect">
            <a:avLst>
              <a:gd fmla="val 8411" name="adj"/>
            </a:avLst>
          </a:pr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42"/>
          <p:cNvSpPr/>
          <p:nvPr/>
        </p:nvSpPr>
        <p:spPr>
          <a:xfrm>
            <a:off x="1524000" y="7905750"/>
            <a:ext cx="16764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확인 질문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42"/>
          <p:cNvSpPr/>
          <p:nvPr/>
        </p:nvSpPr>
        <p:spPr>
          <a:xfrm>
            <a:off x="1524000" y="8315325"/>
            <a:ext cx="16764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기본 화면과 탐색 기능의 유용성을 어떻게 검증하는가?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2"/>
          <p:cNvSpPr/>
          <p:nvPr/>
        </p:nvSpPr>
        <p:spPr>
          <a:xfrm>
            <a:off x="1524000" y="8705850"/>
            <a:ext cx="16764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"데이터 없음"과 "값이 0"을 구분해야 하는 이유는?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2"/>
          <p:cNvSpPr/>
          <p:nvPr/>
        </p:nvSpPr>
        <p:spPr>
          <a:xfrm>
            <a:off x="1524000" y="9096375"/>
            <a:ext cx="167640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크로스필터 도입 여부는 어떤 기준으로 판단하는가?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3"/>
          <p:cNvSpPr/>
          <p:nvPr/>
        </p:nvSpPr>
        <p:spPr>
          <a:xfrm>
            <a:off x="1143000" y="6858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1950">
                <a:solidFill>
                  <a:srgbClr val="F7585C"/>
                </a:solidFill>
              </a:rPr>
              <a:t>4</a:t>
            </a: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를 마치며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43"/>
          <p:cNvSpPr/>
          <p:nvPr/>
        </p:nvSpPr>
        <p:spPr>
          <a:xfrm>
            <a:off x="1143000" y="1123950"/>
            <a:ext cx="17602200" cy="7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87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대시보드를 만들기 전에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3"/>
          <p:cNvSpPr/>
          <p:nvPr/>
        </p:nvSpPr>
        <p:spPr>
          <a:xfrm>
            <a:off x="1143000" y="1916385"/>
            <a:ext cx="176022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일곱 챕터가 여섯 문항으로 남습니다.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3"/>
          <p:cNvSpPr/>
          <p:nvPr/>
        </p:nvSpPr>
        <p:spPr>
          <a:xfrm>
            <a:off x="1143000" y="2511698"/>
            <a:ext cx="16002000" cy="1019175"/>
          </a:xfrm>
          <a:prstGeom prst="roundRect">
            <a:avLst>
              <a:gd fmla="val 1495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43"/>
          <p:cNvSpPr/>
          <p:nvPr/>
        </p:nvSpPr>
        <p:spPr>
          <a:xfrm>
            <a:off x="1428750" y="2883173"/>
            <a:ext cx="40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43"/>
          <p:cNvSpPr/>
          <p:nvPr/>
        </p:nvSpPr>
        <p:spPr>
          <a:xfrm>
            <a:off x="2000250" y="2687910"/>
            <a:ext cx="3689472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전략 / 분석 / 운영 중 무엇인가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3"/>
          <p:cNvSpPr/>
          <p:nvPr/>
        </p:nvSpPr>
        <p:spPr>
          <a:xfrm>
            <a:off x="2000250" y="3068910"/>
            <a:ext cx="155413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주요 사용자와 사용 목적이 명확한가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3"/>
          <p:cNvSpPr/>
          <p:nvPr/>
        </p:nvSpPr>
        <p:spPr>
          <a:xfrm>
            <a:off x="16376377" y="2890317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43"/>
          <p:cNvSpPr/>
          <p:nvPr/>
        </p:nvSpPr>
        <p:spPr>
          <a:xfrm>
            <a:off x="1143000" y="3645173"/>
            <a:ext cx="16002000" cy="1019175"/>
          </a:xfrm>
          <a:prstGeom prst="roundRect">
            <a:avLst>
              <a:gd fmla="val 1495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43"/>
          <p:cNvSpPr/>
          <p:nvPr/>
        </p:nvSpPr>
        <p:spPr>
          <a:xfrm>
            <a:off x="1428750" y="4016648"/>
            <a:ext cx="40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43"/>
          <p:cNvSpPr/>
          <p:nvPr/>
        </p:nvSpPr>
        <p:spPr>
          <a:xfrm>
            <a:off x="2000250" y="3821385"/>
            <a:ext cx="4155802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각 지표의 용도와 정의가 명확한가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3"/>
          <p:cNvSpPr/>
          <p:nvPr/>
        </p:nvSpPr>
        <p:spPr>
          <a:xfrm>
            <a:off x="2000250" y="4202385"/>
            <a:ext cx="155413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정의·분모·기간·출처와 사용 목적이 명확한가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3"/>
          <p:cNvSpPr/>
          <p:nvPr/>
        </p:nvSpPr>
        <p:spPr>
          <a:xfrm>
            <a:off x="16376377" y="4023792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43"/>
          <p:cNvSpPr/>
          <p:nvPr/>
        </p:nvSpPr>
        <p:spPr>
          <a:xfrm>
            <a:off x="1143000" y="4778648"/>
            <a:ext cx="16002000" cy="1019175"/>
          </a:xfrm>
          <a:prstGeom prst="roundRect">
            <a:avLst>
              <a:gd fmla="val 1495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43"/>
          <p:cNvSpPr/>
          <p:nvPr/>
        </p:nvSpPr>
        <p:spPr>
          <a:xfrm>
            <a:off x="1428750" y="5150123"/>
            <a:ext cx="40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43"/>
          <p:cNvSpPr/>
          <p:nvPr/>
        </p:nvSpPr>
        <p:spPr>
          <a:xfrm>
            <a:off x="2000250" y="4954860"/>
            <a:ext cx="4427726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핵심 성과와 보조 지표가 구분되는가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43"/>
          <p:cNvSpPr/>
          <p:nvPr/>
        </p:nvSpPr>
        <p:spPr>
          <a:xfrm>
            <a:off x="2000250" y="5335860"/>
            <a:ext cx="155413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맥락(목표 · 추세 · 변화율)과 함께 있는가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43"/>
          <p:cNvSpPr/>
          <p:nvPr/>
        </p:nvSpPr>
        <p:spPr>
          <a:xfrm>
            <a:off x="16376377" y="5157267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43"/>
          <p:cNvSpPr/>
          <p:nvPr/>
        </p:nvSpPr>
        <p:spPr>
          <a:xfrm>
            <a:off x="1143000" y="5912123"/>
            <a:ext cx="16002000" cy="1019175"/>
          </a:xfrm>
          <a:prstGeom prst="roundRect">
            <a:avLst>
              <a:gd fmla="val 1495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43"/>
          <p:cNvSpPr/>
          <p:nvPr/>
        </p:nvSpPr>
        <p:spPr>
          <a:xfrm>
            <a:off x="1428750" y="6283598"/>
            <a:ext cx="40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43"/>
          <p:cNvSpPr/>
          <p:nvPr/>
        </p:nvSpPr>
        <p:spPr>
          <a:xfrm>
            <a:off x="2000250" y="6088335"/>
            <a:ext cx="3252854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핵심 지표가 먼저 보이는가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43"/>
          <p:cNvSpPr/>
          <p:nvPr/>
        </p:nvSpPr>
        <p:spPr>
          <a:xfrm>
            <a:off x="2000250" y="6469335"/>
            <a:ext cx="155413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위계가 있는가, 관련 없는 것을 붙여 놓지 않았는가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43"/>
          <p:cNvSpPr/>
          <p:nvPr/>
        </p:nvSpPr>
        <p:spPr>
          <a:xfrm>
            <a:off x="16376377" y="6290742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43"/>
          <p:cNvSpPr/>
          <p:nvPr/>
        </p:nvSpPr>
        <p:spPr>
          <a:xfrm>
            <a:off x="1143000" y="7045598"/>
            <a:ext cx="16002000" cy="1019175"/>
          </a:xfrm>
          <a:prstGeom prst="roundRect">
            <a:avLst>
              <a:gd fmla="val 1495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43"/>
          <p:cNvSpPr/>
          <p:nvPr/>
        </p:nvSpPr>
        <p:spPr>
          <a:xfrm>
            <a:off x="1428750" y="7417073"/>
            <a:ext cx="40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43"/>
          <p:cNvSpPr/>
          <p:nvPr/>
        </p:nvSpPr>
        <p:spPr>
          <a:xfrm>
            <a:off x="2000250" y="7221810"/>
            <a:ext cx="3524696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기본 화면의 목적이 명확한가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43"/>
          <p:cNvSpPr/>
          <p:nvPr/>
        </p:nvSpPr>
        <p:spPr>
          <a:xfrm>
            <a:off x="2000250" y="7602810"/>
            <a:ext cx="155413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초기 화면과 탐색의 유용성·응답 속도를 확인했는가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43"/>
          <p:cNvSpPr/>
          <p:nvPr/>
        </p:nvSpPr>
        <p:spPr>
          <a:xfrm>
            <a:off x="16376377" y="7424217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43"/>
          <p:cNvSpPr/>
          <p:nvPr/>
        </p:nvSpPr>
        <p:spPr>
          <a:xfrm>
            <a:off x="1143000" y="8179073"/>
            <a:ext cx="16002000" cy="1019175"/>
          </a:xfrm>
          <a:prstGeom prst="roundRect">
            <a:avLst>
              <a:gd fmla="val 1495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43"/>
          <p:cNvSpPr/>
          <p:nvPr/>
        </p:nvSpPr>
        <p:spPr>
          <a:xfrm>
            <a:off x="1428750" y="8550548"/>
            <a:ext cx="4000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43"/>
          <p:cNvSpPr/>
          <p:nvPr/>
        </p:nvSpPr>
        <p:spPr>
          <a:xfrm>
            <a:off x="2000250" y="8355285"/>
            <a:ext cx="6537878" cy="3571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로딩 · 빈 · 오류 · 신선도 상태와 신선도를 고려했는가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43"/>
          <p:cNvSpPr/>
          <p:nvPr/>
        </p:nvSpPr>
        <p:spPr>
          <a:xfrm>
            <a:off x="2000250" y="8736285"/>
            <a:ext cx="1554132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"데이터 없음"과 "값이 0"을 구분했는가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43"/>
          <p:cNvSpPr/>
          <p:nvPr/>
        </p:nvSpPr>
        <p:spPr>
          <a:xfrm>
            <a:off x="16376377" y="8557692"/>
            <a:ext cx="559073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198A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43"/>
          <p:cNvSpPr/>
          <p:nvPr/>
        </p:nvSpPr>
        <p:spPr>
          <a:xfrm>
            <a:off x="1143000" y="9463088"/>
            <a:ext cx="17602200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PART 4 체크리스트(차트 다섯 문항)와 함께 검토합니다. 핸즈온 세션에서 이 여섯 문항으로 각자 대시보드를 스케치합니다.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44"/>
          <p:cNvSpPr/>
          <p:nvPr/>
        </p:nvSpPr>
        <p:spPr>
          <a:xfrm>
            <a:off x="1143000" y="2266504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1950">
                <a:solidFill>
                  <a:srgbClr val="F7585C"/>
                </a:solidFill>
              </a:rPr>
              <a:t>4</a:t>
            </a: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를 마치며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44"/>
          <p:cNvSpPr/>
          <p:nvPr/>
        </p:nvSpPr>
        <p:spPr>
          <a:xfrm>
            <a:off x="1143000" y="2990404"/>
            <a:ext cx="16482060" cy="1920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9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Arial"/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좋은 대시보드는 필요한 순간에 </a:t>
            </a:r>
            <a:b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7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업무 판단을 돕는 화면</a:t>
            </a:r>
            <a:r>
              <a:rPr b="1" i="0" lang="en-US" sz="5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이다.</a:t>
            </a:r>
            <a:endParaRPr b="0" i="0" sz="5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44"/>
          <p:cNvSpPr/>
          <p:nvPr/>
        </p:nvSpPr>
        <p:spPr>
          <a:xfrm>
            <a:off x="1143000" y="5482084"/>
            <a:ext cx="84658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여기까지 만든 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44"/>
          <p:cNvSpPr/>
          <p:nvPr/>
        </p:nvSpPr>
        <p:spPr>
          <a:xfrm>
            <a:off x="1143000" y="5948809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유형 판정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44"/>
          <p:cNvSpPr/>
          <p:nvPr/>
        </p:nvSpPr>
        <p:spPr>
          <a:xfrm>
            <a:off x="1143000" y="6401246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지표 결정 테스트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44"/>
          <p:cNvSpPr/>
          <p:nvPr/>
        </p:nvSpPr>
        <p:spPr>
          <a:xfrm>
            <a:off x="1143000" y="6853684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위계 규칙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44"/>
          <p:cNvSpPr/>
          <p:nvPr/>
        </p:nvSpPr>
        <p:spPr>
          <a:xfrm>
            <a:off x="1143000" y="7306121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안티패턴 여섯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44"/>
          <p:cNvSpPr/>
          <p:nvPr/>
        </p:nvSpPr>
        <p:spPr>
          <a:xfrm>
            <a:off x="1143000" y="7758559"/>
            <a:ext cx="8465820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체크리스트 여섯 문항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44"/>
          <p:cNvSpPr/>
          <p:nvPr/>
        </p:nvSpPr>
        <p:spPr>
          <a:xfrm>
            <a:off x="9448800" y="5482084"/>
            <a:ext cx="846582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다음으로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44"/>
          <p:cNvSpPr/>
          <p:nvPr/>
        </p:nvSpPr>
        <p:spPr>
          <a:xfrm>
            <a:off x="9448800" y="5948809"/>
            <a:ext cx="7927086" cy="923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핸즈온 세션 </a:t>
            </a:r>
            <a:r>
              <a:rPr b="0" i="0" lang="en-US" sz="23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 결정 지도를 채우고, 대시보드 한 장을 스케치합니다.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44"/>
          <p:cNvSpPr/>
          <p:nvPr/>
        </p:nvSpPr>
        <p:spPr>
          <a:xfrm>
            <a:off x="9448800" y="7025134"/>
            <a:ext cx="792708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64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 4은 채널을 고르는 법, PART 5는 그 채널들을 하나의 결정 도구로 묶는 법.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5"/>
          <p:cNvSpPr/>
          <p:nvPr/>
        </p:nvSpPr>
        <p:spPr>
          <a:xfrm>
            <a:off x="1143000" y="723900"/>
            <a:ext cx="17602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585C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PART </a:t>
            </a:r>
            <a:r>
              <a:rPr b="1" lang="en-US" sz="1950">
                <a:solidFill>
                  <a:srgbClr val="F7585C"/>
                </a:solidFill>
              </a:rPr>
              <a:t>4</a:t>
            </a:r>
            <a:r>
              <a:rPr b="1" i="0" lang="en-US" sz="195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를 마치며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45"/>
          <p:cNvSpPr/>
          <p:nvPr/>
        </p:nvSpPr>
        <p:spPr>
          <a:xfrm>
            <a:off x="1143000" y="1162050"/>
            <a:ext cx="1760220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881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참고 문헌 &amp; 참고 자료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45"/>
          <p:cNvSpPr/>
          <p:nvPr/>
        </p:nvSpPr>
        <p:spPr>
          <a:xfrm>
            <a:off x="1143000" y="2629793"/>
            <a:ext cx="7715250" cy="28575"/>
          </a:xfrm>
          <a:prstGeom prst="rect">
            <a:avLst/>
          </a:prstGeom>
          <a:solidFill>
            <a:srgbClr val="F758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45"/>
          <p:cNvSpPr/>
          <p:nvPr/>
        </p:nvSpPr>
        <p:spPr>
          <a:xfrm>
            <a:off x="1143000" y="2167830"/>
            <a:ext cx="794670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개념적 토대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45"/>
          <p:cNvSpPr/>
          <p:nvPr/>
        </p:nvSpPr>
        <p:spPr>
          <a:xfrm>
            <a:off x="1143000" y="2848868"/>
            <a:ext cx="7946708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Few, S. Information Dashboard Design (2006; 2nd ed. 2013) — 대시보드 유형, 불릿 그래프, 스파크라인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2 · Ch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45"/>
          <p:cNvSpPr/>
          <p:nvPr/>
        </p:nvSpPr>
        <p:spPr>
          <a:xfrm>
            <a:off x="1143000" y="3672780"/>
            <a:ext cx="7946708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Shneiderman, B. (1996). The Eyes Have It — overview → zoom/filter → details on demand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45"/>
          <p:cNvSpPr/>
          <p:nvPr/>
        </p:nvSpPr>
        <p:spPr>
          <a:xfrm>
            <a:off x="1143000" y="4496693"/>
            <a:ext cx="848677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Ries, E. The Lean Startup (2011) — 허영지표(vanity metrics)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5"/>
          <p:cNvSpPr/>
          <p:nvPr/>
        </p:nvSpPr>
        <p:spPr>
          <a:xfrm>
            <a:off x="1143000" y="4975324"/>
            <a:ext cx="7946708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Ellis, S. &amp; Brown, M. Hacking Growth (2017) · Amplitude, The North Star Playbook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5"/>
          <p:cNvSpPr/>
          <p:nvPr/>
        </p:nvSpPr>
        <p:spPr>
          <a:xfrm>
            <a:off x="1143000" y="5799237"/>
            <a:ext cx="7946708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Bryar, C. &amp; Carr, B. Working Backwards (2021) — 통제 가능한 입력지표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5"/>
          <p:cNvSpPr/>
          <p:nvPr/>
        </p:nvSpPr>
        <p:spPr>
          <a:xfrm>
            <a:off x="1143000" y="6623149"/>
            <a:ext cx="8486775" cy="383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Nielsen Norman Group — progressive disclosure, F-패턴 시선 연구 </a:t>
            </a:r>
            <a:r>
              <a:rPr b="0" i="0" lang="en-US" sz="1875" u="none" cap="none" strike="noStrike">
                <a:solidFill>
                  <a:srgbClr val="9198A1"/>
                </a:solidFill>
                <a:latin typeface="Arial"/>
                <a:ea typeface="Arial"/>
                <a:cs typeface="Arial"/>
                <a:sym typeface="Arial"/>
              </a:rPr>
              <a:t>Ch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5"/>
          <p:cNvSpPr/>
          <p:nvPr/>
        </p:nvSpPr>
        <p:spPr>
          <a:xfrm>
            <a:off x="9429750" y="2629793"/>
            <a:ext cx="7715250" cy="2857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5"/>
          <p:cNvSpPr/>
          <p:nvPr/>
        </p:nvSpPr>
        <p:spPr>
          <a:xfrm>
            <a:off x="9429750" y="2167830"/>
            <a:ext cx="794670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연결 자료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45"/>
          <p:cNvSpPr/>
          <p:nvPr/>
        </p:nvSpPr>
        <p:spPr>
          <a:xfrm>
            <a:off x="9429750" y="2848868"/>
            <a:ext cx="848677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PART 4 · 데이터 시각화의 원리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5"/>
          <p:cNvSpPr/>
          <p:nvPr/>
        </p:nvSpPr>
        <p:spPr>
          <a:xfrm>
            <a:off x="9429750" y="3253680"/>
            <a:ext cx="28575" cy="1150441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45"/>
          <p:cNvSpPr/>
          <p:nvPr/>
        </p:nvSpPr>
        <p:spPr>
          <a:xfrm>
            <a:off x="9667875" y="3253680"/>
            <a:ext cx="822483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채널 선택 — 사람이 정확하게 읽는 순서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P4 Ch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5"/>
          <p:cNvSpPr/>
          <p:nvPr/>
        </p:nvSpPr>
        <p:spPr>
          <a:xfrm>
            <a:off x="9667875" y="3668911"/>
            <a:ext cx="822483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왜곡 방지 — 기준선 · 이중축 · 누적 · 지도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P4 Ch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5"/>
          <p:cNvSpPr/>
          <p:nvPr/>
        </p:nvSpPr>
        <p:spPr>
          <a:xfrm>
            <a:off x="9667875" y="4084141"/>
            <a:ext cx="822483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2182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색의 네 가지 일 — 분류 · 크기 · 강조 · 의미 </a:t>
            </a:r>
            <a:r>
              <a:rPr b="0" i="0" lang="en-US" sz="1800" u="none" cap="none" strike="noStrike">
                <a:solidFill>
                  <a:srgbClr val="F7585C"/>
                </a:solidFill>
                <a:latin typeface="Arial"/>
                <a:ea typeface="Arial"/>
                <a:cs typeface="Arial"/>
                <a:sym typeface="Arial"/>
              </a:rPr>
              <a:t>P4 Ch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5"/>
          <p:cNvSpPr/>
          <p:nvPr/>
        </p:nvSpPr>
        <p:spPr>
          <a:xfrm>
            <a:off x="9429750" y="4594622"/>
            <a:ext cx="848677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신유진, 요즘IT 「데이터 시각화 101」 ①~⑤ — 기초 시각화 원리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5"/>
          <p:cNvSpPr/>
          <p:nvPr/>
        </p:nvSpPr>
        <p:spPr>
          <a:xfrm>
            <a:off x="9429750" y="4980384"/>
            <a:ext cx="8486775" cy="3286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30712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도구 </a:t>
            </a:r>
            <a:r>
              <a:rPr b="0" i="0" lang="en-US" sz="1875" u="none" cap="none" strike="noStrike">
                <a:solidFill>
                  <a:srgbClr val="030712"/>
                </a:solidFill>
                <a:latin typeface="Arial"/>
                <a:ea typeface="Arial"/>
                <a:cs typeface="Arial"/>
                <a:sym typeface="Arial"/>
              </a:rPr>
              <a:t>— ColorBrewer · Chroma.js · Coblis · Colorable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45"/>
          <p:cNvSpPr/>
          <p:nvPr/>
        </p:nvSpPr>
        <p:spPr>
          <a:xfrm>
            <a:off x="1143000" y="8610600"/>
            <a:ext cx="16002000" cy="1143000"/>
          </a:xfrm>
          <a:prstGeom prst="roundRect">
            <a:avLst>
              <a:gd fmla="val 13333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45"/>
          <p:cNvSpPr/>
          <p:nvPr/>
        </p:nvSpPr>
        <p:spPr>
          <a:xfrm>
            <a:off x="1447800" y="8839200"/>
            <a:ext cx="1587246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909"/>
              </a:lnSpc>
              <a:spcBef>
                <a:spcPts val="0"/>
              </a:spcBef>
              <a:spcAft>
                <a:spcPts val="0"/>
              </a:spcAft>
              <a:buClr>
                <a:srgbClr val="5F656C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F656C"/>
                </a:solidFill>
                <a:latin typeface="Arial"/>
                <a:ea typeface="Arial"/>
                <a:cs typeface="Arial"/>
                <a:sym typeface="Arial"/>
              </a:rPr>
              <a:t>본 자료의 모든 대시보드 화면과 도표는 세미나용으로 새로 제작한 가상 예시이며, 특정 제품의 화면을 복제하지 않았습니다. 제품명은 설계 패턴을 설명하기 위한 예시이며 해당 회사의 공식 표현이 아닙니다.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