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2228552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대시보드 실습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2976265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2100">
                <a:solidFill>
                  <a:srgbClr val="F7585C"/>
                </a:solidFill>
              </a:rPr>
              <a:t>5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 · CHAPTER 04 · MARKETING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533477"/>
            <a:ext cx="17602200" cy="1167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2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마케팅 성과 대시보드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910361"/>
            <a:ext cx="176022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채널 효율을 비교하고, 다음 1원을 어디에 쓸지 판단해 봅니다.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648548"/>
            <a:ext cx="1524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43000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6850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66850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466850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채널 효율 · 추세 · 예산 배분 설계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78575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902425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02425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제작 실습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02425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Skill 프롬프트로 제작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2014150" y="6162898"/>
            <a:ext cx="5130850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338000" y="6467698"/>
            <a:ext cx="49314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2338000" y="6882036"/>
            <a:ext cx="4931465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2338000" y="7458298"/>
            <a:ext cx="49314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예산 재배분 의사결정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마케팅 성과 대시보드 기획안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질문에 답할지, 왜 이 분석 방법인지, 왜 이렇게 시각화하는지를 먼저 설계해 보겠습니다.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143000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9533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입력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마케팅 데이터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캠페인 데이터는 보통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채널 × 날짜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단위로 쌓이는 편입니다. 여기서 출발해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143000" y="4525268"/>
            <a:ext cx="21907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143000" y="3858518"/>
            <a:ext cx="2409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week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43000" y="4134743"/>
            <a:ext cx="2409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집계 주차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562350" y="4525268"/>
            <a:ext cx="1905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562350" y="3858518"/>
            <a:ext cx="209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channel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562350" y="4134743"/>
            <a:ext cx="209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광고 채널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695950" y="4525268"/>
            <a:ext cx="18859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507355" y="3858518"/>
            <a:ext cx="20745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impressions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507355" y="4134743"/>
            <a:ext cx="20745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노출수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810500" y="4525268"/>
            <a:ext cx="18859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7621905" y="3858518"/>
            <a:ext cx="20745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clicks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621905" y="4134743"/>
            <a:ext cx="20745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클릭수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925050" y="4525268"/>
            <a:ext cx="1905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734550" y="3858518"/>
            <a:ext cx="209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conversions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9734550" y="4134743"/>
            <a:ext cx="209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전환수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2058650" y="4525268"/>
            <a:ext cx="23812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1820525" y="3858518"/>
            <a:ext cx="2619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spend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1820525" y="4134743"/>
            <a:ext cx="2619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광고비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4668500" y="4525268"/>
            <a:ext cx="24765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4420850" y="3858518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revenue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4420850" y="4134743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발생 매출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43000" y="5144393"/>
            <a:ext cx="2190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143000" y="4706243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2026-04-06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562350" y="5144393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562350" y="470624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695950" y="5144393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619750" y="4706243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42,000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810500" y="5144393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734300" y="4706243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2,436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925050" y="5144393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9848850" y="470624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173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2058650" y="5144393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1982450" y="4706243"/>
            <a:ext cx="2457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₩1,023,120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4668500" y="5144393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4592300" y="4706243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₩13,494,000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143000" y="5744468"/>
            <a:ext cx="2190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143000" y="5306318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2026-04-06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562350" y="574446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562350" y="5306318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695950" y="5744468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619750" y="5306318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88,000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810500" y="5744468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734300" y="5306318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3,608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925050" y="574446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9848850" y="5306318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188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2058650" y="5744468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1982450" y="5306318"/>
            <a:ext cx="2457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₩3,535,840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4668500" y="5744468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4592300" y="5306318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₩12,032,000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43000" y="6344543"/>
            <a:ext cx="2190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143000" y="5906393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2026-04-06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562350" y="6344543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562350" y="590639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695950" y="6344543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619750" y="5906393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156,000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810500" y="6344543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734300" y="5906393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3,432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925050" y="6344543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848850" y="590639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2058650" y="6344543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1982450" y="5906393"/>
            <a:ext cx="2457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₩1,784,640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4668500" y="6344543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4592300" y="5906393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₩4,896,000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143000" y="6944618"/>
            <a:ext cx="2190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143000" y="6506468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2026-04-06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562350" y="694461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562350" y="6506468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Retarget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695950" y="6944618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619750" y="6506468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31,000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810500" y="6944618"/>
            <a:ext cx="1885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734300" y="6506468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2,077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925050" y="694461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9848850" y="6506468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195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2058650" y="6944618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1982450" y="6506468"/>
            <a:ext cx="2457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₩1,266,970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4668500" y="6944618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4592300" y="6506468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₩16,185,000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143000" y="7106543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2026-04-06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562350" y="710654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619750" y="7106543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204,000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734300" y="7106543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1,836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848850" y="710654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982450" y="7106543"/>
            <a:ext cx="2457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₩440,640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4592300" y="7106543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₩1,222,000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143000" y="8710613"/>
            <a:ext cx="16002000" cy="966788"/>
          </a:xfrm>
          <a:custGeom>
            <a:rect b="b" l="l" r="r" t="t"/>
            <a:pathLst>
              <a:path extrusionOk="0" h="966788" w="16002000">
                <a:moveTo>
                  <a:pt x="0" y="0"/>
                </a:moveTo>
                <a:lnTo>
                  <a:pt x="16002000" y="0"/>
                </a:lnTo>
                <a:lnTo>
                  <a:pt x="16002000" y="795338"/>
                </a:lnTo>
                <a:cubicBezTo>
                  <a:pt x="16002000" y="890027"/>
                  <a:pt x="15925239" y="966788"/>
                  <a:pt x="15830550" y="966788"/>
                </a:cubicBezTo>
                <a:lnTo>
                  <a:pt x="171450" y="966788"/>
                </a:lnTo>
                <a:cubicBezTo>
                  <a:pt x="76761" y="966788"/>
                  <a:pt x="0" y="890027"/>
                  <a:pt x="0" y="79533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143000" y="8710613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466850" y="9015413"/>
            <a:ext cx="1583436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원본은 이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7개 컬럼</a:t>
            </a: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뿐입니다 — ROAS · CVR · CPA 같은 지표는 모두 이 데이터에서 파생됩니다.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지표 읽기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챕터에서 쓰는 지표를 먼저 정리해 봅니다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퍼널 단계별로 지표의 분모가 달라지므로, 정의를 함께 적어 두면 오해가 줄어듭니다.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143000" y="25878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428750" y="27974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CTR · 클릭률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428750" y="321178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clicks ÷ impressions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소재와 타겟이 시선을 얻었는지 보여 줍니다.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9353550" y="25878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9639300" y="27974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CVR · 전환율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639300" y="321178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conversions ÷ clicks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클릭 이후 랜딩과 오퍼가 설득했는지 보여 줍니다.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143000" y="4307160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1428750" y="4516710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CPA · 전환당 비용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428750" y="4931048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spend ÷ conversions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낮을수록 효율적이며, 전환 정의가 바뀌면 값도 함께 달라집니다.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353550" y="4307160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9639300" y="4516710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ROAS · 광고비 대비 매출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639300" y="4931048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revenue ÷ spend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배수로 읽습니다. 6.15x는 광고비 1원에 매출 6.15원을 뜻합니다.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143000" y="6026423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428750" y="6235973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ROI · 투자수익률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428750" y="665031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(revenue − spend) ÷ spend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ROAS와 달리 비용을 뺀 순수익 관점입니다.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353550" y="6026423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9639300" y="6235973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예산 비중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639300" y="665031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채널별 광고비가 전체에서 차지하는 비율입니다. 효율 순위와 어긋나면 배분을 다시 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143000" y="774568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428750" y="795523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효율 클러스터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428750" y="836957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CTR × CVR 좌표에 채널을 놓고 고효율 · 저효율 군으로 나눠 보는 방식입니다.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353550" y="774568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9639300" y="795523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추세선 · 2주 예측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639300" y="836957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주차별 ROAS에 선형 추세를 얹어 단기 방향을 참고합니다. 예측이라 확정값은 아닙니다.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질문 정의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대시보드가 답할 3가지 질문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먼저 고르기보다, 의사결정자가 묻는 질문에서 시작해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1430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4668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Q1 · 현황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4668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어느 채널이 효율이 좋나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4668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ROAS, CPA, CVR, CTR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4668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ROAS가 낮고 CPA가 높은 채널은 예산 축소를, 높은 채널은 증액을 검토합니다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466850" y="6766024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CTR과 CVR을 분리해 어느 단계가 병목인지 식별합니다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5913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9151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Q2 · 추세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9151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다음 달도 이 흐름인가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9151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주차별 ROAS 시계열 추이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9151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하락 채널은 점검하고, 상승 채널은 유지 또는 확대를 검토합니다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915150" y="6766024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일시적 변동인지 지속되는 추세인지 구분해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20396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23634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Q3 · 구조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23634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비슷한 채널끼리 어떻게 묶이나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2363450" y="542776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CVR × ROAS 좌표, 버블 크기 = 광고비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2363450" y="6275487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고효율군은 확대와 소재 복제, 저효율군은 타겟 개선 후 재평가를 검토합니다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2363450" y="712321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High / Low 효율군을 분리해 그룹 단위로 전략을 통일합니다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문제정의 → 방법론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설정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143000" y="3346549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447800" y="3594199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A · 효율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447800" y="3946624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채널 간 효율 격차 — 어디가 잘 벌고 어디가 새는지 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447800" y="4384774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채널별 ROAS · ROI · 전환수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724900" y="3970437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525000" y="3522762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9829800" y="37704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채널별 성과 비교 (정렬 막대)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9829800" y="42085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효율 순위로 증액 · 축소를 판단합니다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143000" y="5151537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447800" y="5399187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B · 추세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447800" y="57516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효율이 유지되는지 꺾이는지 흐름을 점검합니다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447800" y="61897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주차별 ROAS 시계열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724900" y="5775424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525000" y="5327749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9829800" y="55753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ROAS 시계열 추이 (선)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829800" y="60135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일시적 변동인지 지속 추세인지 구분합니다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43000" y="6956524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447800" y="7204174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C · 배분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447800" y="75565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한정 예산의 채널 배분 — 추가 1원의 행선지를 찾습니다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447800" y="79947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효율 클러스터(CVR×ROAS) · 광고비 비중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8724900" y="7580412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525000" y="7132737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9829800" y="7380387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효율 클러스터 + 재배분 시뮬레이션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829800" y="7818537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군집을 분리한 뒤 재배분안의 예상 매출을 추정합니다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대시보드 레이아웃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 레이아웃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 · 필터 · KPI 카드 6개 · 차트 6개 · 예산 권고 표 — 화면 배치를 먼저 그려 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143000" y="2970312"/>
            <a:ext cx="16002000" cy="985838"/>
          </a:xfrm>
          <a:prstGeom prst="roundRect">
            <a:avLst>
              <a:gd fmla="val 11594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52450" y="3160812"/>
            <a:ext cx="17183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캠페인 성과 대시보드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52450" y="3489424"/>
            <a:ext cx="1718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143000" y="4089499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371600" y="4322862"/>
            <a:ext cx="5046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필터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933426" y="4260949"/>
            <a:ext cx="738411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104876" y="4337149"/>
            <a:ext cx="4717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805187" y="4260949"/>
            <a:ext cx="738411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2976637" y="4337149"/>
            <a:ext cx="4717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676948" y="4260949"/>
            <a:ext cx="936129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3848398" y="4337149"/>
            <a:ext cx="6694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캠페인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143000" y="4994374"/>
            <a:ext cx="2571750" cy="671513"/>
          </a:xfrm>
          <a:prstGeom prst="roundRect">
            <a:avLst>
              <a:gd fmla="val 1702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1218724" y="5184874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전체 ROAS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829050" y="4994374"/>
            <a:ext cx="2571750" cy="671513"/>
          </a:xfrm>
          <a:prstGeom prst="roundRect">
            <a:avLst>
              <a:gd fmla="val 1702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3904774" y="5184874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총 광고비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515100" y="4994374"/>
            <a:ext cx="2571750" cy="671513"/>
          </a:xfrm>
          <a:prstGeom prst="roundRect">
            <a:avLst>
              <a:gd fmla="val 1702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590824" y="5184874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총 매출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9201150" y="4994374"/>
            <a:ext cx="2571750" cy="671513"/>
          </a:xfrm>
          <a:prstGeom prst="roundRect">
            <a:avLst>
              <a:gd fmla="val 1702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9276874" y="5184874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총 전환수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1887200" y="4994374"/>
            <a:ext cx="2571750" cy="671513"/>
          </a:xfrm>
          <a:prstGeom prst="roundRect">
            <a:avLst>
              <a:gd fmla="val 1702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11962924" y="5184874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전체 ROI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4573250" y="4994374"/>
            <a:ext cx="2571750" cy="671513"/>
          </a:xfrm>
          <a:prstGeom prst="roundRect">
            <a:avLst>
              <a:gd fmla="val 1702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14648974" y="5184874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최고 효율 채널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143000" y="5799237"/>
            <a:ext cx="3900488" cy="1347788"/>
          </a:xfrm>
          <a:prstGeom prst="roundRect">
            <a:avLst>
              <a:gd fmla="val 848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115616" y="6180237"/>
            <a:ext cx="39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ROAS 시계열 추이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15616" y="6485037"/>
            <a:ext cx="395525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176838" y="5799237"/>
            <a:ext cx="3900488" cy="1347788"/>
          </a:xfrm>
          <a:prstGeom prst="roundRect">
            <a:avLst>
              <a:gd fmla="val 848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5149453" y="6180237"/>
            <a:ext cx="39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광고비 비중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149453" y="6485037"/>
            <a:ext cx="395525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도넛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9210675" y="5799237"/>
            <a:ext cx="3900488" cy="1347788"/>
          </a:xfrm>
          <a:prstGeom prst="roundRect">
            <a:avLst>
              <a:gd fmla="val 848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9183291" y="6180237"/>
            <a:ext cx="39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채널별 성과 비교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9183291" y="6485037"/>
            <a:ext cx="395525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막대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3244513" y="5799237"/>
            <a:ext cx="3900488" cy="1347788"/>
          </a:xfrm>
          <a:prstGeom prst="roundRect">
            <a:avLst>
              <a:gd fmla="val 8481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3217128" y="6180237"/>
            <a:ext cx="39552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효율 클러스터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3217128" y="6485037"/>
            <a:ext cx="395525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산점도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143000" y="7280374"/>
            <a:ext cx="6103293" cy="1195388"/>
          </a:xfrm>
          <a:prstGeom prst="roundRect">
            <a:avLst>
              <a:gd fmla="val 9562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1005475" y="7585174"/>
            <a:ext cx="63783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전환 퍼널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005475" y="7889974"/>
            <a:ext cx="637834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노출 → 클릭 → 전환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379643" y="7280374"/>
            <a:ext cx="9765357" cy="1195388"/>
          </a:xfrm>
          <a:prstGeom prst="roundRect">
            <a:avLst>
              <a:gd fmla="val 9562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7059015" y="7585174"/>
            <a:ext cx="104066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예산 재배분 시뮬레이션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059015" y="7889974"/>
            <a:ext cx="10406613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슬라이더 ±50%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143000" y="8609112"/>
            <a:ext cx="16002000" cy="723900"/>
          </a:xfrm>
          <a:prstGeom prst="roundRect">
            <a:avLst>
              <a:gd fmla="val 15789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1112520" y="8818662"/>
            <a:ext cx="160629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예산 배분 권고 표 · 채널 / ROAS / CVR / CPA / 현재 비중 / 권고 비중 / 근거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차트 구성과 활용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구성과 활용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분석 의도별로 고른 차트와 그 활용 방법입니다.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143000" y="347424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1409700" y="370284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370284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3848100" y="4172396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채널별 성과 비교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막대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848100" y="463435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채널별 ROAS를 길이로 비교하고 정렬해, 효율이 낮은 채널의 예산을 점검합니다.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9315450" y="347424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9582150" y="370284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150" y="370284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0"/>
          <p:cNvSpPr/>
          <p:nvPr/>
        </p:nvSpPr>
        <p:spPr>
          <a:xfrm>
            <a:off x="12020550" y="4172396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ROAS 시계열 추이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2020550" y="463435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채널별 주간 ROAS에 선형회귀 2주 예측을 얹어, 변동인지 추세인지 구분합니다.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143000" y="631358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1409700" y="654218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00" y="654218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/>
          <p:nvPr/>
        </p:nvSpPr>
        <p:spPr>
          <a:xfrm>
            <a:off x="3848100" y="7011739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효율 클러스터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산점도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3848100" y="7473702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CVR × ROAS 좌표에 광고비를 버블 크기로 얹어 고효율 · 저효율군을 분리합니다.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9315450" y="631358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9582150" y="654218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2150" y="654218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/>
          <p:nvPr/>
        </p:nvSpPr>
        <p:spPr>
          <a:xfrm>
            <a:off x="12020550" y="7011739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광고비 비중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도넛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12020550" y="7473702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채널별 예산 비중(부분과 전체)을 보고, 효율 대비 과다 배분을 점검합니다.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08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CLAUDE.md + Skill로 제작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기획안을 규칙과 절차로 묶어, 프롬프트로 레퍼런스와 같은 품질의 대시보드를 만들어 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143000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2595339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2595339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09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완성 결과 미리보기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완성 대시보드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143000" y="2125935"/>
            <a:ext cx="8319516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Step 1 기획안의 구성 그대로입니다 — 채널 비교 · 시계열 예측 · 클러스터 · 예산 시뮬레이터.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143000" y="3192735"/>
            <a:ext cx="1704529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1333500" y="3307035"/>
            <a:ext cx="139972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ROAS 6.15x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2961829" y="3192735"/>
            <a:ext cx="1951732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3152329" y="3307035"/>
            <a:ext cx="1646932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광고비 ₩52.9M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027861" y="3192735"/>
            <a:ext cx="1455018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5218361" y="3307035"/>
            <a:ext cx="115021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전환 4,573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143000" y="3921398"/>
            <a:ext cx="8077200" cy="906735"/>
          </a:xfrm>
          <a:prstGeom prst="roundRect">
            <a:avLst>
              <a:gd fmla="val 1890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1447800" y="4169048"/>
            <a:ext cx="7709916" cy="4495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6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EDA → 지표 계산 → 레퍼런스 참조 →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143000" y="5037683"/>
            <a:ext cx="831951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데이터만 바꾸고 구조는 고정해 두면, 다음 주차 캠페인도 같은 화면으로 이어서 읽을 수 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9715500" y="2125935"/>
            <a:ext cx="7429500" cy="7307684"/>
          </a:xfrm>
          <a:prstGeom prst="roundRect">
            <a:avLst>
              <a:gd fmla="val 234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5025" y="2135460"/>
            <a:ext cx="7410450" cy="72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2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10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작업 폴더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킷 폴더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대시보드별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폴더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안의 스킬로 작업합니다 — 폴더에서 명령어 한 줄입니다.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143000" y="4104308"/>
            <a:ext cx="9296400" cy="3854351"/>
          </a:xfrm>
          <a:prstGeom prst="roundRect">
            <a:avLst>
              <a:gd fmla="val 4448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1504950" y="4428158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04-marketing/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504950" y="4886251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디자인 규칙(헌법)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504950" y="5344344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504950" y="5802437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build-dashboard/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작업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1504950" y="6260529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templates/reference.html품질 기준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504950" y="6718622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data/campaigns.csv샘플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504950" y="7176715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 output/결과물 생성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0858500" y="4104308"/>
            <a:ext cx="69151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· 킷 폴더에서 실행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0858500" y="4528170"/>
            <a:ext cx="6286500" cy="3699421"/>
          </a:xfrm>
          <a:prstGeom prst="roundRect">
            <a:avLst>
              <a:gd fmla="val 463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11220450" y="485202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킷 폴더로 이동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1220450" y="532254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cd 04-marketing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11220450" y="590736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Claude Code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11220450" y="637788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11220450" y="696270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1220450" y="743322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두 가지 방법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실행 vs 자연어 프롬프트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둘 다 같은 대시보드를 만듭니다 — 방식이 다를 뿐입니다.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143000" y="4358580"/>
            <a:ext cx="7791450" cy="3595688"/>
          </a:xfrm>
          <a:prstGeom prst="roundRect">
            <a:avLst>
              <a:gd fmla="val 4768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152400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스킬 실행 · 한 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524000" y="5172968"/>
            <a:ext cx="773239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1524000" y="57825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폴더의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data/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안 CSV를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자동으로 사용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(기본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campaigns.csv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1524000" y="62683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정해진 5단계 절차를 그대로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1524000" y="67541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 줄이면 되고, 같은 결과를 반복해 얻기 쉽습니다 (재현성)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1524000" y="72398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다른 데이터는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뒤에 경로를 붙여 지정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9353550" y="4358580"/>
            <a:ext cx="7791450" cy="3614738"/>
          </a:xfrm>
          <a:prstGeom prst="roundRect">
            <a:avLst>
              <a:gd fmla="val 474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973455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자연어 프롬프트 · 직접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9734550" y="5172968"/>
            <a:ext cx="77323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가지를 직접 말합니다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9734550" y="58016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"campaigns.csv로"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9734550" y="62873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으로 — "CLAUDE.md 규칙을 따라"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9734550" y="67731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"build-dashboard 스킬로"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9734550" y="72589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 삼아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"reference.html과 같은 구조로"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규칙과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CLAUDE.md + Skill 병행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규칙은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짧게, 절차는 Skill에 단계로 — 역할을 나눠 둡니다.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14300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 · 규칙(헌법)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143000" y="4592985"/>
            <a:ext cx="7791450" cy="3090714"/>
          </a:xfrm>
          <a:prstGeom prst="roundRect">
            <a:avLst>
              <a:gd fmla="val 5547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150495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디자인·KPI 규칙만 짧게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50495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ROAS = revenue/spend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50495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채널 = ROAS 내림차순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50495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KPI 색 = 검정 고정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150495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차트 = reference 그대로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935355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 Skill · 절차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9353550" y="4592985"/>
            <a:ext cx="7791450" cy="3579316"/>
          </a:xfrm>
          <a:prstGeom prst="roundRect">
            <a:avLst>
              <a:gd fmla="val 479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971550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줄이 5단계 수행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971550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 데이터 읽기 (EDA)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971550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 KPI 계산 (실제 숫자)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971550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 reference 구조 흡수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971550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 데이터 주입해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9715500" y="735984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저장 + 예산 권고 요약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/>
          <p:nvPr/>
        </p:nvSpPr>
        <p:spPr>
          <a:xfrm>
            <a:off x="1143000" y="3143473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1143000" y="3719736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 도출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1143000" y="5123334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완성된 대시보드를 읽는 순서와, 실제 캠페인 데이터에서 예산 재배분 결정을 뽑아내는 방법을 살펴봅니다.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143000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2595339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4047679" y="7114952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4047679" y="6757764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읽는 순서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읽기 3단계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1143000" y="2125935"/>
            <a:ext cx="7429500" cy="7307684"/>
          </a:xfrm>
          <a:prstGeom prst="roundRect">
            <a:avLst>
              <a:gd fmla="val 234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135460"/>
            <a:ext cx="7410450" cy="72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7"/>
          <p:cNvSpPr/>
          <p:nvPr/>
        </p:nvSpPr>
        <p:spPr>
          <a:xfrm>
            <a:off x="9067800" y="4381946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9220200" y="4458146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9738940" y="4381946"/>
            <a:ext cx="664322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위에서부터 — 전체 현황 파악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9738940" y="4843909"/>
            <a:ext cx="66432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ROAS 6.15x, 광고비 ₩52.9M, 전환 4,573부터 확인합니다.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9067800" y="5396359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9220200" y="5472559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9738940" y="5396359"/>
            <a:ext cx="736985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중단 — 어느 채널이 매출을 만드나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9738940" y="5858321"/>
            <a:ext cx="73698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채널 비교 막대와 효율 클러스터에서 고효율 · 저효율군을 확인합니다.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9067800" y="6410771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9220200" y="6486971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9738940" y="6410771"/>
            <a:ext cx="610101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하단 — 예산 재배분 결정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9738940" y="6872734"/>
            <a:ext cx="61010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시뮬레이터와 권고 표로 다음 1원의 행선지를 판단합니다.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인사이트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예산 배분과 채널 효율에서 확인된 내용입니다.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1143000" y="2587898"/>
            <a:ext cx="16002000" cy="2524125"/>
          </a:xfrm>
          <a:prstGeom prst="roundRect">
            <a:avLst>
              <a:gd fmla="val 679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1466850" y="28545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2476500" y="28545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예산이 효율과 반대 방향으로 배분되어 있습니다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2476500" y="3311798"/>
            <a:ext cx="14774989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채널별 성과 비교 막대를 보면 Email 13.2배 · Retarget 12.8배인 고효율 2채널이 예산의 31%(₩16.2M)만 받고 있습니다. 반면 Search(3.4배) · SNS(2.7배)에 65%(₩34.2M)가 집행됐습니다. 도넛의 예산 비중과 막대의 ROAS 순위가 어긋나는 모습입니다. 고효율 2채널의 매출 기여는 ₩210M으로 전체의 64% — 예산 비중의 두 배입니다.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2476500" y="4540523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예산 권고 표대로 저효율 채널 예산을 고효율 채널로 이동해 보겠습니다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1143000" y="5302523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1466850" y="5569223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2476500" y="5569223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병목은 클릭 단계가 아니라 전환 단계로 보입니다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2476500" y="6026423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전환 퍼널을 보면 노출 326만 → 클릭 8.8만으로 97.3%가 빠지고, 클릭 → 전환에서 다시 94.8%가 빠집니다. 채널별 CVR 격차도 커서 Retarget 9.4% · Email 7.1%인 반면 SNS 2.8% · Display 1.4%였습니다. 효율 클러스터에서도 두 채널이 고CVR · 고ROAS 군으로 분리됩니다.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2476500" y="6883673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저CVR 채널은 랜딩 · 타겟 개선으로 전환 단계 누수부터 점검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1143000" y="7645673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1466850" y="7912373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2476500" y="7912373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Search 개선 임팩트가 가장 크게 나타납니다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2476500" y="8369573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Search는 예산 42%(₩22.2M)를 쓰면서 ROAS 3.39배 · CPA ₩18,852로 저효율 구간입니다. 권고 표는 현재 41.9% → 27.9%로 14%p 감액을 제시합니다. 다만 집행 규모가 가장 커서, 예산 시뮬레이터에서 Search 예산을 옮겨 보면 전체 매출 변화가 가장 크게 움직입니다.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2476500" y="9226823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검색어 · 타겟 · 소재 개선이 1순위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액션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액션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1143000" y="2278335"/>
            <a:ext cx="16002000" cy="2024062"/>
          </a:xfrm>
          <a:custGeom>
            <a:rect b="b" l="l" r="r" t="t"/>
            <a:pathLst>
              <a:path extrusionOk="0" h="2024062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871663"/>
                </a:lnTo>
                <a:cubicBezTo>
                  <a:pt x="16002000" y="1955831"/>
                  <a:pt x="15933768" y="2024063"/>
                  <a:pt x="15849600" y="2024063"/>
                </a:cubicBezTo>
                <a:lnTo>
                  <a:pt x="0" y="2024062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1143000" y="2278335"/>
            <a:ext cx="57150" cy="202406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1524000" y="2525985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524000" y="2864123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권고 표대로 예산 재배분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1524000" y="3311798"/>
            <a:ext cx="1575606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권고 비중을 따라 Search(42% → 28%) · SNS(23% → 14%)를 줄이고 Email(13% → 23%) · Retarget(18% → 32%)을 늘려 봅니다. 한 번에 옮기기보다 시뮬레이터로 예상 매출을 확인한 뒤 단계적으로 조정하시는 편이 안전합니다.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143000" y="4473848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1143000" y="4473848"/>
            <a:ext cx="57150" cy="165258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1524000" y="4721498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1524000" y="5059635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Search 효율 개선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524000" y="550731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검색어 리포트 기반 제외 키워드 정리, 매치타입 · 품질점수 점검, 소재 교체를 진행합니다. 예산 규모가 커서 개선 임팩트가 가장 큰 편입니다.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143000" y="6297885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1143000" y="6297885"/>
            <a:ext cx="57150" cy="1652588"/>
          </a:xfrm>
          <a:prstGeom prst="rect">
            <a:avLst/>
          </a:prstGeom>
          <a:solidFill>
            <a:srgbClr val="9198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1524000" y="6545535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1524000" y="6883673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고효율 채널 단계 증액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1524000" y="733134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Email · Retarget을 10~20%씩 나눠 늘리고, 다음 주 ROAS 시계열에서 효율이 유지되는지 확인한 뒤 추가 증액합니다. 효율이 꺾이면 중단합니다.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1143000" y="8121923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1143000" y="8121923"/>
            <a:ext cx="57150" cy="16525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1524000" y="8369573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1524000" y="870771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주간 ROAS 추이 모니터링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1524000" y="9155385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ROAS 시계열의 채널별 추이와 2주 예측선을 매주 확인합니다. 저효율 채널이 2주 연속 하락하면 예산을 다시 점검합니다.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