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3000" y="2262857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모두의연구소 · 대시보드 실습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3000" y="3010570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</a:t>
            </a:r>
            <a:r>
              <a:rPr b="1" lang="en-US" sz="2100">
                <a:solidFill>
                  <a:srgbClr val="F7585C"/>
                </a:solidFill>
              </a:rPr>
              <a:t>5</a:t>
            </a: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 · CHAPTER 03 · DATA PM METRIC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3000" y="3567782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프로덕트 지표 분석 대시보드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4876130"/>
            <a:ext cx="17602200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North Star에서 하위 지표까지, 지표 위계로 원인을 좁혀 봅니다.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3000" y="5614318"/>
            <a:ext cx="1524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143000" y="6128668"/>
            <a:ext cx="5130775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66850" y="6433468"/>
            <a:ext cx="493138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466850" y="6847805"/>
            <a:ext cx="4931383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기획안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466850" y="7424068"/>
            <a:ext cx="493138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지표 위계 · 세그먼트 · 이탈 원인 설계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578575" y="6128668"/>
            <a:ext cx="5130775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902425" y="6433468"/>
            <a:ext cx="493138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902425" y="6847805"/>
            <a:ext cx="4931383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제작 실습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902425" y="7424068"/>
            <a:ext cx="493138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Skill 프롬프트로 제작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2014150" y="6128668"/>
            <a:ext cx="5130850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2338000" y="6433468"/>
            <a:ext cx="49314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2338000" y="6847805"/>
            <a:ext cx="4931465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활용 · 인사이트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2338000" y="7424068"/>
            <a:ext cx="49314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원인별 액션 우선순위 결정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1143000" y="3409206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3985468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프로덕트 지표 대시보드 기획안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43000" y="5389066"/>
            <a:ext cx="146685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어떤 질문에 답할지, 왜 이 분석 방법인지, 왜 이렇게 시각화하는지를 먼저 설계해 보겠습니다.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43000" y="6849219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143000" y="6492032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59533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04767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02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입력 데이터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프로덕트 데이터 — 유저 이벤트 로그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리텐션 · 코호트 · 이탈은 </a:t>
            </a: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유저 × 날짜 × 행동 </a:t>
            </a: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단위로 쌓여야 계산할 수 있습니다. 여기서 출발해 보겠습니다.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143000" y="4270474"/>
            <a:ext cx="24765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143000" y="3603724"/>
            <a:ext cx="2724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143000" y="3879949"/>
            <a:ext cx="2724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유저 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924300" y="4270474"/>
            <a:ext cx="3048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924300" y="3603724"/>
            <a:ext cx="3352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event_date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924300" y="3879949"/>
            <a:ext cx="3352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이벤트 날짜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277100" y="4270474"/>
            <a:ext cx="4495800" cy="2857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7277100" y="3603724"/>
            <a:ext cx="49453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277100" y="3879949"/>
            <a:ext cx="49453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행동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2077700" y="4270474"/>
            <a:ext cx="2286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2077700" y="3603724"/>
            <a:ext cx="2514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plan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2077700" y="3879949"/>
            <a:ext cx="2514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구독 플랜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4668500" y="4270474"/>
            <a:ext cx="24765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4668500" y="3603724"/>
            <a:ext cx="2724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segment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4668500" y="3879949"/>
            <a:ext cx="2724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세그먼트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143000" y="4908649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1143000" y="4451449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u_10231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924300" y="4908649"/>
            <a:ext cx="304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924300" y="4451449"/>
            <a:ext cx="3139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2024-06-12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7277100" y="4908649"/>
            <a:ext cx="4495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7277100" y="4451449"/>
            <a:ext cx="46306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payment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077700" y="4908649"/>
            <a:ext cx="2286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12077700" y="4451449"/>
            <a:ext cx="23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4668500" y="4908649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14668500" y="4451449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기존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43000" y="5527774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1143000" y="5070574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u_10231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924300" y="5527774"/>
            <a:ext cx="304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3924300" y="5070574"/>
            <a:ext cx="3139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2024-06-15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277100" y="5527774"/>
            <a:ext cx="4495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277100" y="5070574"/>
            <a:ext cx="46306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2077700" y="5527774"/>
            <a:ext cx="2286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2077700" y="5070574"/>
            <a:ext cx="23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4668500" y="5527774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4668500" y="5070574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기존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143000" y="6146899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1143000" y="5689699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u_10544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924300" y="6146899"/>
            <a:ext cx="304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3924300" y="5689699"/>
            <a:ext cx="3139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2024-06-09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277100" y="6146899"/>
            <a:ext cx="4495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7277100" y="5689699"/>
            <a:ext cx="46306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trial_start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2077700" y="6146899"/>
            <a:ext cx="2286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12077700" y="5689699"/>
            <a:ext cx="23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Free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4668500" y="6146899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14668500" y="5689699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신규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143000" y="6766024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1143000" y="6308824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u_10544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924300" y="6766024"/>
            <a:ext cx="304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3924300" y="6308824"/>
            <a:ext cx="3139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2024-06-16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277100" y="6766024"/>
            <a:ext cx="4495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7277100" y="6308824"/>
            <a:ext cx="46306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cancel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2077700" y="6766024"/>
            <a:ext cx="2286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12077700" y="6308824"/>
            <a:ext cx="23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Free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4668500" y="6766024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4668500" y="6308824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이탈위험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143000" y="6927949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u_10877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924300" y="6927949"/>
            <a:ext cx="3139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2024-06-13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277100" y="6927949"/>
            <a:ext cx="46306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search_fail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2077700" y="6927949"/>
            <a:ext cx="23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Basic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4668500" y="6927949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기존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143000" y="8296275"/>
            <a:ext cx="16002000" cy="1381125"/>
          </a:xfrm>
          <a:custGeom>
            <a:rect b="b" l="l" r="r" t="t"/>
            <a:pathLst>
              <a:path extrusionOk="0" h="1381125" w="16002000">
                <a:moveTo>
                  <a:pt x="0" y="0"/>
                </a:moveTo>
                <a:lnTo>
                  <a:pt x="16002000" y="0"/>
                </a:lnTo>
                <a:lnTo>
                  <a:pt x="16002000" y="1209675"/>
                </a:lnTo>
                <a:cubicBezTo>
                  <a:pt x="16002000" y="1304364"/>
                  <a:pt x="15925239" y="1381125"/>
                  <a:pt x="15830550" y="1381125"/>
                </a:cubicBezTo>
                <a:lnTo>
                  <a:pt x="171450" y="1381125"/>
                </a:lnTo>
                <a:cubicBezTo>
                  <a:pt x="76761" y="1381125"/>
                  <a:pt x="0" y="1304364"/>
                  <a:pt x="0" y="1209675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1143000" y="8296275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1466850" y="8601075"/>
            <a:ext cx="1583436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이 활동 로그(가입 · 로그인 · 결제 · 해지 · 검색)에서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리텐션 · 코호트 · 이탈 · RFM </a:t>
            </a:r>
            <a:r>
              <a:rPr b="1" i="0" lang="en-US" sz="225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을 계산합니다 — 재결제율 · 전환율 같은 비율 지표는 이 이벤트를 집계해 산출합니다.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03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지표 읽기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챕터에서 쓰는 지표를 먼저 정리해 봅니다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비율 지표는 분모를 함께 적어 두면 오해가 줄어듭니다.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143000" y="2587898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428750" y="2797448"/>
            <a:ext cx="794194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North Star Metric (NSM)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428750" y="3192735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제품이 만드는 핵심 가치를 대표하는 지표로, 이 챕터에서는 구독 매출을 씁니다.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9353550" y="2587898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9639300" y="279744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위계 (Primary · Input · Guardrail)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9639300" y="3211785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NSM을 움직이는 상위 지표(Primary), 팀이 직접 움직이는 지표(Input), 함께 나빠지면 안 되는 지표(Guardrail)로 나눕니다.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143000" y="4307160"/>
            <a:ext cx="7791450" cy="1190625"/>
          </a:xfrm>
          <a:prstGeom prst="roundRect">
            <a:avLst>
              <a:gd fmla="val 128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428750" y="4516710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구독자 증감 비율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428750" y="4931048"/>
            <a:ext cx="794194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유입 ÷ 이탈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1보다 크면 순증, 작으면 순감으로 읽습니다.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9353550" y="4307160"/>
            <a:ext cx="7791450" cy="1190625"/>
          </a:xfrm>
          <a:prstGeom prst="roundRect">
            <a:avLst>
              <a:gd fmla="val 128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9639300" y="4516710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재결제율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9639300" y="4931048"/>
            <a:ext cx="794194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1 − 해지율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결제 주기가 돌아온 고객 중 다시 결제한 비율입니다.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143000" y="5669235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428750" y="5878785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체험 전환율 · 구독 전환율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428750" y="6293123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체험 시작(</a:t>
            </a: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trial_start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) 대비 결제(</a:t>
            </a: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payment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) 비율, 그리고 구독까지 이어진 비율입니다.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9353550" y="5669235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9639300" y="5878785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좌절 경험률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639300" y="6293123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검색 실패처럼 사용을 방해한 이벤트를 겪은 사용자 비율입니다. 가드레일로 함께 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143000" y="7388498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428750" y="759804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액티브 리텐션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428750" y="8012385"/>
            <a:ext cx="794194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결제 여부가 아니라 실제 사용(활성) 기준으로 남아 있는 비율입니다.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9353550" y="7388498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9639300" y="759804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RFM 세그먼트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9639300" y="8012385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최근성(Recency) · 빈도(Frequency) · 금액(Monetary)으로 고객을 묶어 보는 방식입니다.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04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질문 정의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대시보드가 답할 3가지 질문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차트를 먼저 고르기보다, 의사결정자가 묻는 질문에서 시작해 보겠습니다.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143000" y="4132362"/>
            <a:ext cx="5105400" cy="4029075"/>
          </a:xfrm>
          <a:prstGeom prst="roundRect">
            <a:avLst>
              <a:gd fmla="val 42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466850" y="4456212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Q1 · 위계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466850" y="4865787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North Star는 어디로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466850" y="5427762"/>
            <a:ext cx="490347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North Star(NSM), Supporting 지표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466850" y="5918299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하위 지표의 기여도를 추적해 NSM 변동의 원인을 좁혀 봅니다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466850" y="6766024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실무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선행 · 후행 지표를 구분해 통제 가능한 영역을 식별합니다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591300" y="4132362"/>
            <a:ext cx="5105400" cy="4029075"/>
          </a:xfrm>
          <a:prstGeom prst="roundRect">
            <a:avLst>
              <a:gd fmla="val 42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915150" y="4456212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Q2 · 원인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915150" y="4865787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왜 움직였나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915150" y="5427762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코호트 잔존, 세그먼트별 이탈 위험, 주차별 이탈 추이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915150" y="6275487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어느 세그먼트 · 시점이 하락을 끌었는지 분해해 봅니다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915150" y="7123212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실무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전체 평균 뒤에 숨은 차이를 세그먼트 · 시점별로 확인합니다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2039600" y="4132362"/>
            <a:ext cx="5105400" cy="4029075"/>
          </a:xfrm>
          <a:prstGeom prst="roundRect">
            <a:avLst>
              <a:gd fmla="val 42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2363450" y="4456212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Q3 · 액션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2363450" y="4865787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무엇을 먼저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2363450" y="5427762"/>
            <a:ext cx="490347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이탈 사유 순위, 설문과 행동의 일치 여부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2363450" y="5918299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순위가 높고 검증된 사유부터 액션을 배정합니다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2363450" y="6766024"/>
            <a:ext cx="4591431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실무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행동으로 검증된 사유와 사용자가 말한(요청 · 설문) 사유를 분리해 우선순위를 정합니다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05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문제정의 → 방법론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설정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143000" y="3346549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1447800" y="3594199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A · 위계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447800" y="3946624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North Star 정체 — 어느 하위 지표가 끌어내리는지 봅니다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447800" y="4384774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NSM, Supporting 지표 기여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724900" y="3970437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525000" y="3522762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9829800" y="3770412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위계 트리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9829800" y="4208562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NS → Primary → Input → Guardrail 기여를 추적합니다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143000" y="5151537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447800" y="5399187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B · 원인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447800" y="5751612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이탈률 상승 — 어느 세그먼트 · 시점인지 좁힙니다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1447800" y="6189762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코호트 잔존, 세그먼트별 이탈 위험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8724900" y="5775424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525000" y="5327749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9829800" y="5575399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코호트 리텐션(선) + RFM 세그먼트(트리맵)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9829800" y="6013549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전체 평균 뒤에 있는 세그먼트 차이를 확인합니다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143000" y="6956524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447800" y="7204174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C · 액션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447800" y="7556599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원인 → 실행 우선순위로 옮깁니다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447800" y="7994749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이탈 사유 순위, 설문×행동 일치 여부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8724900" y="7580412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9525000" y="7132737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9829800" y="7380387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이탈 사유 교차검증 + 액션 우선순위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9829800" y="7818537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검증된 원인부터 우선 배정합니다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06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대시보드 레이아웃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 레이아웃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제목 · 필터 · KPI 카드 · 차트 · 데이터 테이블 — 화면 배치를 먼저 그려 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143000" y="3472755"/>
            <a:ext cx="16002000" cy="985838"/>
          </a:xfrm>
          <a:prstGeom prst="roundRect">
            <a:avLst>
              <a:gd fmla="val 11594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552450" y="3663255"/>
            <a:ext cx="17183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프로덕트 지표 대시보드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52450" y="3991868"/>
            <a:ext cx="17183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143000" y="4591943"/>
            <a:ext cx="16002000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1371600" y="4825305"/>
            <a:ext cx="50467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필터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1933426" y="4763393"/>
            <a:ext cx="936129" cy="428625"/>
          </a:xfrm>
          <a:prstGeom prst="roundRect">
            <a:avLst>
              <a:gd fmla="val 17778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2104876" y="4839593"/>
            <a:ext cx="66942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기준일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143000" y="5496818"/>
            <a:ext cx="2571750" cy="709613"/>
          </a:xfrm>
          <a:prstGeom prst="roundRect">
            <a:avLst>
              <a:gd fmla="val 1610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1218724" y="5706368"/>
            <a:ext cx="242030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구독자 증감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829050" y="5496818"/>
            <a:ext cx="2571750" cy="709613"/>
          </a:xfrm>
          <a:prstGeom prst="roundRect">
            <a:avLst>
              <a:gd fmla="val 1610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3904774" y="5706368"/>
            <a:ext cx="242030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재결제율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515100" y="5496818"/>
            <a:ext cx="2571750" cy="709613"/>
          </a:xfrm>
          <a:prstGeom prst="roundRect">
            <a:avLst>
              <a:gd fmla="val 1610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590824" y="5706368"/>
            <a:ext cx="242030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체험 전환율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9201150" y="5496818"/>
            <a:ext cx="2571750" cy="709613"/>
          </a:xfrm>
          <a:prstGeom prst="roundRect">
            <a:avLst>
              <a:gd fmla="val 1610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9276874" y="5706368"/>
            <a:ext cx="242030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구독 전환율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1887200" y="5496818"/>
            <a:ext cx="2571750" cy="709613"/>
          </a:xfrm>
          <a:prstGeom prst="roundRect">
            <a:avLst>
              <a:gd fmla="val 1610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11962924" y="5706368"/>
            <a:ext cx="242030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좌절 경험률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4573250" y="5496818"/>
            <a:ext cx="2571750" cy="709613"/>
          </a:xfrm>
          <a:prstGeom prst="roundRect">
            <a:avLst>
              <a:gd fmla="val 1610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14648974" y="5706368"/>
            <a:ext cx="242030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액티브 리텐션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143000" y="6339780"/>
            <a:ext cx="3900488" cy="1585913"/>
          </a:xfrm>
          <a:prstGeom prst="roundRect">
            <a:avLst>
              <a:gd fmla="val 720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157526" y="6835080"/>
            <a:ext cx="38714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지표 위계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157526" y="7149405"/>
            <a:ext cx="387143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트리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176838" y="6339780"/>
            <a:ext cx="3900488" cy="1585913"/>
          </a:xfrm>
          <a:prstGeom prst="roundRect">
            <a:avLst>
              <a:gd fmla="val 720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5191363" y="6835080"/>
            <a:ext cx="38714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코호트 리텐션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5191363" y="7149405"/>
            <a:ext cx="387143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9210675" y="6339780"/>
            <a:ext cx="3900488" cy="1585913"/>
          </a:xfrm>
          <a:prstGeom prst="roundRect">
            <a:avLst>
              <a:gd fmla="val 720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9225201" y="6835080"/>
            <a:ext cx="38714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세그먼트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9225201" y="7149405"/>
            <a:ext cx="387143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트리맵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3244513" y="6339780"/>
            <a:ext cx="3900488" cy="1585913"/>
          </a:xfrm>
          <a:prstGeom prst="roundRect">
            <a:avLst>
              <a:gd fmla="val 720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13259038" y="6835080"/>
            <a:ext cx="38714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이탈 트렌드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3259038" y="7149405"/>
            <a:ext cx="387143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143000" y="8059043"/>
            <a:ext cx="16002000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1131570" y="8287643"/>
            <a:ext cx="1602486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테이블 · 계층별 Input Metric 목표 / 이탈 사유 TOP 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07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차트 구성과 활용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구성과 활용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분석 의도별로 고른 차트와 그 활용 방법입니다.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143000" y="3474244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1409700" y="3702844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700" y="3702844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0"/>
          <p:cNvSpPr/>
          <p:nvPr/>
        </p:nvSpPr>
        <p:spPr>
          <a:xfrm>
            <a:off x="3848100" y="4172396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위계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트리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3848100" y="4634359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North Star에서 하위 지표로 내려가며, 끌어내리는 지표를 추적합니다.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9315450" y="3474244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9582150" y="3702844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2150" y="3702844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0"/>
          <p:cNvSpPr/>
          <p:nvPr/>
        </p:nvSpPr>
        <p:spPr>
          <a:xfrm>
            <a:off x="12020550" y="4172396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코호트 리텐션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2020550" y="4634359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가입 코호트별 잔존 추이로 이탈 시점과 구간을 파악합니다.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1143000" y="6313587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1409700" y="6542187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9700" y="6542187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0"/>
          <p:cNvSpPr/>
          <p:nvPr/>
        </p:nvSpPr>
        <p:spPr>
          <a:xfrm>
            <a:off x="3848100" y="7011739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세그먼트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트리맵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3848100" y="7473702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부분과 전체의 비중을 함께 보여 주어 고위험 세그먼트를 식별합니다.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9315450" y="6313587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9582150" y="6542187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82150" y="6542187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/>
          <p:nvPr/>
        </p:nvSpPr>
        <p:spPr>
          <a:xfrm>
            <a:off x="12020550" y="7011739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이탈 추이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2020550" y="7473702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주차별 이탈률 추이를 보고 급변 구간의 원인을 점검합니다.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08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"/>
          <p:cNvSpPr/>
          <p:nvPr/>
        </p:nvSpPr>
        <p:spPr>
          <a:xfrm>
            <a:off x="1143000" y="3409206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1143000" y="3985468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CLAUDE.md + Skill로 제작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1143000" y="5389066"/>
            <a:ext cx="146685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기획안을 규칙과 절차로 묶어, 프롬프트로 레퍼런스와 같은 품질의 대시보드를 만들어 봅니다.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143000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2595339" y="6849219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2595339" y="6492032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04767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09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완성 결과 미리보기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완성 대시보드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143000" y="2125935"/>
            <a:ext cx="8515731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Step 1 기획안의 구성 그대로입니다 — 지표 위계 트리 · 코호트 리텐션 · 세그먼트 · 이탈 원인.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1143000" y="3192735"/>
            <a:ext cx="1800746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1333500" y="3307035"/>
            <a:ext cx="1495946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증감 비율 2.91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3058046" y="3192735"/>
            <a:ext cx="1946300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3248546" y="3307035"/>
            <a:ext cx="16415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재결제율 62.5%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5118646" y="3192735"/>
            <a:ext cx="1740322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5309146" y="3307035"/>
            <a:ext cx="1435522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좌절률 27.2%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1143000" y="3921398"/>
            <a:ext cx="8267700" cy="906735"/>
          </a:xfrm>
          <a:prstGeom prst="roundRect">
            <a:avLst>
              <a:gd fmla="val 18909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1447800" y="4169048"/>
            <a:ext cx="7906131" cy="4495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6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EDA → 지표 계산 → 레퍼런스 참조 → 렌더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1143000" y="5037683"/>
            <a:ext cx="851573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데이터만 바꾸고 구조는 고정해 두면, 다음 주차 숫자도 같은 위계로 이어서 읽을 수 있습니다.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9906000" y="2125935"/>
            <a:ext cx="7239000" cy="7532936"/>
          </a:xfrm>
          <a:prstGeom prst="roundRect">
            <a:avLst>
              <a:gd fmla="val 236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15525" y="2135460"/>
            <a:ext cx="7219950" cy="751388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10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작업 폴더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킷 폴더 구조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대시보드별 </a:t>
            </a:r>
            <a:r>
              <a:rPr b="1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폴더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안의 스킬로 작업합니다 — 폴더에서 명령어 한 줄입니다.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1143000" y="4104308"/>
            <a:ext cx="9296400" cy="3854351"/>
          </a:xfrm>
          <a:prstGeom prst="roundRect">
            <a:avLst>
              <a:gd fmla="val 4448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1504950" y="4428158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03-pm/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1504950" y="4886251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디자인 규칙(헌법)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1504950" y="5344344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504950" y="5802437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└─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build-dashboard/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작업 절차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1504950" y="6260529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templates/reference.html품질 기준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1504950" y="6718622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data/user_events.csv샘플 데이터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1504950" y="7176715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 output/결과물 생성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10858500" y="4104308"/>
            <a:ext cx="691515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실습 · 킷 폴더에서 실행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10858500" y="4528170"/>
            <a:ext cx="6286500" cy="3699421"/>
          </a:xfrm>
          <a:prstGeom prst="roundRect">
            <a:avLst>
              <a:gd fmla="val 4635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11220450" y="485202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킷 폴더로 이동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11220450" y="532254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cd 03-pm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11220450" y="590736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Claude Code 실행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11220450" y="637788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11220450" y="6962701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명령어 한 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1220450" y="7433221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11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두 가지 방법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 실행 vs 자연어 프롬프트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둘 다 같은 대시보드를 만듭니다 — 방식이 다를 뿐입니다.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1143000" y="4358580"/>
            <a:ext cx="7791450" cy="3595688"/>
          </a:xfrm>
          <a:prstGeom prst="roundRect">
            <a:avLst>
              <a:gd fmla="val 4768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1524000" y="4701480"/>
            <a:ext cx="77323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스킬 실행 · 한 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524000" y="5172968"/>
            <a:ext cx="773239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1524000" y="578256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폴더의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data/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안 CSV를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자동으로 사용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(기본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user_events.csv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1524000" y="626834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정해진 5단계 절차를 그대로 실행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1524000" y="675411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한 줄이면 되고, 같은 결과를 반복해 얻기 쉽습니다 (재현성)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1524000" y="723989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다른 데이터는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뒤에 경로를 붙여 지정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9353550" y="4358580"/>
            <a:ext cx="7791450" cy="3614738"/>
          </a:xfrm>
          <a:prstGeom prst="roundRect">
            <a:avLst>
              <a:gd fmla="val 474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9734550" y="4701480"/>
            <a:ext cx="77323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자연어 프롬프트 · 직접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9734550" y="5172968"/>
            <a:ext cx="77323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네 가지를 직접 말합니다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9734550" y="580161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 — "user_events.csv로"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9734550" y="628739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기준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으로 — "CLAUDE.md 규칙을 따라"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9734550" y="677316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 — "build-dashboard 스킬로"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9734550" y="725894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무엇을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기준 삼아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"reference.html과 같은 구조로"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12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규칙과 절차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CLAUDE.md + Skill 병행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규칙은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 짧게, 절차는 Skill에 단계로 — 역할을 나눠 둡니다.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1143000" y="4159597"/>
            <a:ext cx="85705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CLAUDE.md · 규칙(헌법)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1143000" y="4592985"/>
            <a:ext cx="7791450" cy="3579316"/>
          </a:xfrm>
          <a:prstGeom prst="roundRect">
            <a:avLst>
              <a:gd fmla="val 479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1504950" y="4916835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지표·디자인 규칙만 짧게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1504950" y="540543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North Star = 구독 매출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1504950" y="5894040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재결제율 = 1 − 해지율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1504950" y="6382643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선행/후행 = Input·Guardrail 구분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1504950" y="6871246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분모·제외 = 지표마다 명시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1504950" y="735984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KPI 색 = 검정 고정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9353550" y="4159597"/>
            <a:ext cx="85705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build-dashboard Skill · 절차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9353550" y="4592985"/>
            <a:ext cx="7791450" cy="3579316"/>
          </a:xfrm>
          <a:prstGeom prst="roundRect">
            <a:avLst>
              <a:gd fmla="val 479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9715500" y="4916835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명령어 한 줄이 5단계 수행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9715500" y="540543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 데이터 읽기 (EDA)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9715500" y="5894040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 지표 계산 (실제 숫자)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9715500" y="6382643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 reference 구조 흡수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9715500" y="6871246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 데이터 주입해 렌더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9715500" y="735984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 저장 + Action 권고 요약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13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"/>
          <p:cNvSpPr/>
          <p:nvPr/>
        </p:nvSpPr>
        <p:spPr>
          <a:xfrm>
            <a:off x="1143000" y="3143473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1143000" y="3719736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활용 · 인사이트 도출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1143000" y="5123334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완성된 대시보드를 읽는 순서와, 실제 이벤트 로그에서 액션 우선순위를 뽑아내는 방법을 살펴봅니다.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1143000" y="6757764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2595339" y="6757764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4047679" y="7114952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4047679" y="6757764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14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읽는 순서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 읽기 3단계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1143000" y="2125935"/>
            <a:ext cx="7239000" cy="7532936"/>
          </a:xfrm>
          <a:prstGeom prst="roundRect">
            <a:avLst>
              <a:gd fmla="val 236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8" name="Google Shape;4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135460"/>
            <a:ext cx="7219950" cy="7513886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7"/>
          <p:cNvSpPr/>
          <p:nvPr/>
        </p:nvSpPr>
        <p:spPr>
          <a:xfrm>
            <a:off x="8877300" y="4494609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9029700" y="4570809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9548440" y="4494609"/>
            <a:ext cx="628289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위에서부터 — North Star · Supporting 현황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9548440" y="4956572"/>
            <a:ext cx="628289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구독자 증감 비율 2.91, 재결제율 62.5%부터 확인합니다.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8877300" y="5509022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9029700" y="5585222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9548440" y="5509022"/>
            <a:ext cx="6420825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중단 — 어느 지표 · 세그먼트가 끌어내리나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9548440" y="5970984"/>
            <a:ext cx="6420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위계 트리와 세그먼트에서 하락에 기여한 지표를 식별합니다.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8877300" y="6523434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9029700" y="6599634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9548440" y="6523434"/>
            <a:ext cx="5242597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하단 — 원인별 액션 우선순위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9548440" y="6985397"/>
            <a:ext cx="52425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원인 표와 권고로 무엇을 먼저 고칠지 판단합니다.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15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8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인사이트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인사이트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이탈을 세그먼트 · 시점별로 분해해 활성화 · 리텐션 문제로 좁혀 본 결과입니다.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1143000" y="2587898"/>
            <a:ext cx="16002000" cy="2152650"/>
          </a:xfrm>
          <a:prstGeom prst="roundRect">
            <a:avLst>
              <a:gd fmla="val 79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1466850" y="2854598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2476500" y="2854598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유입보다 활성화가 병목으로 보입니다 — 이탈자의 73%가 체험을 시작하지 않았습니다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2476500" y="3311798"/>
            <a:ext cx="1477498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유입은 충분한 편입니다. 구독자 증감 비율 2.91(유입 131명 &gt; 이탈 45명)로 6주간 순증 +86명이었습니다. 다만 이탈 45명(37.5%)의 100%가 가입 2~3주차에 발생했고, 이들 중 73%는 체험조차 시작하지 않았습니다.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2476500" y="4169048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가입 1~2주 내 주요기능 미리보기와 온보딩 체크리스트가 1순위 레버로 보입니다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1143000" y="4931048"/>
            <a:ext cx="16002000" cy="2152650"/>
          </a:xfrm>
          <a:prstGeom prst="roundRect">
            <a:avLst>
              <a:gd fmla="val 79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8"/>
          <p:cNvSpPr/>
          <p:nvPr/>
        </p:nvSpPr>
        <p:spPr>
          <a:xfrm>
            <a:off x="1466850" y="5197748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2476500" y="5197748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가입 2~3주차에 리텐션이 크게 꺾입니다 — 잔존율 100% → 56%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2476500" y="5654948"/>
            <a:ext cx="1477498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코호트 잔존율이 2주차 77%에서 3주차 56%로 떨어졌습니다. 반면 3주를 넘기면 4주차 이후 이탈은 0%로 관측되었습니다. 전 코호트 공통 패턴이라, 2~3주차가 유일한 고비로 보입니다.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2476500" y="6512198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온보딩 개입을 2~3주차에 집중하고, 리텐션 곡선 W2–W3 기울기를 추적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1143000" y="7274198"/>
            <a:ext cx="16002000" cy="2152650"/>
          </a:xfrm>
          <a:prstGeom prst="roundRect">
            <a:avLst>
              <a:gd fmla="val 79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1466850" y="7540898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2476500" y="7540898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구독 전환율이 후기 코호트에서 −28.8%p, 베이직 이탈이 44%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2476500" y="7998098"/>
            <a:ext cx="1477498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구독 전환율이 초기 코호트 93.8%에서 후기 코호트 65.0%로 떨어졌습니다. 이탈자도 베이직 플랜에서 44%로 가장 많았습니다(베이직 이탈률 37.7%). 단, 최근 가입자는 관측 구간이 짧아 우측 절단 영향을 감안해 해석하시는 편이 좋습니다.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2476500" y="8855348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베이직 플랜 가치 · 가격 점검과 결제 UX 테스트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16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9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액션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액션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1143000" y="2634555"/>
            <a:ext cx="16002000" cy="2076450"/>
          </a:xfrm>
          <a:custGeom>
            <a:rect b="b" l="l" r="r" t="t"/>
            <a:pathLst>
              <a:path extrusionOk="0" h="2076450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924050"/>
                </a:lnTo>
                <a:cubicBezTo>
                  <a:pt x="16002000" y="2008218"/>
                  <a:pt x="15933768" y="2076450"/>
                  <a:pt x="15849600" y="2076450"/>
                </a:cubicBezTo>
                <a:lnTo>
                  <a:pt x="0" y="20764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9"/>
          <p:cNvSpPr/>
          <p:nvPr/>
        </p:nvSpPr>
        <p:spPr>
          <a:xfrm>
            <a:off x="1143000" y="2634555"/>
            <a:ext cx="57150" cy="20764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9"/>
          <p:cNvSpPr/>
          <p:nvPr/>
        </p:nvSpPr>
        <p:spPr>
          <a:xfrm>
            <a:off x="1524000" y="2901255"/>
            <a:ext cx="168268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P1 · 우선순위 높음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/>
          <p:nvPr/>
        </p:nvSpPr>
        <p:spPr>
          <a:xfrm>
            <a:off x="1524000" y="3253680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활성화 — 가입 직후 온보딩 투입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1524000" y="3701355"/>
            <a:ext cx="1575606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유입은 충분한 편이고(증감 비율 2.91 · 순증 +86명) 병목은 활성화로 보입니다. 이탈자의 73%가 체험을 시작하지 않았으므로, 가입 1~2주 내 주요기능 미리보기와 온보딩 체크리스트를 투입해 봅니다.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검증 </a:t>
            </a: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온보딩 유무 A/B로 2주차 잔존율 비교.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1143000" y="4901505"/>
            <a:ext cx="16002000" cy="2076450"/>
          </a:xfrm>
          <a:custGeom>
            <a:rect b="b" l="l" r="r" t="t"/>
            <a:pathLst>
              <a:path extrusionOk="0" h="2076450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924050"/>
                </a:lnTo>
                <a:cubicBezTo>
                  <a:pt x="16002000" y="2008218"/>
                  <a:pt x="15933768" y="2076450"/>
                  <a:pt x="15849600" y="2076450"/>
                </a:cubicBezTo>
                <a:lnTo>
                  <a:pt x="0" y="20764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9"/>
          <p:cNvSpPr/>
          <p:nvPr/>
        </p:nvSpPr>
        <p:spPr>
          <a:xfrm>
            <a:off x="1143000" y="4901505"/>
            <a:ext cx="57150" cy="20764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9"/>
          <p:cNvSpPr/>
          <p:nvPr/>
        </p:nvSpPr>
        <p:spPr>
          <a:xfrm>
            <a:off x="1524000" y="5168205"/>
            <a:ext cx="168268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P2 · 우선순위 높음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1524000" y="5520630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2~3주차 리텐션 구간에 집중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1524000" y="5968305"/>
            <a:ext cx="1575606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잔존율이 2주차 77% → 3주차 56%로 꺾이고, 3주를 넘기면 이탈이 관측되지 않았습니다. 온보딩 개입을 2~3주차에 몰아넣어 봅니다.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검증 </a:t>
            </a: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코호트 리텐션 곡선의 W2–W3 기울기를 주차별로 추적.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1143000" y="7168455"/>
            <a:ext cx="16002000" cy="2076450"/>
          </a:xfrm>
          <a:custGeom>
            <a:rect b="b" l="l" r="r" t="t"/>
            <a:pathLst>
              <a:path extrusionOk="0" h="2076450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924050"/>
                </a:lnTo>
                <a:cubicBezTo>
                  <a:pt x="16002000" y="2008218"/>
                  <a:pt x="15933768" y="2076450"/>
                  <a:pt x="15849600" y="2076450"/>
                </a:cubicBezTo>
                <a:lnTo>
                  <a:pt x="0" y="20764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9"/>
          <p:cNvSpPr/>
          <p:nvPr/>
        </p:nvSpPr>
        <p:spPr>
          <a:xfrm>
            <a:off x="1143000" y="7168455"/>
            <a:ext cx="57150" cy="2076450"/>
          </a:xfrm>
          <a:prstGeom prst="rect">
            <a:avLst/>
          </a:prstGeom>
          <a:solidFill>
            <a:srgbClr val="9198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9"/>
          <p:cNvSpPr/>
          <p:nvPr/>
        </p:nvSpPr>
        <p:spPr>
          <a:xfrm>
            <a:off x="1524000" y="7435155"/>
            <a:ext cx="168268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P3 · 우선순위 중간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1524000" y="7787580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베이직 플랜 점검 — 후기 코호트 전환율 하락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1524000" y="8235255"/>
            <a:ext cx="1575606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구독 전환율이 초기 93.8% → 후기 65.0%로 떨어지고 이탈은 베이직에서 44%로 가장 높았습니다. 베이직의 가치 · 가격 점검과 결제 UX 테스트를 검토합니다.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검증 </a:t>
            </a: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우측 절단 영향을 배제하기 위해 동일 가입후 주차 시점으로 코호트 비교.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17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