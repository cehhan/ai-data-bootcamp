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2228552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대시보드 실습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976265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 · CHAPTER 02 · RETENTION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533477"/>
            <a:ext cx="17602200" cy="1167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2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리텐션 분석 대시보드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910361"/>
            <a:ext cx="176022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코호트 잔존과 매출 변동을 한 화면에서 함께 읽어 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648548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6850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66850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6850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코호트 잔존 · What-if · LTV 분석 설계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78575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902425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02425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제작 실습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02425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Skill 프롬프트로 제작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014150" y="6162898"/>
            <a:ext cx="5130850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338000" y="6467698"/>
            <a:ext cx="49314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2338000" y="6882036"/>
            <a:ext cx="493146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2338000" y="7458298"/>
            <a:ext cx="49314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대시보드로 리텐션 · 확장 액션 결정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리텐션 분석 대시보드 기획안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질문에 답할지, 왜 이 분석 방법인지, 왜 이렇게 시각화하는지를 먼저 설계해 보겠습니다.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43000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입력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구독 데이터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구독 데이터는 보통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유저 × 활성월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단위로 쌓이는 편입니다. 여기서 출발해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143000" y="4525268"/>
            <a:ext cx="2095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143000" y="3858518"/>
            <a:ext cx="2305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43000" y="4134743"/>
            <a:ext cx="2305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계정 식별자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505200" y="4525268"/>
            <a:ext cx="2857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505200" y="3858518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signup_month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505200" y="4134743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가입월(코호트)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629400" y="4525268"/>
            <a:ext cx="2857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629400" y="3858518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active_month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629400" y="4134743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활성 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753600" y="4525268"/>
            <a:ext cx="2286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753600" y="3858518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plan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753600" y="4134743"/>
            <a:ext cx="2514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요금제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2306300" y="4525268"/>
            <a:ext cx="2667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2039600" y="3858518"/>
            <a:ext cx="2933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mrr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2039600" y="4134743"/>
            <a:ext cx="2933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월 반복매출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5240000" y="4525268"/>
            <a:ext cx="19050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5049500" y="3858518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churned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5049500" y="4134743"/>
            <a:ext cx="209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이탈 여부(0/1)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43000" y="5144393"/>
            <a:ext cx="2095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43000" y="4706243"/>
            <a:ext cx="2171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U1001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505200" y="5144393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505200" y="470624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29400" y="5144393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629400" y="470624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753600" y="5144393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9753600" y="4706243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2306300" y="5144393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2226290" y="4706243"/>
            <a:ext cx="27470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₩400,000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5240000" y="514439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5163800" y="47062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143000" y="5744468"/>
            <a:ext cx="2095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143000" y="5306318"/>
            <a:ext cx="2171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U1002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505200" y="5744468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505200" y="5306318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629400" y="5744468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629400" y="5306318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753600" y="5744468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753600" y="5306318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starter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2306300" y="5744468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2226290" y="5306318"/>
            <a:ext cx="27470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₩100,000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5240000" y="574446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5163800" y="530631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143000" y="6344543"/>
            <a:ext cx="2095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143000" y="5906393"/>
            <a:ext cx="2171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U1003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505200" y="6344543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505200" y="590639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629400" y="6344543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629400" y="590639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753600" y="6344543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753600" y="5906393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2306300" y="6344543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2226290" y="5906393"/>
            <a:ext cx="27470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₩400,000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5240000" y="634454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5163800" y="590639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143000" y="6944618"/>
            <a:ext cx="2095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143000" y="6506468"/>
            <a:ext cx="2171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U1003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505200" y="6944618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505200" y="6506468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629400" y="6944618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629400" y="6506468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753600" y="6944618"/>
            <a:ext cx="2286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753600" y="6506468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2306300" y="6944618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2226290" y="6506468"/>
            <a:ext cx="27470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₩408,000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5240000" y="694461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5163800" y="6506468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143000" y="7106543"/>
            <a:ext cx="2171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U1003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505200" y="710654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29400" y="7106543"/>
            <a:ext cx="2943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2024.03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753600" y="7106543"/>
            <a:ext cx="236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2226290" y="7106543"/>
            <a:ext cx="27470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₩416,000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5163800" y="7106543"/>
            <a:ext cx="1981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143000" y="8710613"/>
            <a:ext cx="16002000" cy="966788"/>
          </a:xfrm>
          <a:custGeom>
            <a:rect b="b" l="l" r="r" t="t"/>
            <a:pathLst>
              <a:path extrusionOk="0" h="966788" w="16002000">
                <a:moveTo>
                  <a:pt x="0" y="0"/>
                </a:moveTo>
                <a:lnTo>
                  <a:pt x="16002000" y="0"/>
                </a:lnTo>
                <a:lnTo>
                  <a:pt x="16002000" y="795338"/>
                </a:lnTo>
                <a:cubicBezTo>
                  <a:pt x="16002000" y="890027"/>
                  <a:pt x="15925239" y="966788"/>
                  <a:pt x="15830550" y="966788"/>
                </a:cubicBezTo>
                <a:lnTo>
                  <a:pt x="171450" y="966788"/>
                </a:lnTo>
                <a:cubicBezTo>
                  <a:pt x="76761" y="966788"/>
                  <a:pt x="0" y="890027"/>
                  <a:pt x="0" y="79533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143000" y="8710613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466850" y="9015413"/>
            <a:ext cx="1583436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원본은 이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6개 컬럼</a:t>
            </a: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뿐입니다 — 코호트 잔존율 · MRR · churn · LTV는 모두 이 데이터에서 파생됩니다.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지표 읽기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챕터에서 쓰는 지표를 먼저 정리해 봅니다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같은 이름의 지표도 회사마다 정의가 다를 수 있어, 기준을 맞춰 두면 화면을 같은 뜻으로 읽을 수 있습니다.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143000" y="2587898"/>
            <a:ext cx="7791450" cy="1190625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42875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 · 월 반복 매출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428750" y="32117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해당 월에 반복적으로 발생하는 구독 매출의 합계입니다.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353550" y="2587898"/>
            <a:ext cx="7791450" cy="1190625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63930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순증 MRR (Net New)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639300" y="32117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신규 + 확장 − 이탈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성장의 실제 동력이 어디인지 보여 줍니다.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43000" y="394997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28750" y="415952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 잔존율 (Mn / M0)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428750" y="457386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가입월(코호트) 기준으로 n개월 뒤에도 활성인 비율입니다. 가입 시점별 품질을 비교할 때 씁니다.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353550" y="394997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639300" y="415952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Churn · 이탈률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639300" y="457386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기간 내 이탈한 고객 수 또는 매출의 비율입니다. 건수 기준과 매출 기준을 구분해 보시면 좋습니다.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43000" y="566923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428750" y="58787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NRR · 순매출유지율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428750" y="62931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(기초 − 이탈 + 확장) ÷ 기초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100%를 넘으면 기존 고객만으로도 성장하는 상태로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353550" y="566923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9639300" y="58787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LTV · 생애가치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639300" y="62931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한 고객이 이탈까지 남길 것으로 기대되는 누적 매출입니다. 가정에 민감한 지표라 분포도 함께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143000" y="73884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428750" y="75980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CAC 회수 배수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428750" y="80123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LTV ÷ CAC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획득비를 몇 배로 회수하는지 보여 줍니다.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353550" y="73884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9639300" y="75980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What-if 시뮬레이션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639300" y="80123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churn이나 확장 가정을 바꿨을 때 매출이 어떻게 달라질지 추정해 보는 방식입니다.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질문 정의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대시보드가 답할 3가지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먼저 고르기보다, 의사결정자가 묻는 질문에서 시작해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1430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4668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Q1 · 리텐션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4668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코호트별로 얼마나 남나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4668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가입월별 Mn 잔존율, 코호트 규모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4668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잔존율이 낮은 코호트는 온보딩 개선을 우선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4668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신규 가입과 재가입을 구분해 해석하는 편이 안전합니다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913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9151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Q2 · 매출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151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MRR은 어디서 새나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9151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신규 · 확장 · 이탈 MRR, NRR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9151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이탈이 확장을 넘는 구간은 즉시 점검 대상으로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9151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MRR 변동을 신규 · 확장 · 이탈로 분해해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20396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23634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Q3 · 가치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23634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LTV로 획득비를 회수하나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2363450" y="542776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평균 LTV, CAC 대비 회수 배수, LTV 분포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2363450" y="6275487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LTV가 낮은 플랜은 가격이나 유지 전략의 재설계를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2363450" y="712321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What-if로 churn · 확장 가정 변경의 영향을 확인합니다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문제정의 → 방법론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설정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143000" y="3346549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447800" y="3594199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A · 리텐션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447800" y="3946624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코호트별 잔존율 차이 — 어느 가입월이 약한지 살펴봅니다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447800" y="4384774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M0 대비 Mn 잔존율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724900" y="3970437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525000" y="3522762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9829800" y="37704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 리텐션 히트맵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829800" y="42085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가입월 × 경과월로 약한 코호트를 식별합니다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143000" y="5151537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447800" y="5399187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B · 매출 변동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447800" y="57516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 성장 둔화 — 신규 · 확장 · 이탈로 분해합니다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447800" y="61897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신규/확장/이탈 MRR, NRR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724900" y="5775424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525000" y="5327749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9829800" y="55753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 구성 추이 막대 + 성장률 라인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829800" y="60135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신규 · 확장 · 이탈 막대에 MoM 성장률을 겹쳐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43000" y="6956524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447800" y="7204174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C · 가치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447800" y="75565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생애가치 — 획득비 회수 여부를 확인합니다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447800" y="79947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평균 LTV, CAC 대비 회수 배수, NRR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724900" y="7580412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525000" y="7132737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9829800" y="7380387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LTV 분포 + What-if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829800" y="7818537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가정 변경 시 회수 여부를 시뮬레이션합니다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대시보드 레이아웃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레이아웃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 · 필터 · KPI 카드 · 차트 · 데이터 테이블 — 화면 배치를 먼저 그려 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143000" y="4219575"/>
            <a:ext cx="16002000" cy="985838"/>
          </a:xfrm>
          <a:prstGeom prst="roundRect">
            <a:avLst>
              <a:gd fmla="val 11594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52450" y="4410075"/>
            <a:ext cx="17183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리텐션 · 매출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52450" y="4738688"/>
            <a:ext cx="1718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143000" y="5338763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371600" y="5572125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933426" y="5510213"/>
            <a:ext cx="936129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2104876" y="5586413"/>
            <a:ext cx="6694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기준일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002905" y="5510213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174355" y="5586413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플랜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143000" y="6243638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313093" y="6472238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MRR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176838" y="6243638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5346930" y="6472238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순증 MRR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9210675" y="6243638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380768" y="6472238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이탈률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3244513" y="6243638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3414605" y="6472238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LTV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143000" y="7148513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1157526" y="7681912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MRR 구성 추이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157526" y="7996237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176838" y="7148513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191363" y="7681912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코호트 리텐션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191363" y="7996237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히트맵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210675" y="7148513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9225201" y="7681912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 LTV 분포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9225201" y="7996237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3244513" y="7148513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3259038" y="7681912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이탈 원인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3259038" y="7996237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파레토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143000" y="8943975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131570" y="9172575"/>
            <a:ext cx="160248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테이블 · 플랜별 리텐션 &amp; 매출 변동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차트 구성과 활용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구성과 활용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의도별로 고른 차트와 그 활용 방법입니다.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1143000" y="434161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1409700" y="457021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457021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3848100" y="5039767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 구성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848100" y="550172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신규 · 확장 · 이탈 MRR로 분해해 성장 동력과 누수 구간을 함께 파악합니다.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315450" y="434161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9582150" y="457021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457021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12020550" y="5039767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 잔존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히트맵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2020550" y="550172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가입월 × 경과월 잔존율을 한 화면에 놓아 약한 코호트를 찾습니다.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143000" y="718095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1409700" y="740955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740955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3848100" y="7879110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LTV 분포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848100" y="834107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LTV 구간별 고객 분포로 고가치 · 저가치 비중을 확인합니다.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315450" y="718095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9582150" y="740955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740955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12020550" y="7879110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사유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2020550" y="834107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사유별 상위 기여(파레토)를 보고 개선 우선순위를 도출합니다.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08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CLAUDE.md + Skill로 제작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기획안을 규칙과 절차로 묶어, 프롬프트로 레퍼런스와 같은 품질의 대시보드를 만들어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259533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59533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09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완성 결과 미리보기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완성 대시보드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143000" y="2125935"/>
            <a:ext cx="8319516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Step 1 기획안의 구성 그대로입니다 — 코호트 히트맵 · MRR 구성 추이 · What-if · LTV 분포.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43000" y="3192735"/>
            <a:ext cx="1809899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1333500" y="3307035"/>
            <a:ext cx="150509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MRR ₩409M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067199" y="3192735"/>
            <a:ext cx="1439689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3257699" y="3307035"/>
            <a:ext cx="11348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NRR 89%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621188" y="3192735"/>
            <a:ext cx="2098477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4811688" y="3307035"/>
            <a:ext cx="1793677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평균 LTV ₩1.2M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143000" y="3921398"/>
            <a:ext cx="8077200" cy="906735"/>
          </a:xfrm>
          <a:prstGeom prst="roundRect">
            <a:avLst>
              <a:gd fmla="val 1890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1447800" y="4169048"/>
            <a:ext cx="7709916" cy="4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6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EDA → 지표 계산 → 레퍼런스 참조 →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1143000" y="5037683"/>
            <a:ext cx="831951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데이터만 바꾸고 구조는 고정해 두면, 다음 달 숫자도 같은 화면으로 이어서 읽을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97155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50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작업 폴더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킷 폴더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대시보드별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폴더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안의 스킬로 작업합니다 — 폴더에서 명령어 한 줄입니다.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143000" y="4104308"/>
            <a:ext cx="9296400" cy="3854351"/>
          </a:xfrm>
          <a:prstGeom prst="roundRect">
            <a:avLst>
              <a:gd fmla="val 444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1504950" y="4428158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02-retention/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504950" y="4886251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디자인 규칙(헌법)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504950" y="5344344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504950" y="5802437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build-dashboard/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작업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504950" y="6260529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templates/reference.html품질 기준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504950" y="6718622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data/subscriptions.csv샘플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504950" y="7176715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 output/결과물 생성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0858500" y="4104308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· 킷 폴더에서 실행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0858500" y="4528170"/>
            <a:ext cx="6286500" cy="3699421"/>
          </a:xfrm>
          <a:prstGeom prst="roundRect">
            <a:avLst>
              <a:gd fmla="val 463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11220450" y="485202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킷 폴더로 이동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220450" y="532254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cd 02-retention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1220450" y="590736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Claude Code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1220450" y="637788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1220450" y="696270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1220450" y="743322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두 가지 방법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 vs 자연어 프롬프트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둘 다 같은 대시보드를 만듭니다 — 방식이 다를 뿐입니다.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143000" y="4182368"/>
            <a:ext cx="7791450" cy="3967163"/>
          </a:xfrm>
          <a:prstGeom prst="roundRect">
            <a:avLst>
              <a:gd fmla="val 4322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1524000" y="4525268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스킬 실행 · 한 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524000" y="4996755"/>
            <a:ext cx="77323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524000" y="5606355"/>
            <a:ext cx="724033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폴더의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data/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 CSV를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자동으로 사용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(기본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subscriptions.csv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524000" y="6463605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정해진 5단계 절차를 그대로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524000" y="6949380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줄이면 되고, 같은 결과를 반복해 얻기 쉽습니다 (재현성)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524000" y="7435155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다른 데이터는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뒤에 경로를 붙여 지정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9353550" y="4182368"/>
            <a:ext cx="7791450" cy="3614738"/>
          </a:xfrm>
          <a:prstGeom prst="roundRect">
            <a:avLst>
              <a:gd fmla="val 474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9734550" y="4525268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자연어 프롬프트 · 직접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9734550" y="4996755"/>
            <a:ext cx="7732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가지를 직접 말합니다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9734550" y="5625405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"subscriptions.csv로"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9734550" y="6111180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— "CLAUDE.md 규칙을 따라"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9734550" y="6596955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"build-dashboard 스킬로"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9734550" y="7082730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 삼아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"reference.html과 같은 구조로"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규칙과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+ Skill 병행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규칙은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짧게, 절차는 Skill에 단계로 — 역할을 나눠 둡니다.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14300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 · 규칙(헌법)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143000" y="4592985"/>
            <a:ext cx="7791450" cy="3090714"/>
          </a:xfrm>
          <a:prstGeom prst="roundRect">
            <a:avLst>
              <a:gd fmla="val 5547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150495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디자인·KPI 규칙만 짧게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50495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리텐션 = Mn 활성/M0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50495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NRR = (기초−이탈+확장)/기초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50495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churn = 정의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150495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KPI 색 = 검정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935355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 Skill · 절차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935355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71550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줄이 5단계 수행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971550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데이터 읽기 (EDA)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971550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 KPI 계산 (실제 숫자)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971550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reference 구조 흡수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971550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 데이터 주입해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971550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저장 + 리텐션 권고 요약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/>
          <p:nvPr/>
        </p:nvSpPr>
        <p:spPr>
          <a:xfrm>
            <a:off x="1143000" y="3143473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1143000" y="3719736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 도출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1143000" y="5123334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완성된 대시보드를 읽는 순서와, 실제 구독 데이터에서 리텐션 · 확장 액션을 뽑아내는 방법을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143000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2595339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047679" y="7114952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4047679" y="6757764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읽는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읽기 3단계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11430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>
            <a:off x="9067800" y="4381946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9220200" y="4458146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9738940" y="4381946"/>
            <a:ext cx="574224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위에서부터 — 현황 파악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9738940" y="4843909"/>
            <a:ext cx="57422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MRR ₩409M, 코호트 잔존과 NRR부터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9067800" y="5396359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9220200" y="5472559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9738940" y="5396359"/>
            <a:ext cx="744549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중단 — 이탈 주도 지점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9738940" y="5858321"/>
            <a:ext cx="74454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코호트 히트맵과 플랜 표에서 어느 코호트 · 플랜이 새는지 살펴봅니다.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9067800" y="6410771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9220200" y="6486971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9738940" y="6410771"/>
            <a:ext cx="54891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— 결정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9738940" y="6872734"/>
            <a:ext cx="54891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What-if와 권고로 리텐션 · 확장 액션을 판단합니다.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인사이트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코호트 · NRR · 플랜에서 확인된 내용입니다.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143000" y="25878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1466850" y="28545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2476500" y="28545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2024.03 코호트의 M3 리텐션이 48%로 가장 낮게 나타났습니다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476500" y="33117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2024.03 가입 코호트(n=270)의 M3 리텐션은 48%로 관측 코호트 중 가장 낮았습니다. 같은 시점 2024.04 코호트는 72%였고, 이탈은 M1→M2 구간에 −10%p로 집중되는 모습입니다. 가입 시점별 온보딩 품질이 잔존에 영향을 준 것으로 볼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476500" y="41690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2024.03 가입군 온보딩 로그를 점검하고 M1~M2 구간에 개입해 보겠습니다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143000" y="493104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1466850" y="519774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2476500" y="519774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NRR 89% — 확장이 이탈을 메우지 못하는 구조입니다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476500" y="565494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NRR이 89%로 100%에 미달했습니다(5월 기준). 월 확장 MRR +₩6M이 월 이탈 MRR −₩42M을 상쇄하지 못하고 있어, 신규 업셀보다 이탈 방어가 먼저 필요한 상황으로 보입니다.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476500" y="651219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이탈 방어 우선 — Churn 1%p 개선 시 약 ₩4.1M 순매출 효과로 추정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1143000" y="72741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1466850" y="75408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2476500" y="75408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매출 영향 1위는 비즈니스 플랜입니다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2476500" y="79980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비즈니스 플랜은 이탈 건수로는 3위(16%)지만 매출 영향은 1위(36%)였습니다. 5월 churn 14.5%로 가장 높고 평균 LTV ₩2.73M의 고ARPU 구간이라, 한 명의 이탈이 큰 손실로 이어집니다. 엔터프라이즈는 churn 7.4%로 상대적으로 안정적이었습니다.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476500" y="88553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비즈니스 Win-back과 전담 성공 관리로 집중 방어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액션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143000" y="2820293"/>
            <a:ext cx="16002000" cy="2076450"/>
          </a:xfrm>
          <a:custGeom>
            <a:rect b="b" l="l" r="r" t="t"/>
            <a:pathLst>
              <a:path extrusionOk="0" h="2076450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924050"/>
                </a:lnTo>
                <a:cubicBezTo>
                  <a:pt x="16002000" y="2008218"/>
                  <a:pt x="15933768" y="2076450"/>
                  <a:pt x="15849600" y="2076450"/>
                </a:cubicBez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1143000" y="2820293"/>
            <a:ext cx="57150" cy="20764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1524000" y="3086993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P1 · 우선순위 높음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524000" y="343941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2024.03 코호트 온보딩 점검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524000" y="3887093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이탈이 M1~M2 구간(−10%p)에 집중되어 있습니다. 2024.03 가입군의 온보딩 로그를 점검하고, 가입 30 · 60일 인앱 가이드와 CSM 체크인을 자동화해 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143000" y="5087243"/>
            <a:ext cx="16002000" cy="2076450"/>
          </a:xfrm>
          <a:custGeom>
            <a:rect b="b" l="l" r="r" t="t"/>
            <a:pathLst>
              <a:path extrusionOk="0" h="2076450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924050"/>
                </a:lnTo>
                <a:cubicBezTo>
                  <a:pt x="16002000" y="2008218"/>
                  <a:pt x="15933768" y="2076450"/>
                  <a:pt x="15849600" y="2076450"/>
                </a:cubicBezTo>
                <a:lnTo>
                  <a:pt x="0" y="20764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1143000" y="5087243"/>
            <a:ext cx="57150" cy="20764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1524000" y="5353943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P2 · 우선순위 높음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1524000" y="570636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방어 우선 — NRR 89% 회복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524000" y="6154043"/>
            <a:ext cx="1575606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확장 +₩6M이 이탈 −₩42M을 상쇄하지 못하는 구조입니다. 신규 업셀보다 이탈 방어를 앞세우고(Churn 1%p 개선 시 약 ₩4.1M 순매출), What-if 시뮬레이터로 목표를 설정해 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143000" y="7354193"/>
            <a:ext cx="16002000" cy="1704975"/>
          </a:xfrm>
          <a:custGeom>
            <a:rect b="b" l="l" r="r" t="t"/>
            <a:pathLst>
              <a:path extrusionOk="0" h="1704975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52575"/>
                </a:lnTo>
                <a:cubicBezTo>
                  <a:pt x="16002000" y="1636743"/>
                  <a:pt x="15933768" y="1704975"/>
                  <a:pt x="15849600" y="1704975"/>
                </a:cubicBez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1143000" y="7354193"/>
            <a:ext cx="57150" cy="1704975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1524000" y="7620893"/>
            <a:ext cx="168268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P3 · 우선순위 중간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1524000" y="797331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비즈니스 플랜 Win-back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524000" y="842099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고ARPU 비즈니스 플랜의 이탈이 매출 손실 1위(36%)입니다. 계약 만료 전 Win-back 캠페인과 전담 성공 관리로 집중 방어해 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