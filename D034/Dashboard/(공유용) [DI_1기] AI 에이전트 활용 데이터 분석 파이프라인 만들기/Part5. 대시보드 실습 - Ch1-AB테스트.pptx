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43000" y="2228552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모두의연구소 · 대시보드 실습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43000" y="2976265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</a:t>
            </a:r>
            <a:r>
              <a:rPr b="1" lang="en-US" sz="2100">
                <a:solidFill>
                  <a:srgbClr val="F7585C"/>
                </a:solidFill>
              </a:rPr>
              <a:t>5</a:t>
            </a: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 · CHAPTER 01 · A/B TEST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43000" y="3533477"/>
            <a:ext cx="17602200" cy="1167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92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A/B 테스트 분석 대시보드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3000" y="4910361"/>
            <a:ext cx="17602200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실험 결과를 배포 의사결정으로 옮기는 화면을 함께 만들어 봅니다.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143000" y="5648548"/>
            <a:ext cx="1524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143000" y="6162898"/>
            <a:ext cx="5130775" cy="1971675"/>
          </a:xfrm>
          <a:prstGeom prst="roundRect">
            <a:avLst>
              <a:gd fmla="val 869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466850" y="6467698"/>
            <a:ext cx="493138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STEP 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466850" y="6882036"/>
            <a:ext cx="4931383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기획안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466850" y="7458298"/>
            <a:ext cx="493138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실험 설계 · 세그먼트 · 의사결정 규칙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578575" y="6162898"/>
            <a:ext cx="5130775" cy="1971675"/>
          </a:xfrm>
          <a:prstGeom prst="roundRect">
            <a:avLst>
              <a:gd fmla="val 869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902425" y="6467698"/>
            <a:ext cx="493138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STEP 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902425" y="6882036"/>
            <a:ext cx="4931383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제작 실습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902425" y="7458298"/>
            <a:ext cx="493138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CLAUDE.md </a:t>
            </a: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Skill 프롬프트로 제작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2014150" y="6162898"/>
            <a:ext cx="5130850" cy="1971675"/>
          </a:xfrm>
          <a:prstGeom prst="roundRect">
            <a:avLst>
              <a:gd fmla="val 869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12338000" y="6467698"/>
            <a:ext cx="493146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STEP 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2338000" y="6882036"/>
            <a:ext cx="4931465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활용 · 인사이트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2338000" y="7458298"/>
            <a:ext cx="49314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유의·가드레일 확인 후 배포 의사결정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1143000" y="3409206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43000" y="3985468"/>
            <a:ext cx="17602200" cy="1098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A/B 테스트 대시보드 기획안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143000" y="5389066"/>
            <a:ext cx="14668500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어떤 질문에 답할지, 왜 이 분석 방법인지, 왜 이렇게 시각화하는지를 먼저 설계해 보겠습니다.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143000" y="6849219"/>
            <a:ext cx="116658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143000" y="6492032"/>
            <a:ext cx="124278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 기획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595339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 제작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047679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 활용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02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입력 데이터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실험 데이터 구조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A/B 실험 데이터는 보통 </a:t>
            </a: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실험 × 그룹 × 세그먼트 </a:t>
            </a: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단위로 쌓이는 편입니다. 여기서 출발해 보겠습니다.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143000" y="4477643"/>
            <a:ext cx="24765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1143000" y="3810893"/>
            <a:ext cx="27241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experiment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143000" y="4087118"/>
            <a:ext cx="27241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실험명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848100" y="4477643"/>
            <a:ext cx="1143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848100" y="3810893"/>
            <a:ext cx="1219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variant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848100" y="4087118"/>
            <a:ext cx="1219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그룹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219700" y="4477643"/>
            <a:ext cx="1524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5219700" y="3810893"/>
            <a:ext cx="1676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segment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219700" y="4087118"/>
            <a:ext cx="1676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세그먼트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972300" y="4477643"/>
            <a:ext cx="2009775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771323" y="3810893"/>
            <a:ext cx="22107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771323" y="4087118"/>
            <a:ext cx="22107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노출 사용자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9210675" y="4477643"/>
            <a:ext cx="2009775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9009697" y="3810893"/>
            <a:ext cx="22107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conversions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9009697" y="4087118"/>
            <a:ext cx="22107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전환수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1449050" y="4477643"/>
            <a:ext cx="238125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11210925" y="3810893"/>
            <a:ext cx="2619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revenue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11210925" y="4087118"/>
            <a:ext cx="2619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발생 매출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4058900" y="4477643"/>
            <a:ext cx="142875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13916025" y="3810893"/>
            <a:ext cx="1571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runtime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3916025" y="4087118"/>
            <a:ext cx="1571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관측 일수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5716250" y="4477643"/>
            <a:ext cx="1428750" cy="2857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15716250" y="3810893"/>
            <a:ext cx="1571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Courier New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guardrail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5716250" y="4087118"/>
            <a:ext cx="1571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가드레일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143000" y="5115818"/>
            <a:ext cx="2476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1143000" y="4658618"/>
            <a:ext cx="2552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가입 폼 간소화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848100" y="5115818"/>
            <a:ext cx="1143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3848100" y="4658618"/>
            <a:ext cx="1219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219700" y="5115818"/>
            <a:ext cx="1524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219700" y="4658618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모바일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972300" y="5115818"/>
            <a:ext cx="20097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896100" y="4658618"/>
            <a:ext cx="20859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5,200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9210675" y="5115818"/>
            <a:ext cx="20097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9134475" y="4658618"/>
            <a:ext cx="20859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270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1449050" y="5115818"/>
            <a:ext cx="23812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11372850" y="4658618"/>
            <a:ext cx="2457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₩10,800,000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4058900" y="5115818"/>
            <a:ext cx="1428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13982700" y="4658618"/>
            <a:ext cx="1504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5716250" y="5115818"/>
            <a:ext cx="1428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15716250" y="4658618"/>
            <a:ext cx="1504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pass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143000" y="5734943"/>
            <a:ext cx="2476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1143000" y="5277743"/>
            <a:ext cx="2552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가입 폼 간소화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848100" y="5734943"/>
            <a:ext cx="1143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3848100" y="5277743"/>
            <a:ext cx="1219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219700" y="5734943"/>
            <a:ext cx="1524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5219700" y="5277743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모바일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972300" y="5734943"/>
            <a:ext cx="20097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6896100" y="5277743"/>
            <a:ext cx="20859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5,240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9210675" y="5734943"/>
            <a:ext cx="20097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9134475" y="5277743"/>
            <a:ext cx="20859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391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1449050" y="5734943"/>
            <a:ext cx="23812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11372850" y="5277743"/>
            <a:ext cx="2457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₩15,640,000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4058900" y="5734943"/>
            <a:ext cx="1428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13982700" y="5277743"/>
            <a:ext cx="1504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5716250" y="5734943"/>
            <a:ext cx="1428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15716250" y="5277743"/>
            <a:ext cx="1504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pass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143000" y="6354068"/>
            <a:ext cx="2476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1143000" y="5896868"/>
            <a:ext cx="2552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랜딩 CTA 문구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848100" y="6354068"/>
            <a:ext cx="1143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3848100" y="5896868"/>
            <a:ext cx="1219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219700" y="6354068"/>
            <a:ext cx="1524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5219700" y="5896868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PC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972300" y="6354068"/>
            <a:ext cx="20097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6896100" y="5896868"/>
            <a:ext cx="20859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6,050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9210675" y="6354068"/>
            <a:ext cx="20097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9134475" y="5896868"/>
            <a:ext cx="20859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194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1449050" y="6354068"/>
            <a:ext cx="23812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11372850" y="5896868"/>
            <a:ext cx="2457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₩7,760,000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4058900" y="6354068"/>
            <a:ext cx="1428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13982700" y="5896868"/>
            <a:ext cx="1504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5716250" y="6354068"/>
            <a:ext cx="1428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15716250" y="5896868"/>
            <a:ext cx="1504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pass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143000" y="6973193"/>
            <a:ext cx="2476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1143000" y="6515993"/>
            <a:ext cx="2552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랜딩 CTA 문구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848100" y="6973193"/>
            <a:ext cx="1143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3848100" y="6515993"/>
            <a:ext cx="1219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219700" y="6973193"/>
            <a:ext cx="1524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5219700" y="6515993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PC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972300" y="6973193"/>
            <a:ext cx="20097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6896100" y="6515993"/>
            <a:ext cx="20859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6,120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9210675" y="6973193"/>
            <a:ext cx="20097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9134475" y="6515993"/>
            <a:ext cx="20859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251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1449050" y="6973193"/>
            <a:ext cx="23812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11372850" y="6515993"/>
            <a:ext cx="2457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₩10,040,000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4058900" y="6973193"/>
            <a:ext cx="1428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13982700" y="6515993"/>
            <a:ext cx="1504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5716250" y="6973193"/>
            <a:ext cx="1428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15716250" y="6515993"/>
            <a:ext cx="1504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pass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143000" y="7135118"/>
            <a:ext cx="2552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팝업 타이밍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848100" y="7135118"/>
            <a:ext cx="1219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219700" y="7135118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모바일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896100" y="7135118"/>
            <a:ext cx="20859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2,720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9134475" y="7135118"/>
            <a:ext cx="20859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1372850" y="7135118"/>
            <a:ext cx="2457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₩990,000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13982700" y="7135118"/>
            <a:ext cx="1504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5716250" y="7135118"/>
            <a:ext cx="1504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srm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143000" y="8710613"/>
            <a:ext cx="16002000" cy="966788"/>
          </a:xfrm>
          <a:custGeom>
            <a:rect b="b" l="l" r="r" t="t"/>
            <a:pathLst>
              <a:path extrusionOk="0" h="966788" w="16002000">
                <a:moveTo>
                  <a:pt x="0" y="0"/>
                </a:moveTo>
                <a:lnTo>
                  <a:pt x="16002000" y="0"/>
                </a:lnTo>
                <a:lnTo>
                  <a:pt x="16002000" y="795338"/>
                </a:lnTo>
                <a:cubicBezTo>
                  <a:pt x="16002000" y="890027"/>
                  <a:pt x="15925239" y="966788"/>
                  <a:pt x="15830550" y="966788"/>
                </a:cubicBezTo>
                <a:lnTo>
                  <a:pt x="171450" y="966788"/>
                </a:lnTo>
                <a:cubicBezTo>
                  <a:pt x="76761" y="966788"/>
                  <a:pt x="0" y="890027"/>
                  <a:pt x="0" y="795338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1143000" y="8710613"/>
            <a:ext cx="16002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1466850" y="9015413"/>
            <a:ext cx="1583436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원본은 이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8개 컬럼</a:t>
            </a:r>
            <a:r>
              <a:rPr b="1" i="0" lang="en-US" sz="225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뿐입니다 — 전환율 · uplift · p-value 같은 파생지표는 모두 이 데이터에서 계산합니다.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03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지표 읽기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챕터에서 쓰는 지표를 먼저 정리해 봅니다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1143000" y="197353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숫자를 읽는 기준이 같아야 화면을 같은 뜻으로 볼 수 있습니다.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143000" y="2606948"/>
            <a:ext cx="7791450" cy="1228725"/>
          </a:xfrm>
          <a:prstGeom prst="roundRect">
            <a:avLst>
              <a:gd fmla="val 12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1428750" y="2835548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전환율 (CVR)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428750" y="3249885"/>
            <a:ext cx="794194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conversions ÷ users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노출된 사용자 중 전환한 비율입니다.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9353550" y="2606948"/>
            <a:ext cx="7791450" cy="1228725"/>
          </a:xfrm>
          <a:prstGeom prst="roundRect">
            <a:avLst>
              <a:gd fmla="val 12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9639300" y="2835548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절대 차이 (Absolute Δ, %p)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9639300" y="3249885"/>
            <a:ext cx="7941945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두 전환율의 차이입니다. 단위가 </a:t>
            </a: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%포인트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라는 점에 주의해 주세요.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143000" y="4026173"/>
            <a:ext cx="7791450" cy="1585913"/>
          </a:xfrm>
          <a:prstGeom prst="roundRect">
            <a:avLst>
              <a:gd fmla="val 96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1428750" y="4254773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상대 uplift (%)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428750" y="4669110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대조군 대비 몇 % 개선인지를 나타냅니다. 기저 전환율이 낮으면 크게 보일 수 있습니다.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9353550" y="4026173"/>
            <a:ext cx="7791450" cy="1585913"/>
          </a:xfrm>
          <a:prstGeom prst="roundRect">
            <a:avLst>
              <a:gd fmla="val 96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9639300" y="4254773"/>
            <a:ext cx="7941945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p-value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9639300" y="4650060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관측된 차이가 우연으로 설명될 여지를 보여 주는 값입니다. 작을수록 우연으로 보기 어려우며, 관례적으로 0.05를 기준선으로 씁니다.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143000" y="5802585"/>
            <a:ext cx="7791450" cy="1585913"/>
          </a:xfrm>
          <a:prstGeom prst="roundRect">
            <a:avLst>
              <a:gd fmla="val 96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428750" y="6031185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95% 신뢰구간 (CI)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428750" y="6445523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효과가 놓일 만한 범위입니다. 구간이 </a:t>
            </a: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0을 포함하면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방향을 단정하기 어려운 상태로 보는 편입니다.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9353550" y="5802585"/>
            <a:ext cx="7791450" cy="1585913"/>
          </a:xfrm>
          <a:prstGeom prst="roundRect">
            <a:avLst>
              <a:gd fmla="val 96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9639300" y="6031185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MDE · 검정력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9639300" y="6445523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지금 표본으로 감지할 수 있는 최소 효과 크기와 그 확률입니다. 표본이 작으면 실제 효과도 놓칠 수 있습니다.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143000" y="7578998"/>
            <a:ext cx="7791450" cy="1585913"/>
          </a:xfrm>
          <a:prstGeom prst="roundRect">
            <a:avLst>
              <a:gd fmla="val 96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1428750" y="7807598"/>
            <a:ext cx="794194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가드레일 (Guardrail)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1428750" y="8221935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개선 지표가 오를 때 함께 나빠지면 안 되는 지표입니다. 매출 · 이탈 · AOV 등을 함께 봅니다.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9353550" y="7578998"/>
            <a:ext cx="7791450" cy="1585913"/>
          </a:xfrm>
          <a:prstGeom prst="roundRect">
            <a:avLst>
              <a:gd fmla="val 96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9639300" y="7807598"/>
            <a:ext cx="7941945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SRM (Sample Ratio Mismatch)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9639300" y="8202885"/>
            <a:ext cx="74365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그룹 배분 비율이 설계와 다르게 관측되는 상황입니다. 랜덤화나 트래킹을 먼저 점검하시는 편이 좋습니다.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04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질문 정의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대시보드가 답할 3가지 질문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차트를 먼저 고르기보다, 의사결정자가 묻는 질문에서 시작해 보겠습니다.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143000" y="3953768"/>
            <a:ext cx="5105400" cy="4386263"/>
          </a:xfrm>
          <a:prstGeom prst="roundRect">
            <a:avLst>
              <a:gd fmla="val 3909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1466850" y="4277618"/>
            <a:ext cx="49034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Q1 · 판정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1466850" y="4687193"/>
            <a:ext cx="490347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75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효과가 유의한가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1466850" y="5249168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전환율 차(%p), 상대 uplift, p-value, 95% CI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466850" y="6096893"/>
            <a:ext cx="4591431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의사결정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통계적 유의와 효과 크기를 함께 볼 때 채택을 검토하고, 하나만 충족하면 보류하는 편입니다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466850" y="7301805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차트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누적 전환율 차이 + CI 밴드 · Forest Plot · 의사결정 테이블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591300" y="3953768"/>
            <a:ext cx="5105400" cy="4386263"/>
          </a:xfrm>
          <a:prstGeom prst="roundRect">
            <a:avLst>
              <a:gd fmla="val 3909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6915150" y="4277618"/>
            <a:ext cx="49034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Q2 · 세그먼트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915150" y="4687193"/>
            <a:ext cx="490347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75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효과가 균일한가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915150" y="5249168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세그먼트별 uplift, 통계적 신뢰도, 표본 크기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915150" y="6096893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의사결정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특정 세그먼트에서만 효과가 보이면 부분 배포를, 서로 상충하면 보류를 검토합니다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915150" y="6944618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차트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세그먼트 산점도 (X=uplift · Y=신뢰도 · 원 크기=표본수)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12039600" y="3953768"/>
            <a:ext cx="5105400" cy="4386263"/>
          </a:xfrm>
          <a:prstGeom prst="roundRect">
            <a:avLst>
              <a:gd fmla="val 3909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12363450" y="4277618"/>
            <a:ext cx="49034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Q3 · 의사결정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12363450" y="4687193"/>
            <a:ext cx="490347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756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배포할까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12363450" y="5249168"/>
            <a:ext cx="4903470" cy="3952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효과 크기 × 가드레일 통과 여부를 동시에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12363450" y="5739705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의사결정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· 효과가 크고 가드레일을 통과하면 배포, 가드레일이 악화되면 보류로 봅니다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12363450" y="6587430"/>
            <a:ext cx="4591431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차트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· 실험 품질 경고 + 의사결정 테이블(Decision 열)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05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문제정의 → 방법론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설정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143000" y="3346549"/>
            <a:ext cx="7620000" cy="1576388"/>
          </a:xfrm>
          <a:prstGeom prst="roundRect">
            <a:avLst>
              <a:gd fmla="val 966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1447800" y="3594199"/>
            <a:ext cx="77114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문제 A · 판정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1447800" y="3946624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그룹 간 전환율 차 — 우연과 실제 차이를 구분해 봅니다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447800" y="4384774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측정 · 전환율차, 상대 uplift, p-value, 95% CI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8724900" y="3970437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9525000" y="3522762"/>
            <a:ext cx="7620000" cy="1223963"/>
          </a:xfrm>
          <a:prstGeom prst="roundRect">
            <a:avLst>
              <a:gd fmla="val 12451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9829800" y="3770412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누적 전환율 차이 + CI 밴드 · Forest Plot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9829800" y="4208562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신뢰구간이 0선과 겹치지 않는 차이를 우선 신뢰합니다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1143000" y="5151537"/>
            <a:ext cx="7620000" cy="1576388"/>
          </a:xfrm>
          <a:prstGeom prst="roundRect">
            <a:avLst>
              <a:gd fmla="val 966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1447800" y="5399187"/>
            <a:ext cx="77114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문제 B · 세그먼트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1447800" y="5751612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전체 효과 속 세그먼트 상충 — 균일성을 점검합니다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1447800" y="6189762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측정 · 세그먼트별 uplift, 신뢰도, 표본 크기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8724900" y="5775424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9525000" y="5327749"/>
            <a:ext cx="7620000" cy="1223963"/>
          </a:xfrm>
          <a:prstGeom prst="roundRect">
            <a:avLst>
              <a:gd fmla="val 12451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9829800" y="5575399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세그먼트 분석 산점도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9829800" y="6013549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신뢰도 × 효과 × 표본을 한 화면에서 함께 비교합니다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1143000" y="6956524"/>
            <a:ext cx="7620000" cy="1576388"/>
          </a:xfrm>
          <a:prstGeom prst="roundRect">
            <a:avLst>
              <a:gd fmla="val 966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1447800" y="7204174"/>
            <a:ext cx="77114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문제 C · 의사결정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1447800" y="7556599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배포 여부 — 가드레일을 함께 점검합니다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1447800" y="7994749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측정 · 효과크기, 가드레일 통과 여부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8724900" y="7580412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9525000" y="7132737"/>
            <a:ext cx="7620000" cy="1223963"/>
          </a:xfrm>
          <a:prstGeom prst="roundRect">
            <a:avLst>
              <a:gd fmla="val 12451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9829800" y="7380387"/>
            <a:ext cx="77114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실험 품질 경고 + 의사결정 테이블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9829800" y="7818537"/>
            <a:ext cx="771144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Decision 열에서 Ship / Hold 판정을 확인합니다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06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대시보드 레이아웃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대시보드 레이아웃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143000" y="197353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제목 · 필터 · KPI 카드 · 차트 · 데이터 테이블 — 화면 배치를 먼저 그려 봅니다.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143000" y="2568848"/>
            <a:ext cx="16002000" cy="985838"/>
          </a:xfrm>
          <a:prstGeom prst="roundRect">
            <a:avLst>
              <a:gd fmla="val 11594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552450" y="2759348"/>
            <a:ext cx="17183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A/B 테스트 분석 대시보드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552450" y="3087960"/>
            <a:ext cx="17183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제목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1143000" y="3688035"/>
            <a:ext cx="16002000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1371600" y="3921398"/>
            <a:ext cx="50467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필터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1933426" y="3859485"/>
            <a:ext cx="738411" cy="428625"/>
          </a:xfrm>
          <a:prstGeom prst="roundRect">
            <a:avLst>
              <a:gd fmla="val 17778" name="adj"/>
            </a:avLst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2104876" y="3935685"/>
            <a:ext cx="47171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2805187" y="3859485"/>
            <a:ext cx="738411" cy="428625"/>
          </a:xfrm>
          <a:prstGeom prst="roundRect">
            <a:avLst>
              <a:gd fmla="val 17778" name="adj"/>
            </a:avLst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2976637" y="3935685"/>
            <a:ext cx="47171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143000" y="4592910"/>
            <a:ext cx="3900488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1313093" y="4821510"/>
            <a:ext cx="35603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진행 실험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5176838" y="4592910"/>
            <a:ext cx="3900488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5346930" y="4821510"/>
            <a:ext cx="35603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유의 실험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9210675" y="4592910"/>
            <a:ext cx="3900488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9380768" y="4821510"/>
            <a:ext cx="35603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평균 효과크기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3244513" y="4592910"/>
            <a:ext cx="3900488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13414605" y="4821510"/>
            <a:ext cx="35603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가드레일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143000" y="5497785"/>
            <a:ext cx="5245075" cy="1828800"/>
          </a:xfrm>
          <a:prstGeom prst="roundRect">
            <a:avLst>
              <a:gd fmla="val 6250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1132206" y="6107385"/>
            <a:ext cx="526666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효과 크기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1132206" y="6435998"/>
            <a:ext cx="52666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forest plot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6521425" y="5497785"/>
            <a:ext cx="5245075" cy="1828800"/>
          </a:xfrm>
          <a:prstGeom prst="roundRect">
            <a:avLst>
              <a:gd fmla="val 6250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6510631" y="6107385"/>
            <a:ext cx="526666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누적 전환율 차이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6510631" y="6435998"/>
            <a:ext cx="5266663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11899850" y="5497785"/>
            <a:ext cx="5245150" cy="1828800"/>
          </a:xfrm>
          <a:prstGeom prst="roundRect">
            <a:avLst>
              <a:gd fmla="val 6250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11889053" y="6107385"/>
            <a:ext cx="526674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세그먼트 분석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11889053" y="6435998"/>
            <a:ext cx="526674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산점도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1143000" y="7459935"/>
            <a:ext cx="16002000" cy="771525"/>
          </a:xfrm>
          <a:prstGeom prst="roundRect">
            <a:avLst>
              <a:gd fmla="val 14815" name="adj"/>
            </a:avLst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1131570" y="7688535"/>
            <a:ext cx="1602486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 테이블 · 실험 의사결정 (효과 / p값 / 신뢰구간 / 가드레일 / 판정)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07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기획 · 차트 구성과 활용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차트 구성과 활용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1143000" y="197353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분석 의도별로 고른 차트와 그 활용 방법입니다.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1143000" y="2587898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1409700" y="2816498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9700" y="2816498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0"/>
          <p:cNvSpPr/>
          <p:nvPr/>
        </p:nvSpPr>
        <p:spPr>
          <a:xfrm>
            <a:off x="3848100" y="3107457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실험 효과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forest plot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3848100" y="3569419"/>
            <a:ext cx="5003483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실험별 효과크기와 95% 신뢰구간을 함께 봅니다. 구간이 0을 지나지 않으면 유의한 쪽으로 해석합니다.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9315450" y="2587898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9582150" y="2816498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8" name="Google Shape;29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82150" y="2816498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0"/>
          <p:cNvSpPr/>
          <p:nvPr/>
        </p:nvSpPr>
        <p:spPr>
          <a:xfrm>
            <a:off x="12020550" y="3286051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세그먼트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산점도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12020550" y="3748013"/>
            <a:ext cx="500348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세그먼트별 uplift 분포를 확인합니다. 사전에 정의한 세그먼트만 신뢰하시는 편이 안전합니다.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1143000" y="5427241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1409700" y="5655841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9700" y="5655841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0"/>
          <p:cNvSpPr/>
          <p:nvPr/>
        </p:nvSpPr>
        <p:spPr>
          <a:xfrm>
            <a:off x="3848100" y="6125394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누적 전환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선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3848100" y="6587356"/>
            <a:ext cx="500348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일별 누적 전환 차이 추이를 봅니다. 값이 수렴하는지로 안정성을 확인할 수 있습니다.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9315450" y="5427241"/>
            <a:ext cx="7829550" cy="2572643"/>
          </a:xfrm>
          <a:prstGeom prst="roundRect">
            <a:avLst>
              <a:gd fmla="val 666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9582150" y="5655841"/>
            <a:ext cx="2190750" cy="2115443"/>
          </a:xfrm>
          <a:prstGeom prst="roundRect">
            <a:avLst>
              <a:gd fmla="val 54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82150" y="5655841"/>
            <a:ext cx="2190750" cy="2115443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0"/>
          <p:cNvSpPr/>
          <p:nvPr/>
        </p:nvSpPr>
        <p:spPr>
          <a:xfrm>
            <a:off x="12020550" y="6125394"/>
            <a:ext cx="53435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판정 · </a:t>
            </a: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표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12020550" y="6587356"/>
            <a:ext cx="5003483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1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p값 · 신뢰구간 · 가드레일의 정밀 수치를 확인하고 ship / 보류를 판정합니다.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08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"/>
          <p:cNvSpPr/>
          <p:nvPr/>
        </p:nvSpPr>
        <p:spPr>
          <a:xfrm>
            <a:off x="1143000" y="3409206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1143000" y="3985468"/>
            <a:ext cx="17602200" cy="1098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CLAUDE.md + Skill로 제작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1143000" y="5389066"/>
            <a:ext cx="14668500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기획안을 규칙과 절차로 묶어, 프롬프트로 레퍼런스와 같은 품질의 대시보드를 만들어 봅니다.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1143000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 기획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2595339" y="6849219"/>
            <a:ext cx="116658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2595339" y="6492032"/>
            <a:ext cx="124278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 제작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4047679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 활용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09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완성 결과 미리보기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완성 대시보드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1143000" y="2087835"/>
            <a:ext cx="8123301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4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Step 1 기획안의 구성 그대로입니다 — forest plot · 세그먼트 비교 · 의사결정 표.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1143000" y="3173685"/>
            <a:ext cx="1330003" cy="519113"/>
          </a:xfrm>
          <a:prstGeom prst="roundRect">
            <a:avLst>
              <a:gd fmla="val 18349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1333500" y="3287985"/>
            <a:ext cx="1025203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실험 18개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2587303" y="3173685"/>
            <a:ext cx="1197546" cy="519113"/>
          </a:xfrm>
          <a:prstGeom prst="roundRect">
            <a:avLst>
              <a:gd fmla="val 18349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2777803" y="3287985"/>
            <a:ext cx="892746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유의 7개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3899148" y="3173685"/>
            <a:ext cx="2225799" cy="519113"/>
          </a:xfrm>
          <a:prstGeom prst="roundRect">
            <a:avLst>
              <a:gd fmla="val 18349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4089648" y="3287985"/>
            <a:ext cx="192099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가드레일 통과 89%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1143000" y="3921398"/>
            <a:ext cx="7886700" cy="944835"/>
          </a:xfrm>
          <a:prstGeom prst="roundRect">
            <a:avLst>
              <a:gd fmla="val 18146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1447800" y="4188098"/>
            <a:ext cx="7513701" cy="4495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16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EDA → 지표 계산 → 레퍼런스 참조 → 렌더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1143000" y="5094833"/>
            <a:ext cx="8123301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데이터만 바꾸고 구조는 고정해 두면, 같은 화면으로 다음 실험도 그대로 읽을 수 있습니다.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9525000" y="2087835"/>
            <a:ext cx="7620000" cy="6517853"/>
          </a:xfrm>
          <a:prstGeom prst="roundRect">
            <a:avLst>
              <a:gd fmla="val 2630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3" name="Google Shape;3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4525" y="2097360"/>
            <a:ext cx="7600950" cy="649880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2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10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작업 폴더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킷 폴더 구조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대시보드별 </a:t>
            </a:r>
            <a:r>
              <a:rPr b="1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전용 폴더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안의 스킬로 작업합니다 — 폴더에서 명령어 한 줄입니다.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1143000" y="4104308"/>
            <a:ext cx="9296400" cy="3854351"/>
          </a:xfrm>
          <a:prstGeom prst="roundRect">
            <a:avLst>
              <a:gd fmla="val 4448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1504950" y="4428158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01-abtest/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1504950" y="4886251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</a:t>
            </a: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디자인 규칙(헌법)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1504950" y="5344344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</a:t>
            </a: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.claude/skills/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1504950" y="5802437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 └─ </a:t>
            </a: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build-dashboard/</a:t>
            </a: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작업 절차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1504950" y="6260529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templates/reference.html품질 기준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1504950" y="6718622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data/experiments.csv샘플 데이터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1504950" y="7176715"/>
            <a:ext cx="8829675" cy="496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3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└─ output/결과물 생성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10858500" y="4104308"/>
            <a:ext cx="691515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실습 · 킷 폴더에서 실행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10858500" y="4528170"/>
            <a:ext cx="6286500" cy="3699421"/>
          </a:xfrm>
          <a:prstGeom prst="roundRect">
            <a:avLst>
              <a:gd fmla="val 4635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11220450" y="485202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킷 폴더로 이동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11220450" y="532254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cd 01-abtest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11220450" y="590736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Claude Code 실행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11220450" y="6377880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11220450" y="6962701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명령어 한 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11220450" y="7433221"/>
            <a:ext cx="5729478" cy="5086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7458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/build-dashboard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11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두 가지 방법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 실행 vs 자연어 프롬프트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둘 다 같은 대시보드를 만듭니다 — 방식이 다를 뿐입니다.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1143000" y="4358580"/>
            <a:ext cx="7791450" cy="3595688"/>
          </a:xfrm>
          <a:prstGeom prst="roundRect">
            <a:avLst>
              <a:gd fmla="val 4768" name="adj"/>
            </a:avLst>
          </a:pr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1524000" y="4701480"/>
            <a:ext cx="77323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스킬 실행 · 한 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1524000" y="5172968"/>
            <a:ext cx="773239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Courier New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/build-dashboard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1524000" y="5782568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폴더의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data/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안 CSV를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자동으로 사용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(기본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experiments.csv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1524000" y="6268343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정해진 5단계 절차를 그대로 실행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1524000" y="6754118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한 줄이면 되고, 같은 결과를 반복해 얻기 쉽습니다 (재현성)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1524000" y="7239893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다른 데이터는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Courier New"/>
                <a:ea typeface="Courier New"/>
                <a:cs typeface="Courier New"/>
                <a:sym typeface="Courier New"/>
              </a:rPr>
              <a:t>/build-dashboard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뒤에 경로를 붙여 지정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9353550" y="4358580"/>
            <a:ext cx="7791450" cy="3614738"/>
          </a:xfrm>
          <a:prstGeom prst="roundRect">
            <a:avLst>
              <a:gd fmla="val 4743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9734550" y="4701480"/>
            <a:ext cx="77323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자연어 프롬프트 · 직접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9734550" y="5172968"/>
            <a:ext cx="77323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네 가지를 직접 말합니다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9734550" y="5801618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무슨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로 — "experiments.csv로"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9734550" y="6287393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무슨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기준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으로 — "CLAUDE.md 규칙을 따라"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9734550" y="6773168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무슨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스킬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로 — "build-dashboard 스킬로"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9734550" y="7258943"/>
            <a:ext cx="77323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무엇을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기준 삼아 </a:t>
            </a:r>
            <a:r>
              <a:rPr b="0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"reference.html과 같은 구조로"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12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5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제작 · 규칙과 절차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CLAUDE.md + Skill 병행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1143000" y="2011635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규칙은 </a:t>
            </a:r>
            <a:r>
              <a:rPr b="0" i="0" lang="en-US" sz="21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 짧게, 절차는 Skill에 단계로 — 역할을 나눠 둡니다.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1143000" y="4159597"/>
            <a:ext cx="85705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CLAUDE.md · 규칙(헌법)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1143000" y="4592985"/>
            <a:ext cx="7791450" cy="3090714"/>
          </a:xfrm>
          <a:prstGeom prst="roundRect">
            <a:avLst>
              <a:gd fmla="val 5547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1504950" y="4916835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디자인·KPI 규칙만 짧게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1504950" y="5405438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전환율 = conv/users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1504950" y="5894040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유의성 = 비율 z-test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1504950" y="6382643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가드레일 = 효과와 동시 점검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1504950" y="6871246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KPI 색 = 검정 고정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9353550" y="4159597"/>
            <a:ext cx="857059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Courier New"/>
                <a:ea typeface="Courier New"/>
                <a:cs typeface="Courier New"/>
                <a:sym typeface="Courier New"/>
              </a:rPr>
              <a:t>build-dashboard Skill · 절차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9353550" y="4592985"/>
            <a:ext cx="7791450" cy="3579316"/>
          </a:xfrm>
          <a:prstGeom prst="roundRect">
            <a:avLst>
              <a:gd fmla="val 4790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9715500" y="4916835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명령어 한 줄이 5단계 수행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9715500" y="5405438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 데이터 읽기 (EDA)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9715500" y="5894040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 지표 계산 (실제 숫자)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9715500" y="6382643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 reference 구조 흡수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9715500" y="6871246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 데이터 주입해 렌더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9715500" y="7359848"/>
            <a:ext cx="7279577" cy="5267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819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 저장 + 배포 권고 요약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13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6"/>
          <p:cNvSpPr/>
          <p:nvPr/>
        </p:nvSpPr>
        <p:spPr>
          <a:xfrm>
            <a:off x="1143000" y="3409206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1143000" y="3985468"/>
            <a:ext cx="17602200" cy="10987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7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활용 · 인사이트 도출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1143000" y="5389066"/>
            <a:ext cx="14668500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완성된 대시보드를 읽는 순서와, 실제 실험 데이터에서 배포 결정을 뽑아내는 방법을 살펴봅니다.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1143000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1 기획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2595339" y="6492032"/>
            <a:ext cx="124278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2 제작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4047679" y="6849219"/>
            <a:ext cx="116658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4047679" y="6492032"/>
            <a:ext cx="124278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 3 활용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14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7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활용 · 읽는 순서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대시보드 읽기 3단계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1143000" y="2087835"/>
            <a:ext cx="7620000" cy="6517853"/>
          </a:xfrm>
          <a:prstGeom prst="roundRect">
            <a:avLst>
              <a:gd fmla="val 2630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8" name="Google Shape;4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2097360"/>
            <a:ext cx="7600950" cy="6498803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7"/>
          <p:cNvSpPr/>
          <p:nvPr/>
        </p:nvSpPr>
        <p:spPr>
          <a:xfrm>
            <a:off x="9258300" y="3948931"/>
            <a:ext cx="442540" cy="438150"/>
          </a:xfrm>
          <a:prstGeom prst="roundRect">
            <a:avLst>
              <a:gd fmla="val 21739" name="adj"/>
            </a:avLst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7"/>
          <p:cNvSpPr/>
          <p:nvPr/>
        </p:nvSpPr>
        <p:spPr>
          <a:xfrm>
            <a:off x="9410700" y="4025131"/>
            <a:ext cx="213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9929440" y="3948931"/>
            <a:ext cx="655465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유의 실험 · 가드레일 확인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9929440" y="4410894"/>
            <a:ext cx="655465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p&lt;0.05를 통과하고 가드레일도 통과한 실험부터 추려 봅니다.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9258300" y="4963344"/>
            <a:ext cx="442540" cy="438150"/>
          </a:xfrm>
          <a:prstGeom prst="roundRect">
            <a:avLst>
              <a:gd fmla="val 21739" name="adj"/>
            </a:avLst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7"/>
          <p:cNvSpPr/>
          <p:nvPr/>
        </p:nvSpPr>
        <p:spPr>
          <a:xfrm>
            <a:off x="9410700" y="5039544"/>
            <a:ext cx="213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9929440" y="4963344"/>
            <a:ext cx="6363117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세그먼트별 효과 점검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9929440" y="5425306"/>
            <a:ext cx="636311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forest plot과 세그먼트 비교로 효과가 균일한지 확인합니다.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9258300" y="5977756"/>
            <a:ext cx="442540" cy="438150"/>
          </a:xfrm>
          <a:prstGeom prst="roundRect">
            <a:avLst>
              <a:gd fmla="val 21739" name="adj"/>
            </a:avLst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7"/>
          <p:cNvSpPr/>
          <p:nvPr/>
        </p:nvSpPr>
        <p:spPr>
          <a:xfrm>
            <a:off x="9410700" y="6053956"/>
            <a:ext cx="213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9929440" y="5977756"/>
            <a:ext cx="7542327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배포 / 보류 결정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9929440" y="6439719"/>
            <a:ext cx="754232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의사결정 표에서 효과 × 가드레일을 함께 보고 ship 여부를 판단합니다.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15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8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활용 · 인사이트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인사이트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1143000" y="197353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18개 실험의 유의성 · 효과 · 가드레일에서 확인된 내용입니다.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1143000" y="2587898"/>
            <a:ext cx="16002000" cy="2152650"/>
          </a:xfrm>
          <a:prstGeom prst="roundRect">
            <a:avLst>
              <a:gd fmla="val 796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8"/>
          <p:cNvSpPr/>
          <p:nvPr/>
        </p:nvSpPr>
        <p:spPr>
          <a:xfrm>
            <a:off x="1466850" y="2854598"/>
            <a:ext cx="838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2476500" y="2854598"/>
            <a:ext cx="157791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18개 중 7개가 유의 기준을 통과했습니다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2476500" y="3311798"/>
            <a:ext cx="1477498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p&lt;0.05를 통과한 실험은 7개(39%)였습니다. 최고 상대 uplift는 +31.4%(가입 폼 간소화, 절대 +1.61%p, p&lt;0.001)로 관측되었고, 나머지 11개는 표본 또는 효과가 부족해 판정을 보류했습니다.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2476500" y="4169048"/>
            <a:ext cx="157791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유의 7개는 우선 배포를 검토하고, 보류 11개는 표본을 보강해 보겠습니다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1143000" y="4931048"/>
            <a:ext cx="16002000" cy="2152650"/>
          </a:xfrm>
          <a:prstGeom prst="roundRect">
            <a:avLst>
              <a:gd fmla="val 796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8"/>
          <p:cNvSpPr/>
          <p:nvPr/>
        </p:nvSpPr>
        <p:spPr>
          <a:xfrm>
            <a:off x="1466850" y="5197748"/>
            <a:ext cx="838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2476500" y="5197748"/>
            <a:ext cx="157791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통계적 유의와 실질 효과는 다르게 볼 필요가 있습니다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2476500" y="5654948"/>
            <a:ext cx="1477498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유의한 7개 중에도 효과 크기가 작거나 신뢰구간이 0에 가까운 건은 배포를 보류하는 편이 안전합니다. 표본이 작은 실험은 MDE와 검정력을 다시 확인하면 실제 효과인지 판별하는 데 도움이 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2476500" y="6512198"/>
            <a:ext cx="157791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효과 크기 · 신뢰구간으로 2차 필터링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1143000" y="7274198"/>
            <a:ext cx="16002000" cy="2152650"/>
          </a:xfrm>
          <a:prstGeom prst="roundRect">
            <a:avLst>
              <a:gd fmla="val 796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8"/>
          <p:cNvSpPr/>
          <p:nvPr/>
        </p:nvSpPr>
        <p:spPr>
          <a:xfrm>
            <a:off x="1466850" y="7540898"/>
            <a:ext cx="838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2476500" y="7540898"/>
            <a:ext cx="157791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가드레일은 16개 통과, 2개 플래그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2476500" y="7998098"/>
            <a:ext cx="1477498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전환율 상승이 매출이나 이탈을 해치지 않았는지 점검한 결과 16개가 통과했습니다. 체크아웃 흐름(AOV 하락)과 팝업 타이밍(SRM) 2개는 가드레일 플래그가 떠 배포를 보류했습니다.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2476500" y="8855348"/>
            <a:ext cx="157791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플래그 2건은 원인 규명 후 재실험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16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9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활용 · 액션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1143000" y="12001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액션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1143000" y="2377380"/>
            <a:ext cx="16002000" cy="1652588"/>
          </a:xfrm>
          <a:custGeom>
            <a:rect b="b" l="l" r="r" t="t"/>
            <a:pathLst>
              <a:path extrusionOk="0" h="1652588" w="16002000">
                <a:moveTo>
                  <a:pt x="0" y="0"/>
                </a:moveTo>
                <a:lnTo>
                  <a:pt x="15849600" y="0"/>
                </a:lnTo>
                <a:cubicBezTo>
                  <a:pt x="15890019" y="0"/>
                  <a:pt x="15928783" y="16056"/>
                  <a:pt x="15957363" y="44637"/>
                </a:cubicBezTo>
                <a:cubicBezTo>
                  <a:pt x="15985944" y="73217"/>
                  <a:pt x="16002000" y="111981"/>
                  <a:pt x="16002000" y="152400"/>
                </a:cubicBezTo>
                <a:lnTo>
                  <a:pt x="16002000" y="1500188"/>
                </a:lnTo>
                <a:cubicBezTo>
                  <a:pt x="16002000" y="1584356"/>
                  <a:pt x="15933768" y="1652588"/>
                  <a:pt x="15849600" y="1652588"/>
                </a:cubicBezTo>
                <a:lnTo>
                  <a:pt x="0" y="1652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9"/>
          <p:cNvSpPr/>
          <p:nvPr/>
        </p:nvSpPr>
        <p:spPr>
          <a:xfrm>
            <a:off x="1143000" y="2377380"/>
            <a:ext cx="57150" cy="1652588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9"/>
          <p:cNvSpPr/>
          <p:nvPr/>
        </p:nvSpPr>
        <p:spPr>
          <a:xfrm>
            <a:off x="1524000" y="2625030"/>
            <a:ext cx="1682686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1524000" y="2963168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가드레일 통과 + 효과가 큰 실험부터 배포 검토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1524000" y="3410843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효과 크기와 신뢰구간을 확인한 뒤 상위 유의 실험부터 우선 배포하고, 검증된 전환율 개선만 반영합니다.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1143000" y="4201418"/>
            <a:ext cx="16002000" cy="1652588"/>
          </a:xfrm>
          <a:custGeom>
            <a:rect b="b" l="l" r="r" t="t"/>
            <a:pathLst>
              <a:path extrusionOk="0" h="1652588" w="16002000">
                <a:moveTo>
                  <a:pt x="0" y="0"/>
                </a:moveTo>
                <a:lnTo>
                  <a:pt x="15849600" y="0"/>
                </a:lnTo>
                <a:cubicBezTo>
                  <a:pt x="15890019" y="0"/>
                  <a:pt x="15928783" y="16056"/>
                  <a:pt x="15957363" y="44637"/>
                </a:cubicBezTo>
                <a:cubicBezTo>
                  <a:pt x="15985944" y="73217"/>
                  <a:pt x="16002000" y="111981"/>
                  <a:pt x="16002000" y="152400"/>
                </a:cubicBezTo>
                <a:lnTo>
                  <a:pt x="16002000" y="1500188"/>
                </a:lnTo>
                <a:cubicBezTo>
                  <a:pt x="16002000" y="1584356"/>
                  <a:pt x="15933768" y="1652588"/>
                  <a:pt x="15849600" y="1652588"/>
                </a:cubicBezTo>
                <a:lnTo>
                  <a:pt x="0" y="1652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1143000" y="4201418"/>
            <a:ext cx="57150" cy="1652588"/>
          </a:xfrm>
          <a:prstGeom prst="rect">
            <a:avLst/>
          </a:prstGeom>
          <a:solidFill>
            <a:srgbClr val="9198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9"/>
          <p:cNvSpPr/>
          <p:nvPr/>
        </p:nvSpPr>
        <p:spPr>
          <a:xfrm>
            <a:off x="1524000" y="4449068"/>
            <a:ext cx="1682686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1524000" y="4787205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유의 미달 실험은 표본 보강 · 재설계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1524000" y="5234880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보류한 11개는 MDE를 다시 설정하고 표본을 확대한 뒤 재실험합니다. 작은 효과를 놓치는 상황(2종 오류)을 줄이는 데 도움이 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1143000" y="6025455"/>
            <a:ext cx="16002000" cy="1652588"/>
          </a:xfrm>
          <a:custGeom>
            <a:rect b="b" l="l" r="r" t="t"/>
            <a:pathLst>
              <a:path extrusionOk="0" h="1652588" w="16002000">
                <a:moveTo>
                  <a:pt x="0" y="0"/>
                </a:moveTo>
                <a:lnTo>
                  <a:pt x="15849600" y="0"/>
                </a:lnTo>
                <a:cubicBezTo>
                  <a:pt x="15890019" y="0"/>
                  <a:pt x="15928783" y="16056"/>
                  <a:pt x="15957363" y="44637"/>
                </a:cubicBezTo>
                <a:cubicBezTo>
                  <a:pt x="15985944" y="73217"/>
                  <a:pt x="16002000" y="111981"/>
                  <a:pt x="16002000" y="152400"/>
                </a:cubicBezTo>
                <a:lnTo>
                  <a:pt x="16002000" y="1500188"/>
                </a:lnTo>
                <a:cubicBezTo>
                  <a:pt x="16002000" y="1584356"/>
                  <a:pt x="15933768" y="1652588"/>
                  <a:pt x="15849600" y="1652588"/>
                </a:cubicBezTo>
                <a:lnTo>
                  <a:pt x="0" y="1652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9"/>
          <p:cNvSpPr/>
          <p:nvPr/>
        </p:nvSpPr>
        <p:spPr>
          <a:xfrm>
            <a:off x="1143000" y="6025455"/>
            <a:ext cx="57150" cy="1652588"/>
          </a:xfrm>
          <a:prstGeom prst="rect">
            <a:avLst/>
          </a:prstGeom>
          <a:solidFill>
            <a:srgbClr val="9198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9"/>
          <p:cNvSpPr/>
          <p:nvPr/>
        </p:nvSpPr>
        <p:spPr>
          <a:xfrm>
            <a:off x="1524000" y="6273105"/>
            <a:ext cx="1682686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1524000" y="6611243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SRM · 가드레일 플래그의 원인 규명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9"/>
          <p:cNvSpPr/>
          <p:nvPr/>
        </p:nvSpPr>
        <p:spPr>
          <a:xfrm>
            <a:off x="1524000" y="7058918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팝업 타이밍(SRM)과 체크아웃 흐름(AOV 하락) 2건은 랜덤화와 트래킹부터 점검한 뒤 재실험으로 확정합니다.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1143000" y="7849493"/>
            <a:ext cx="16002000" cy="1652588"/>
          </a:xfrm>
          <a:custGeom>
            <a:rect b="b" l="l" r="r" t="t"/>
            <a:pathLst>
              <a:path extrusionOk="0" h="1652588" w="16002000">
                <a:moveTo>
                  <a:pt x="0" y="0"/>
                </a:moveTo>
                <a:lnTo>
                  <a:pt x="15849600" y="0"/>
                </a:lnTo>
                <a:cubicBezTo>
                  <a:pt x="15890019" y="0"/>
                  <a:pt x="15928783" y="16056"/>
                  <a:pt x="15957363" y="44637"/>
                </a:cubicBezTo>
                <a:cubicBezTo>
                  <a:pt x="15985944" y="73217"/>
                  <a:pt x="16002000" y="111981"/>
                  <a:pt x="16002000" y="152400"/>
                </a:cubicBezTo>
                <a:lnTo>
                  <a:pt x="16002000" y="1500188"/>
                </a:lnTo>
                <a:cubicBezTo>
                  <a:pt x="16002000" y="1584356"/>
                  <a:pt x="15933768" y="1652588"/>
                  <a:pt x="15849600" y="1652588"/>
                </a:cubicBezTo>
                <a:lnTo>
                  <a:pt x="0" y="1652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9"/>
          <p:cNvSpPr/>
          <p:nvPr/>
        </p:nvSpPr>
        <p:spPr>
          <a:xfrm>
            <a:off x="1143000" y="7849493"/>
            <a:ext cx="57150" cy="16525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9"/>
          <p:cNvSpPr/>
          <p:nvPr/>
        </p:nvSpPr>
        <p:spPr>
          <a:xfrm>
            <a:off x="1524000" y="8097143"/>
            <a:ext cx="1682686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1524000" y="8435280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다중 비교 보정 + 배포 후 추적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9"/>
          <p:cNvSpPr/>
          <p:nvPr/>
        </p:nvSpPr>
        <p:spPr>
          <a:xfrm>
            <a:off x="1524000" y="8882955"/>
            <a:ext cx="1682686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18개를 동시에 비교하면 위양성이 누적될 수 있어 보정을 적용합니다. 배포 후에는 노벨티 효과가 가라앉는 시점에 효과를 다시 측정해 봅니다.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16618967" y="9810750"/>
            <a:ext cx="113563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Courier New"/>
                <a:ea typeface="Courier New"/>
                <a:cs typeface="Courier New"/>
                <a:sym typeface="Courier New"/>
              </a:rPr>
              <a:t>17 / 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