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2228552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대시보드 실습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3000" y="2976265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2100">
                <a:solidFill>
                  <a:srgbClr val="F7585C"/>
                </a:solidFill>
              </a:rPr>
              <a:t>5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 · CHAPTER 05 · HR PEOPLE ANALYTICS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3533477"/>
            <a:ext cx="17602200" cy="1167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2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HR 채용</a:t>
            </a:r>
            <a:r>
              <a:rPr b="1" lang="en-US" sz="7800">
                <a:solidFill>
                  <a:srgbClr val="FFFFFF"/>
                </a:solidFill>
              </a:rPr>
              <a:t> </a:t>
            </a: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910361"/>
            <a:ext cx="176022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채용 퍼널과 이탈 위험을 함께 놓고, 먼저 개입할 대상을 찾아 봅니다.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648548"/>
            <a:ext cx="1524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43000" y="616289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6850" y="646769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66850" y="6882036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466850" y="745829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채용 퍼널 · 이탈 위험 · 부서 격차 설계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578575" y="616289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902425" y="646769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902425" y="6882036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제작 실습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02425" y="745829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Skill 프롬프트로 제작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2014150" y="6162898"/>
            <a:ext cx="5130850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338000" y="6467698"/>
            <a:ext cx="49314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2338000" y="6882036"/>
            <a:ext cx="4931465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2338000" y="7458298"/>
            <a:ext cx="49314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채용 병목 개선과 이탈 조기 개입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HR 대시보드 기획안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질문에 답할지, 왜 이 분석 방법인지, 왜 이렇게 시각화하는지를 먼저 설계해 보겠습니다.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143000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9533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입력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HR 데이터 — 채용 + 직원 (2개 소스)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채용 퍼널(ATS)과 직원 단위(HRIS), 두 데이터를 합쳐서 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143000" y="3608040"/>
            <a:ext cx="3573140" cy="433388"/>
          </a:xfrm>
          <a:prstGeom prst="roundRect">
            <a:avLst>
              <a:gd fmla="val 17582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295400" y="3684240"/>
            <a:ext cx="3375534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recruiting.csv · 채용 퍼널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43000" y="4622453"/>
            <a:ext cx="17716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43000" y="4231928"/>
            <a:ext cx="1847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05150" y="4622453"/>
            <a:ext cx="17716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3105150" y="4231928"/>
            <a:ext cx="1847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stage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067300" y="4622453"/>
            <a:ext cx="1905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991100" y="4231928"/>
            <a:ext cx="1981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candidates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162800" y="4622453"/>
            <a:ext cx="1714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7086600" y="4231928"/>
            <a:ext cx="179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passed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143000" y="5222528"/>
            <a:ext cx="17716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143000" y="4784378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105150" y="5222528"/>
            <a:ext cx="17716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105150" y="4784378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067300" y="5222528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991100" y="4784378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520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162800" y="5222528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086600" y="4784378"/>
            <a:ext cx="179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156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143000" y="5803553"/>
            <a:ext cx="17716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143000" y="5365403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105150" y="5803553"/>
            <a:ext cx="17716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105150" y="5365403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서류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67300" y="5803553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991100" y="5365403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156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162800" y="5803553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086600" y="5365403"/>
            <a:ext cx="179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98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143000" y="6384578"/>
            <a:ext cx="17716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143000" y="5946428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105150" y="6384578"/>
            <a:ext cx="17716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105150" y="5946428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1차면접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067300" y="6384578"/>
            <a:ext cx="1905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4991100" y="5946428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98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162800" y="6384578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086600" y="5946428"/>
            <a:ext cx="179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54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143000" y="6527453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105150" y="6527453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오퍼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991100" y="6527453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086600" y="6527453"/>
            <a:ext cx="179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143000" y="7118003"/>
            <a:ext cx="850773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 퍼널 전환율 · time-to-hire · 오퍼 수락률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410700" y="3608040"/>
            <a:ext cx="3435474" cy="433388"/>
          </a:xfrm>
          <a:prstGeom prst="roundRect">
            <a:avLst>
              <a:gd fmla="val 175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9563100" y="3684240"/>
            <a:ext cx="323373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employees.csv · 직원 단위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9410700" y="4622453"/>
            <a:ext cx="1577057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9410700" y="4231928"/>
            <a:ext cx="16532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employee_id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1159207" y="4622453"/>
            <a:ext cx="1333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1159207" y="4231928"/>
            <a:ext cx="1409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dept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2664157" y="4622453"/>
            <a:ext cx="1143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2664157" y="4231928"/>
            <a:ext cx="121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perf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3978607" y="4622453"/>
            <a:ext cx="1185193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3978607" y="4231928"/>
            <a:ext cx="12613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5335250" y="4622453"/>
            <a:ext cx="180975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5259050" y="4231928"/>
            <a:ext cx="1885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risk_score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9410700" y="5222528"/>
            <a:ext cx="157705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9410700" y="4784378"/>
            <a:ext cx="16532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E1001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1159207" y="5222528"/>
            <a:ext cx="1333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1159207" y="4784378"/>
            <a:ext cx="140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영업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2664157" y="5222528"/>
            <a:ext cx="1143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2664157" y="4784378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3978607" y="5222528"/>
            <a:ext cx="118519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3978607" y="4784378"/>
            <a:ext cx="12613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재직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5335250" y="5222528"/>
            <a:ext cx="1809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5259050" y="4784378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82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410700" y="5803553"/>
            <a:ext cx="157705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410700" y="5365403"/>
            <a:ext cx="16532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E1002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1159207" y="5803553"/>
            <a:ext cx="1333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1159207" y="5365403"/>
            <a:ext cx="140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2664157" y="5803553"/>
            <a:ext cx="1143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2664157" y="5365403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3978607" y="5803553"/>
            <a:ext cx="118519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3978607" y="5365403"/>
            <a:ext cx="12613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재직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5335250" y="5803553"/>
            <a:ext cx="1809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15259050" y="5365403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74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410700" y="6384578"/>
            <a:ext cx="157705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9410700" y="5946428"/>
            <a:ext cx="16532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E1187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1159207" y="6384578"/>
            <a:ext cx="1333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1159207" y="5946428"/>
            <a:ext cx="140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2664157" y="6384578"/>
            <a:ext cx="1143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2664157" y="5946428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3978607" y="6384578"/>
            <a:ext cx="118519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3978607" y="5946428"/>
            <a:ext cx="12613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재직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5335250" y="6384578"/>
            <a:ext cx="1809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5259050" y="5946428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410700" y="6527453"/>
            <a:ext cx="16532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E1295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159207" y="6527453"/>
            <a:ext cx="140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영업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2664157" y="6527453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3978607" y="6527453"/>
            <a:ext cx="12613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퇴사 · 자발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5259050" y="6527453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198A1"/>
                </a:solidFill>
                <a:latin typeface="Courier New"/>
                <a:ea typeface="Courier New"/>
                <a:cs typeface="Courier New"/>
                <a:sym typeface="Courier New"/>
              </a:rPr>
              <a:t>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9410700" y="7118003"/>
            <a:ext cx="850773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 재직 인원 · 자발적 이직률 · 성과 분포 · 이탈 위험(risk ≥ 70)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143000" y="8323957"/>
            <a:ext cx="16002000" cy="1353443"/>
          </a:xfrm>
          <a:custGeom>
            <a:rect b="b" l="l" r="r" t="t"/>
            <a:pathLst>
              <a:path extrusionOk="0" h="1353443" w="16002000">
                <a:moveTo>
                  <a:pt x="0" y="0"/>
                </a:moveTo>
                <a:lnTo>
                  <a:pt x="16002000" y="0"/>
                </a:lnTo>
                <a:lnTo>
                  <a:pt x="16002000" y="1181993"/>
                </a:lnTo>
                <a:cubicBezTo>
                  <a:pt x="16002000" y="1276682"/>
                  <a:pt x="15925239" y="1353443"/>
                  <a:pt x="15830550" y="1353443"/>
                </a:cubicBezTo>
                <a:lnTo>
                  <a:pt x="171450" y="1353443"/>
                </a:lnTo>
                <a:cubicBezTo>
                  <a:pt x="76761" y="1353443"/>
                  <a:pt x="0" y="1276682"/>
                  <a:pt x="0" y="1181993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143000" y="8323957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466850" y="8628757"/>
            <a:ext cx="15834360" cy="8390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채용 퍼널은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recruiting.csv</a:t>
            </a:r>
            <a:r>
              <a:rPr b="1" i="0" lang="en-US" sz="21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(부서 × 단계)에서, 이직률 · 성과 · 이탈 위험은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employees.csv</a:t>
            </a:r>
            <a:r>
              <a:rPr b="1" i="0" lang="en-US" sz="21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(직원 단위)에서 파생됩니다 — </a:t>
            </a: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두 소스를 합치면 채용부터 리텐션까지 한 화면에서 </a:t>
            </a:r>
            <a:r>
              <a:rPr b="1" i="0" lang="en-US" sz="21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볼 수 있습니다.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지표 읽기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챕터에서 쓰는 지표를 먼저 정리해 봅니다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HR 지표는 대상 인원의 정의에 따라 값이 달라지므로, 분모를 함께 적어 두면 좋습니다.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143000" y="25878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428750" y="27974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단계별 전환율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428750" y="3211785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passed ÷ candidates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각 채용 단계를 통과한 비율입니다.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9353550" y="2587898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9639300" y="27974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전체 전환율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9639300" y="321178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지원자 중 최종 입사까지 이어진 비율입니다. 단계 전환율을 모두 곱한 값에 해당합니다.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43000" y="4307160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1428750" y="4516710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time-to-hire · 채용 소요일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428750" y="4931048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공고 시작부터 입사 확정까지 걸린 일수입니다. 단계별 리드타임을 누적해 계산합니다.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353550" y="4307160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9639300" y="4516710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오퍼 수락률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639300" y="4931048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발송한 오퍼 중 수락된 비율입니다. 보상 · 처우 경쟁력을 함께 살펴보는 신호로 씁니다.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143000" y="6026423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1428750" y="6235973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자발적 이직률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428750" y="6650310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본인 의사로 퇴사한 인원의 비율입니다. 구조조정 등 비자발 퇴사와 분리해 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353550" y="6026423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9639300" y="6235973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이탈 위험 점수 (risk_score)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639300" y="6650310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모델이 추정한 이탈 가능성 점수입니다.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예측값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이므로 확정이 아니라 우선 확인 대상으로 활용하시는 편이 좋습니다.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143000" y="7745685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1428750" y="795523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위험 등급 (고위험 기준)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428750" y="836957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챕터에서는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risk ≥ 70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을 고위험으로 봅니다. 기준선은 조직 상황에 맞게 조정할 수 있습니다.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9353550" y="7745685"/>
            <a:ext cx="7791450" cy="1547813"/>
          </a:xfrm>
          <a:prstGeom prst="roundRect">
            <a:avLst>
              <a:gd fmla="val 9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9639300" y="795523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성과 등급 분포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639300" y="8369573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A~D 등급의 인원 비중입니다. 채용 품질과 함께 볼 때 해석이 풍부해집니다.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질문 정의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대시보드가 답할 3가지 질문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차트를 먼저 고르기보다, 의사결정자가 묻는 질문에서 시작해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1430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14668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Q1 · 채용 병목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4668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어느 단계에서 지원자가 빠지나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466850" y="5427762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단계별 전환율 (지원 → 입사)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466850" y="5918299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최저 전환 단계를 우선 개선 대상으로 두고 기준 · 프로세스를 점검합니다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466850" y="6766024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채용 퍼널 (단계별 인원 · 전환율)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5913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9151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Q2 · 이탈 위험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9151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누구를 먼저 붙잡아야 하나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915150" y="5427762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이직 위험 등급 분포, 고위험 인원 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915150" y="5918299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위험 등급이 높은 인원부터 1:1 면담을 검토합니다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915150" y="6766024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위험 등급 분포 + 이탈 위험 인원 표 (예측 기반)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2039600" y="4132362"/>
            <a:ext cx="5105400" cy="4029075"/>
          </a:xfrm>
          <a:prstGeom prst="roundRect">
            <a:avLst>
              <a:gd fmla="val 4255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12363450" y="4456212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Q3 · 부서 격차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2363450" y="4865787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어느 부서가 문제인가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2363450" y="5427762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부서별 채용 소요일, 부서별 자발적 이직률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2363450" y="6275487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소요일이 길거나 이직률이 높은 부서를 집중 점검 대상으로 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2363450" y="7123212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채용 소요일 추이(선) + 부서별 이직률(막대)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문제정의 → 방법론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설정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143000" y="3346549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1447800" y="3594199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A · 채용 병목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447800" y="3946624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어느 단계에서 지원자가 가장 많이 빠지는지 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447800" y="4384774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단계별 전환율 (지원→입사)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724900" y="3970437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9525000" y="3522762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9829800" y="37704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채용 퍼널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829800" y="42085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단계별 인원 · 전환율로 최저 구간을 식별합니다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143000" y="5151537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447800" y="5399187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B · 이탈 위험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447800" y="57516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누구를 먼저 붙잡아야 하는지 정합니다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447800" y="61897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이직 위험 등급, 고위험 인원 수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8724900" y="5775424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525000" y="5327749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9829800" y="55753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위험 등급 분포 + 위험 인원 표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9829800" y="60135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예측 결과로 즉시 개입 대상을 추출합니다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143000" y="6956524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447800" y="7204174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C · 부서 격차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447800" y="75565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어느 부서가 어려움을 겪는지, 왜 그런지 살펴봅니다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447800" y="79947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부서별 채용 소요일, 자발적 이직률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724900" y="7580412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9525000" y="7132737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9829800" y="7380387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소요일 추이(선) + 이직률(막대)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9829800" y="7818537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부서 단위로 비효율 · 위험 부서를 진단합니다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대시보드 레이아웃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 레이아웃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 · 필터 · KPI 카드 · 차트 · 데이터 테이블 — 화면 배치를 먼저 그려 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143000" y="3403699"/>
            <a:ext cx="16002000" cy="985838"/>
          </a:xfrm>
          <a:prstGeom prst="roundRect">
            <a:avLst>
              <a:gd fmla="val 11594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552450" y="3594199"/>
            <a:ext cx="17183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HR · 채용 대시보드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52450" y="3922812"/>
            <a:ext cx="1718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143000" y="4522887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1371600" y="4756249"/>
            <a:ext cx="5046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필터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933426" y="4694337"/>
            <a:ext cx="738411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2104876" y="4770537"/>
            <a:ext cx="4717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2805187" y="4694337"/>
            <a:ext cx="738411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2976637" y="4770537"/>
            <a:ext cx="4717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부서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143000" y="5427762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313093" y="5656362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채용 소요일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176838" y="5427762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346930" y="5656362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입사 전환율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9210675" y="5427762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9380768" y="5656362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자발적 이직률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3244513" y="5427762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13414605" y="5656362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이탈 위험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143000" y="6332637"/>
            <a:ext cx="3900488" cy="1662113"/>
          </a:xfrm>
          <a:prstGeom prst="roundRect">
            <a:avLst>
              <a:gd fmla="val 687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1157526" y="6866037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채용 퍼널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157526" y="7180362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퍼널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176838" y="6332637"/>
            <a:ext cx="3900488" cy="1662113"/>
          </a:xfrm>
          <a:prstGeom prst="roundRect">
            <a:avLst>
              <a:gd fmla="val 687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5191363" y="6866037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채용 소요일 추이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191363" y="7180362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9210675" y="6332637"/>
            <a:ext cx="3900488" cy="1662113"/>
          </a:xfrm>
          <a:prstGeom prst="roundRect">
            <a:avLst>
              <a:gd fmla="val 687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9225201" y="6866037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성과 분포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9225201" y="7180362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막대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3244513" y="6332637"/>
            <a:ext cx="3900488" cy="1662113"/>
          </a:xfrm>
          <a:prstGeom prst="roundRect">
            <a:avLst>
              <a:gd fmla="val 6877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3259038" y="6866037"/>
            <a:ext cx="3871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이직 위험도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3259038" y="7180362"/>
            <a:ext cx="387143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막대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143000" y="8128099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131570" y="8356699"/>
            <a:ext cx="160248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테이블 · 이탈 위험 인원 조기 탐지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차트 구성과 활용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구성과 활용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분석 의도별로 고른 차트와 그 활용 방법입니다.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143000" y="3474244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1409700" y="3702844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3702844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3848100" y="4172396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채용 퍼널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퍼널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848100" y="4634359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지원 → 입사까지 단계별 전환율을 보고, 전환이 가장 낮은 병목을 식별합니다.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9315450" y="3474244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9582150" y="3702844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150" y="3702844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12020550" y="4172396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채용 소요일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2020550" y="4634359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부서별 time-to-hire 추이를 보고 지연이 발생하는 부서를 점검합니다.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143000" y="6313587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1409700" y="6542187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700" y="6542187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/>
          <p:nvPr/>
        </p:nvSpPr>
        <p:spPr>
          <a:xfrm>
            <a:off x="3848100" y="7190333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성과 분포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막대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848100" y="7652296"/>
            <a:ext cx="534352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성과 등급 분포를 보고 채용 품질을 함께 참고합니다.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9315450" y="6313587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9582150" y="6542187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2150" y="6542187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/>
          <p:nvPr/>
        </p:nvSpPr>
        <p:spPr>
          <a:xfrm>
            <a:off x="12020550" y="7011739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이탈 위험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2020550" y="7473702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위험 인원과 등급의 정밀 수치를 확인해 조기 대응 대상을 정합니다.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08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CLAUDE.md + Skill로 제작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기획안을 규칙과 절차로 묶어, 프롬프트로 레퍼런스와 같은 품질의 대시보드를 만들어 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1143000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595339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2595339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09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완성 결과 미리보기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완성 대시보드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1143000" y="2125935"/>
            <a:ext cx="8319516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Step 1 기획안의 구성 그대로입니다 — 채용 퍼널 · 부서별 소요일 · 이직률 · 이탈 위험 탐지.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1143000" y="3192735"/>
            <a:ext cx="2085975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1333500" y="3307035"/>
            <a:ext cx="178117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전체 전환율 2.5%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343275" y="3192735"/>
            <a:ext cx="2122140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3533775" y="3307035"/>
            <a:ext cx="18173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time-to-hire 26일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579715" y="3192735"/>
            <a:ext cx="2019821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5770215" y="3307035"/>
            <a:ext cx="171502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오퍼 수락률 75%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1143000" y="3921398"/>
            <a:ext cx="8077200" cy="906735"/>
          </a:xfrm>
          <a:prstGeom prst="roundRect">
            <a:avLst>
              <a:gd fmla="val 1890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1447800" y="4169048"/>
            <a:ext cx="7709916" cy="4495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6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EDA → 지표 계산 → 레퍼런스 참조 →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143000" y="5037683"/>
            <a:ext cx="8319516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데이터만 바꾸고 구조는 고정해 두면, 다음 분기 채용도 같은 화면으로 이어서 읽을 수 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9715500" y="2125935"/>
            <a:ext cx="7429500" cy="7307684"/>
          </a:xfrm>
          <a:prstGeom prst="roundRect">
            <a:avLst>
              <a:gd fmla="val 234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5025" y="2135460"/>
            <a:ext cx="7410450" cy="728863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10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작업 폴더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킷 폴더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대시보드별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폴더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안의 스킬로 작업합니다 — 폴더에서 명령어 한 줄입니다.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143000" y="4104308"/>
            <a:ext cx="9296400" cy="3854351"/>
          </a:xfrm>
          <a:prstGeom prst="roundRect">
            <a:avLst>
              <a:gd fmla="val 4448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1504950" y="4428158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05-hr/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504950" y="4886251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디자인 규칙(헌법)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1504950" y="5344344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504950" y="5802437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build-dashboard/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작업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504950" y="6260529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templates/reference.html품질 기준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504950" y="6718622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data/recruiting.csv샘플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504950" y="7176715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 output/결과물 생성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0858500" y="4104308"/>
            <a:ext cx="69151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· 킷 폴더에서 실행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0858500" y="4528170"/>
            <a:ext cx="6286500" cy="3699421"/>
          </a:xfrm>
          <a:prstGeom prst="roundRect">
            <a:avLst>
              <a:gd fmla="val 463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11220450" y="485202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킷 폴더로 이동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1220450" y="532254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cd 05-hr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1220450" y="590736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Claude Code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1220450" y="637788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11220450" y="696270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1220450" y="743322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두 가지 방법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실행 vs 자연어 프롬프트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둘 다 같은 대시보드를 만듭니다 — 방식이 다를 뿐입니다.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1143000" y="4358580"/>
            <a:ext cx="7791450" cy="3595688"/>
          </a:xfrm>
          <a:prstGeom prst="roundRect">
            <a:avLst>
              <a:gd fmla="val 4768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1524000" y="4701480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스킬 실행 · 한 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524000" y="5172968"/>
            <a:ext cx="773239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524000" y="578256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폴더의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data/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안 CSV를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자동으로 사용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(기본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recruiting.csv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524000" y="626834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정해진 5단계 절차를 그대로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1524000" y="675411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 줄이면 되고, 같은 결과를 반복해 얻기 쉽습니다 (재현성)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1524000" y="723989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다른 데이터는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뒤에 경로를 붙여 지정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9353550" y="4358580"/>
            <a:ext cx="7791450" cy="3614738"/>
          </a:xfrm>
          <a:prstGeom prst="roundRect">
            <a:avLst>
              <a:gd fmla="val 474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9734550" y="4701480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자연어 프롬프트 · 직접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9734550" y="5172968"/>
            <a:ext cx="77323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가지를 직접 말합니다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9734550" y="580161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"recruiting.csv와 employees.csv로"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9734550" y="628739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으로 — "CLAUDE.md 규칙을 따라"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9734550" y="677316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"build-dashboard 스킬로"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9734550" y="725894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 삼아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"reference.html과 같은 구조로"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규칙과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CLAUDE.md + Skill 병행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규칙은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짧게, 절차는 Skill에 단계로 — 역할을 나눠 둡니다.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14300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 · 규칙(헌법)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143000" y="4592985"/>
            <a:ext cx="7791450" cy="3090714"/>
          </a:xfrm>
          <a:prstGeom prst="roundRect">
            <a:avLst>
              <a:gd fmla="val 5547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50495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디자인·KPI 규칙만 짧게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150495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전환율 = passed/candidates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150495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단계 = 지원→입사 순서 고정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50495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time-to-hire = avg_days 누적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50495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KPI 색 = 검정 고정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935355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 Skill · 절차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9353550" y="4592985"/>
            <a:ext cx="7791450" cy="3579316"/>
          </a:xfrm>
          <a:prstGeom prst="roundRect">
            <a:avLst>
              <a:gd fmla="val 479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971550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줄이 5단계 수행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971550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 데이터 읽기 (EDA)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971550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 KPI 계산 (실제 숫자)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971550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 reference 구조 흡수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971550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 데이터 주입해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9715500" y="735984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저장 + 채용 권고 요약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"/>
          <p:cNvSpPr/>
          <p:nvPr/>
        </p:nvSpPr>
        <p:spPr>
          <a:xfrm>
            <a:off x="1143000" y="3143473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1143000" y="3719736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 도출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1143000" y="5123334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완성된 대시보드를 읽는 순서와, 실제 채용 · 직원 데이터에서 개입 대상을 뽑아내는 방법을 살펴봅니다.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1143000" y="6757764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2595339" y="6757764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4047679" y="7114952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4047679" y="6757764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읽는 순서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읽기 3단계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1143000" y="2125935"/>
            <a:ext cx="7429500" cy="7307684"/>
          </a:xfrm>
          <a:prstGeom prst="roundRect">
            <a:avLst>
              <a:gd fmla="val 234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2" name="Google Shape;4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135460"/>
            <a:ext cx="7410450" cy="728863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7"/>
          <p:cNvSpPr/>
          <p:nvPr/>
        </p:nvSpPr>
        <p:spPr>
          <a:xfrm>
            <a:off x="9067800" y="4381946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9220200" y="4458146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9738940" y="4381946"/>
            <a:ext cx="647959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위에서부터 — 현황 파악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9738940" y="4843909"/>
            <a:ext cx="6479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재직 인원, 채용 소요일 26일, 자발적 이직률부터 확인합니다.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9067800" y="5396359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9220200" y="5472559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9738940" y="5396359"/>
            <a:ext cx="735479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중단 — 병목과 부서 격차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9738940" y="5858321"/>
            <a:ext cx="73547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채용 퍼널에서 최저 전환 구간을, 부서별 지표에서 격차를 확인합니다.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9067800" y="6410771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9220200" y="6486971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9738940" y="6410771"/>
            <a:ext cx="555397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하단 — 개입 대상 결정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9738940" y="6872734"/>
            <a:ext cx="5553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이탈 위험 인원 표에서 먼저 면담할 대상을 정합니다.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인사이트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1143000" y="19925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채용 퍼널 · 부서 · 속도에서 확인된 내용입니다.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1143000" y="258789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1466850" y="28545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2476500" y="28545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최저 전환 병목은 지원 → 서류 단계(27%)로 보입니다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2476500" y="331179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퍼널 누적 전환율을 보면 지원 100%에서 서류 27%로 가장 크게 줄어듭니다. 이후 1차면접 15%, 최종 면접 8%, 입사 2.5%로 이어지고, 오퍼 수락률은 75%였습니다. 전체 전환율은 2.5%(입사 53 / 지원 2,110)입니다.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2476500" y="416904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서류 스크리닝 기준과 공고 적합도 점검이 1순위로 보입니다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143000" y="493104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1466850" y="519774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2476500" y="519774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부서별 전환 격차가 크지만 표본 규모에 유의할 필요가 있습니다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2476500" y="565494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개발 3.46% vs 영업 1.72%로 부서 간 전환율이 약 2배 차이입니다. 다만 부서별 지원 · 입사 표본이 적어, 이 격차가 우연일 가능성도 함께 점검하시는 편이 좋습니다.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2476500" y="651219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표본을 누적한 뒤 격차의 유의성을 재확인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1143000" y="7274198"/>
            <a:ext cx="16002000" cy="1781175"/>
          </a:xfrm>
          <a:prstGeom prst="roundRect">
            <a:avLst>
              <a:gd fmla="val 96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1466850" y="75408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2476500" y="75408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채용 속도와 수락률 현황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2476500" y="7998098"/>
            <a:ext cx="157791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time-to-hire는 평균 26일입니다(개발 30일 최장 · 영업 19일 최단). 오퍼 수락률은 75%로, 오퍼 4건 중 1건은 거절되는 상황입니다.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2476500" y="8483873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개발 직군 리드타임 단축과 오퍼 거절 사유 수집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액션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액션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1143000" y="2377380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1143000" y="2377380"/>
            <a:ext cx="57150" cy="165258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1524000" y="2625030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1524000" y="2963168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지원 → 서류 단계 기준 · 프로세스 점검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1524000" y="3410843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최저 전환 병목 구간의 탈락 기준과 스크리닝 소요를 분석합니다. 누수가 가장 큰 구간이라 개선 여지도 가장 큰 편입니다.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1143000" y="4201418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1143000" y="4201418"/>
            <a:ext cx="57150" cy="165258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1524000" y="4449068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524000" y="4787205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고위험 이탈 인원 12명 1:1 면담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1524000" y="523488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이직 위험도 70 이상 인원부터 매니저 면담을 진행하고, 집중된 영업팀을 우선합니다. 위험도는 예측값이므로 확정이 아니라 확인의 출발점으로 활용합니다.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1143000" y="6025455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1143000" y="6025455"/>
            <a:ext cx="57150" cy="1652588"/>
          </a:xfrm>
          <a:prstGeom prst="rect">
            <a:avLst/>
          </a:prstGeom>
          <a:solidFill>
            <a:srgbClr val="9198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1524000" y="6273105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1524000" y="6611243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최단 부서(영업 19일) 프로세스 전파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524000" y="7058918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단계별 리드타임 단축 사례를 타 부서에 적용해 time-to-hire 개선을 시도합니다.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143000" y="7849493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1143000" y="7849493"/>
            <a:ext cx="57150" cy="16525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1524000" y="8097143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524000" y="843528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단계 정의를 고정한 뒤 전환율 추적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524000" y="8882955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진입 · 통과 정의를 고정해 분모를 일관되게 유지합니다. 단계별 표본 규모가 작을 때의 변동에도 유의합니다.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