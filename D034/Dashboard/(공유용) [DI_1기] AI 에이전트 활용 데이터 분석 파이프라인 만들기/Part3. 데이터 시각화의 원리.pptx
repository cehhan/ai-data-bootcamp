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1864816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데이터 시각화와 대시보드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2650629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2100">
                <a:solidFill>
                  <a:srgbClr val="F7585C"/>
                </a:solidFill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207841"/>
            <a:ext cx="17602200" cy="12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시각화의 원리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650284"/>
            <a:ext cx="1760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만들기 전에 묻는 다섯 가지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393234"/>
            <a:ext cx="1524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43000" y="5850434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1. 왜 시각화인가 — 시각화와 의사결정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43000" y="6312396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2. 메시지 — 이 차트가 하려는 말은 한 문장인가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43000" y="6774359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3. 목적 — 무엇을 보여주려는가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143000" y="7236321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4. 채널 — 어떤 시각 요소로 표현할 것인가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43000" y="7698284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5. 왜곡 — 해석을 왜곡하는 요소는 없는가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143000" y="8160246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6. 색 — 색이 정보를 명확히 전달하는가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 시각화인가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표로 수년간 설득하지 못한 것을 지도 한 장이 바꿨습니다. 시각화는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데이터의 이해와 의사결정을 돕는 도구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라는 정의부터 세웁니다.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143000" y="7173218"/>
            <a:ext cx="775171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143000" y="6816030"/>
            <a:ext cx="85137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203921" y="6816030"/>
            <a:ext cx="126332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메시지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767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목적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9436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채널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105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왜곡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477497" y="6816030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왜 시각화인가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공간적 패턴을 보여주는 지도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143000" y="2190750"/>
            <a:ext cx="176022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1854년 런던의 콜레라 조사에서 지도와 현장 조사는 감염원 추정에 기여했습니다.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143000" y="2881313"/>
            <a:ext cx="7620000" cy="4404196"/>
          </a:xfrm>
          <a:prstGeom prst="roundRect">
            <a:avLst>
              <a:gd fmla="val 432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890838"/>
            <a:ext cx="7600950" cy="438514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9296400" y="3857625"/>
            <a:ext cx="784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9296400" y="2881313"/>
            <a:ext cx="86334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많은 정보를 한눈에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9296400" y="3343275"/>
            <a:ext cx="86334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주소별 사망 분포를 공간적으로 비교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296400" y="5053013"/>
            <a:ext cx="784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9296400" y="4076700"/>
            <a:ext cx="86334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공간적 집중을 파악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296400" y="4538663"/>
            <a:ext cx="86334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위치와 분포를 함께 살펴볼 수 있습니다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296400" y="5272088"/>
            <a:ext cx="86334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현장 조사와 함께 해석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296400" y="5734050"/>
            <a:ext cx="86334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펌프 손잡이 제거 전에도 유행은 감소 중이었습니다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296400" y="6286500"/>
            <a:ext cx="7848600" cy="1098203"/>
          </a:xfrm>
          <a:custGeom>
            <a:rect b="b" l="l" r="r" t="t"/>
            <a:pathLst>
              <a:path extrusionOk="0" h="1098203" w="7848600">
                <a:moveTo>
                  <a:pt x="0" y="0"/>
                </a:moveTo>
                <a:lnTo>
                  <a:pt x="7848600" y="0"/>
                </a:lnTo>
                <a:lnTo>
                  <a:pt x="7848600" y="926753"/>
                </a:lnTo>
                <a:cubicBezTo>
                  <a:pt x="7848600" y="1021442"/>
                  <a:pt x="7771839" y="1098203"/>
                  <a:pt x="7677150" y="1098203"/>
                </a:cubicBezTo>
                <a:lnTo>
                  <a:pt x="171450" y="1098203"/>
                </a:lnTo>
                <a:cubicBezTo>
                  <a:pt x="76761" y="1098203"/>
                  <a:pt x="0" y="1021442"/>
                  <a:pt x="0" y="92675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9296400" y="6286500"/>
            <a:ext cx="78486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9620250" y="6629400"/>
            <a:ext cx="7436358" cy="507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4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시각화는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데이터의 이해와 의사결정을 돕는 도구</a:t>
            </a:r>
            <a:r>
              <a:rPr b="1" i="0" lang="en-US" sz="25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입니다.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43000" y="94773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도식: John Snow(1854) 지도의 세미나용 재구성 · 개념: 요즘IT 「데이터 시각화 101 ①」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왜 시각화인가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설계에 활용할 다섯 가지 질문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143000" y="3167063"/>
            <a:ext cx="8724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143000" y="2476500"/>
            <a:ext cx="898664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파트에서는 시각화 개념을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차트를 만들 때의 판단 기준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으로 바꿉니다.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143000" y="5000625"/>
            <a:ext cx="8724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1143000" y="3424238"/>
            <a:ext cx="8986647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다섯 질문에는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권장 검토 순서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있습니다. 전달 목적의 차트는 메시지부터 검토합니다. 탐색 목적이라면 질문에서 시작하며, 채널·왜곡·색은 함께 조정합니다.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143000" y="5257800"/>
            <a:ext cx="898664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실습은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별도 핸즈온 세션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에서 합니다. 오늘은 판단 기준을 세우는 데 집중합니다.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0477500" y="2476500"/>
            <a:ext cx="6667500" cy="728663"/>
          </a:xfrm>
          <a:prstGeom prst="roundRect">
            <a:avLst>
              <a:gd fmla="val 1830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0734675" y="2714625"/>
            <a:ext cx="7810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1649075" y="2676525"/>
            <a:ext cx="25681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메시지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한 문장인가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0144125" y="3300413"/>
            <a:ext cx="73342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0477500" y="3657600"/>
            <a:ext cx="6667500" cy="728663"/>
          </a:xfrm>
          <a:prstGeom prst="roundRect">
            <a:avLst>
              <a:gd fmla="val 1830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0734675" y="3895725"/>
            <a:ext cx="7810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1649075" y="3857625"/>
            <a:ext cx="332938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목적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무엇을 보여주려는가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0144125" y="4481513"/>
            <a:ext cx="73342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0477500" y="4838700"/>
            <a:ext cx="6667500" cy="728663"/>
          </a:xfrm>
          <a:prstGeom prst="roundRect">
            <a:avLst>
              <a:gd fmla="val 1830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0734675" y="5076825"/>
            <a:ext cx="7810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1649075" y="5038725"/>
            <a:ext cx="366466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채널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무엇으로 표현할 것인가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144125" y="5662613"/>
            <a:ext cx="73342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477500" y="6019800"/>
            <a:ext cx="6667500" cy="709613"/>
          </a:xfrm>
          <a:prstGeom prst="roundRect">
            <a:avLst>
              <a:gd fmla="val 18792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0725150" y="6248400"/>
            <a:ext cx="7810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639550" y="6210300"/>
            <a:ext cx="315716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왜곡 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 왜곡 요소는 없는가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144125" y="6824663"/>
            <a:ext cx="73342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0477500" y="7181850"/>
            <a:ext cx="6667500" cy="728663"/>
          </a:xfrm>
          <a:prstGeom prst="roundRect">
            <a:avLst>
              <a:gd fmla="val 1830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0734675" y="7419975"/>
            <a:ext cx="7810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1649075" y="7381875"/>
            <a:ext cx="425378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색이 정보를 명확히 전달하는가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워밍업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세 장, 무엇이 이상한가요?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43000" y="2190750"/>
            <a:ext cx="176022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지금은 답을 몰라도 됩니다. 파트 끝에서 다시 봅니다.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143000" y="3908227"/>
            <a:ext cx="5615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143000" y="4308277"/>
            <a:ext cx="5105400" cy="3167732"/>
          </a:xfrm>
          <a:prstGeom prst="roundRect">
            <a:avLst>
              <a:gd fmla="val 5412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4317802"/>
            <a:ext cx="5086350" cy="31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6591300" y="3908227"/>
            <a:ext cx="5615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591300" y="4308277"/>
            <a:ext cx="5105400" cy="3167732"/>
          </a:xfrm>
          <a:prstGeom prst="roundRect">
            <a:avLst>
              <a:gd fmla="val 5412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4317802"/>
            <a:ext cx="5086350" cy="31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12039600" y="3908227"/>
            <a:ext cx="5615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2039600" y="4308277"/>
            <a:ext cx="5105400" cy="3167732"/>
          </a:xfrm>
          <a:prstGeom prst="roundRect">
            <a:avLst>
              <a:gd fmla="val 5412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49125" y="4317802"/>
            <a:ext cx="5086350" cy="31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1143000" y="8502997"/>
            <a:ext cx="16002000" cy="1098203"/>
          </a:xfrm>
          <a:custGeom>
            <a:rect b="b" l="l" r="r" t="t"/>
            <a:pathLst>
              <a:path extrusionOk="0" h="1098203" w="16002000">
                <a:moveTo>
                  <a:pt x="0" y="0"/>
                </a:moveTo>
                <a:lnTo>
                  <a:pt x="16002000" y="0"/>
                </a:lnTo>
                <a:lnTo>
                  <a:pt x="16002000" y="926753"/>
                </a:lnTo>
                <a:cubicBezTo>
                  <a:pt x="16002000" y="1021442"/>
                  <a:pt x="15925239" y="1098203"/>
                  <a:pt x="15830550" y="1098203"/>
                </a:cubicBezTo>
                <a:lnTo>
                  <a:pt x="171450" y="1098203"/>
                </a:lnTo>
                <a:cubicBezTo>
                  <a:pt x="76761" y="1098203"/>
                  <a:pt x="0" y="1021442"/>
                  <a:pt x="0" y="92675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143000" y="8502997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466850" y="8845897"/>
            <a:ext cx="15834360" cy="507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4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세 장은 가상 데이터로 만든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비교 예시</a:t>
            </a:r>
            <a:r>
              <a:rPr b="1" i="0" lang="en-US" sz="25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입니다. 이 예시에서는 시각적 표현 방식에 주목합니다.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143000" y="320226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1143000" y="261461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723281" y="2476500"/>
            <a:ext cx="7375669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시각화는 데이터의 이해와 의사결정을 돕는 도구다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143000" y="41661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1143000" y="357849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723281" y="3440385"/>
            <a:ext cx="11354172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메시지 → 목적 → 채널 → 왜곡 → 색 순으로 검토하되 필요에 따라 반복한다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143000" y="454238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723281" y="4404271"/>
            <a:ext cx="10836109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워밍업에서는 같은 값도 표현 방식에 따라 다르게 보일 수 있음을 확인한다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143000" y="7367587"/>
            <a:ext cx="16002000" cy="2233613"/>
          </a:xfrm>
          <a:prstGeom prst="roundRect">
            <a:avLst>
              <a:gd fmla="val 767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524000" y="7672388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524000" y="8120063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존 스노의 지도가 표보다 나았던 점은 무엇인가?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탐색 목적과 전달 목적에서 출발점은 어떻게 다른가?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워밍업 세 장에서 각각 어떤 표현 방식을 점검해야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1143000" y="3350940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143000" y="3927202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메시지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143000" y="5409233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차트가 하려는 말은 한 문장인가. 결론을 문장으로 먼저 쓰면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디자인 결정의 절반이 따라옵니다.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143000" y="6550298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2203921" y="6907485"/>
            <a:ext cx="1187128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2203921" y="6550298"/>
            <a:ext cx="126332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메시지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676799" y="6550298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목적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943698" y="6550298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채널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210598" y="6550298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왜곡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7477497" y="6550298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메시지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전달할 메시지와 탐색할 질문의 구분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143000" y="2190750"/>
            <a:ext cx="176022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전달용 차트는 확인한 결론을, 탐색용 차트는 질문을 먼저 정리합니다.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143000" y="2919413"/>
            <a:ext cx="7658100" cy="1314450"/>
          </a:xfrm>
          <a:prstGeom prst="roundRect">
            <a:avLst>
              <a:gd fmla="val 1159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447800" y="3186113"/>
            <a:ext cx="77533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결론이 불명확하다면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질문부터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1447800" y="3652838"/>
            <a:ext cx="7753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탐색 시각화로 패턴과 가설을 확인합니다.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1143000" y="4424363"/>
            <a:ext cx="7658100" cy="1314450"/>
          </a:xfrm>
          <a:prstGeom prst="roundRect">
            <a:avLst>
              <a:gd fmla="val 1159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1447800" y="4691063"/>
            <a:ext cx="77533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메시지가 여럿이면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분리 검토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447800" y="5157788"/>
            <a:ext cx="7753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관계가 약한 메시지는 차트를 나눕니다.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143000" y="5929313"/>
            <a:ext cx="7658100" cy="1314450"/>
          </a:xfrm>
          <a:prstGeom prst="roundRect">
            <a:avLst>
              <a:gd fmla="val 1159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1447800" y="6196013"/>
            <a:ext cx="77533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전달용 제목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에는 핵심 해석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447800" y="6662738"/>
            <a:ext cx="7753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탐색용 제목은 변수와 범위를 명시합니다.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9334500" y="2919413"/>
            <a:ext cx="7810500" cy="2976265"/>
          </a:xfrm>
          <a:prstGeom prst="roundRect">
            <a:avLst>
              <a:gd fmla="val 576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9715500" y="3262313"/>
            <a:ext cx="725995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습관 하나: 제목은 차트의 사용 목적에 맞게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9715500" y="3720405"/>
            <a:ext cx="725995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ax.set_title(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"월별 매출"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0134600" y="4178498"/>
            <a:ext cx="684085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라벨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9715500" y="4636591"/>
            <a:ext cx="725995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ax.set_title(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"3분기 정점 이후 매출 감소"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0134600" y="5094684"/>
            <a:ext cx="684085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메시지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메시지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제목이 바뀌면 차트도 바뀝니다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143000" y="2438400"/>
            <a:ext cx="857059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제목이 라벨일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143000" y="2886075"/>
            <a:ext cx="7791450" cy="4204171"/>
          </a:xfrm>
          <a:prstGeom prst="roundRect">
            <a:avLst>
              <a:gd fmla="val 407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895600"/>
            <a:ext cx="7772400" cy="418512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/>
          <p:nvPr/>
        </p:nvSpPr>
        <p:spPr>
          <a:xfrm>
            <a:off x="9353550" y="2438400"/>
            <a:ext cx="857059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제목이 메시지일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9353550" y="2886075"/>
            <a:ext cx="7791450" cy="4204171"/>
          </a:xfrm>
          <a:prstGeom prst="roundRect">
            <a:avLst>
              <a:gd fmla="val 407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3075" y="2895600"/>
            <a:ext cx="7772400" cy="418512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/>
          <p:nvPr/>
        </p:nvSpPr>
        <p:spPr>
          <a:xfrm>
            <a:off x="1143000" y="8522047"/>
            <a:ext cx="16002000" cy="1079153"/>
          </a:xfrm>
          <a:prstGeom prst="roundRect">
            <a:avLst>
              <a:gd fmla="val 1588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1524000" y="8826847"/>
            <a:ext cx="15720060" cy="5076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4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메시지가 정해지면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어떤 정보의 강조를 줄일지</a:t>
            </a:r>
            <a:r>
              <a:rPr b="1" i="0" lang="en-US" sz="255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가 정해집니다. 강조는 </a:t>
            </a: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정보 간의 시각적 대비를 조절하는 것</a:t>
            </a:r>
            <a:r>
              <a:rPr b="1" i="0" lang="en-US" sz="255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입니다.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143000" y="3267968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1143000" y="263366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1723281" y="2476500"/>
            <a:ext cx="13381323" cy="562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전달할 결론이나 탐색할 질문을 정리하고, 메시지 간 관계에 따라 차트 분리를 검토한다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143000" y="3701355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1723281" y="3544193"/>
            <a:ext cx="12815620" cy="562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제목이 결론이면, 무엇을 강조하고 어떤 정보의 강조를 줄일지가 판단하기 쉬워진다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143000" y="7791450"/>
            <a:ext cx="16002000" cy="1809750"/>
          </a:xfrm>
          <a:prstGeom prst="roundRect">
            <a:avLst>
              <a:gd fmla="val 947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1524000" y="8096250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"월별 매출"과 결론형 제목은 각각 언제 적합한가?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중요한 정보의 대비를 높이는 방법은 무엇인가?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목적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"무슨 차트를 쓸까"보다 먼저 묻는 질문. 무엇을 보여주려는가가 정해지면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적합한 후보를 좁힐 수 있습니다.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1143000" y="6816030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2203921" y="6816030"/>
            <a:ext cx="126332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메시지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3676799" y="7173218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3676799" y="6816030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목적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9436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채널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2105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왜곡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7477497" y="6816030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목적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목적이 차트 후보를 정합니다 — 여섯 가지 질문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2276475" y="2286000"/>
            <a:ext cx="13735050" cy="4396457"/>
          </a:xfrm>
          <a:prstGeom prst="roundRect">
            <a:avLst>
              <a:gd fmla="val 4333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295525"/>
            <a:ext cx="13716000" cy="437740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4"/>
          <p:cNvSpPr/>
          <p:nvPr/>
        </p:nvSpPr>
        <p:spPr>
          <a:xfrm>
            <a:off x="1143000" y="8256315"/>
            <a:ext cx="16002000" cy="1030560"/>
          </a:xfrm>
          <a:custGeom>
            <a:rect b="b" l="l" r="r" t="t"/>
            <a:pathLst>
              <a:path extrusionOk="0" h="1030560" w="16002000">
                <a:moveTo>
                  <a:pt x="0" y="0"/>
                </a:moveTo>
                <a:lnTo>
                  <a:pt x="16002000" y="0"/>
                </a:lnTo>
                <a:lnTo>
                  <a:pt x="16002000" y="859110"/>
                </a:lnTo>
                <a:cubicBezTo>
                  <a:pt x="16002000" y="953799"/>
                  <a:pt x="15925239" y="1030560"/>
                  <a:pt x="15830550" y="1030560"/>
                </a:cubicBezTo>
                <a:lnTo>
                  <a:pt x="171450" y="1030560"/>
                </a:lnTo>
                <a:cubicBezTo>
                  <a:pt x="76761" y="1030560"/>
                  <a:pt x="0" y="953799"/>
                  <a:pt x="0" y="85911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1143000" y="8256315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1466850" y="8580165"/>
            <a:ext cx="15834360" cy="478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"무슨 차트?"가 아니라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"무엇을 보여주려는가?"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부터. 목적이 정해지면 적합한 후보를 좁힐 수 있습니다.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분류 체계: 요즘IT 「데이터 시각화 101 ④」 · 도식: 세미나용 재구성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목적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1143000" y="1162050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348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목적에도 후보는 여럿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143000" y="1943100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다음 장에서는 채널의 정확도를 비교합니다.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1143000" y="2928938"/>
            <a:ext cx="1714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1143000" y="2538413"/>
            <a:ext cx="1790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목적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3238500" y="2928938"/>
            <a:ext cx="3238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3238500" y="2538413"/>
            <a:ext cx="33356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후보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6858000" y="2928938"/>
            <a:ext cx="102870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6858000" y="2538413"/>
            <a:ext cx="105956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후보를 고르는 경우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1143000" y="3600450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1143000" y="3109913"/>
            <a:ext cx="17907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3238500" y="3600450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3238500" y="3109913"/>
            <a:ext cx="333565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6858000" y="3600450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6858000" y="3109913"/>
            <a:ext cx="1059561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조각 2~3개, "대략 이 정도 비중"만 전하면 될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1143000" y="4229100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3238500" y="4229100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3238500" y="3762375"/>
            <a:ext cx="33356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누적 막대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6858000" y="4229100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6858000" y="3762375"/>
            <a:ext cx="10595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그룹별 구성비를 비교할 때. 내부 구간의 정밀 비교는 별도 막대 고려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1143000" y="4857750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3238500" y="4857750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3238500" y="4391025"/>
            <a:ext cx="33356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트리맵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6858000" y="4857750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6858000" y="4391025"/>
            <a:ext cx="10595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항목이 수십 개이거나 계층이 있을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1143000" y="5510213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1143000" y="5019675"/>
            <a:ext cx="17907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분포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3238500" y="5510213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3238500" y="5019675"/>
            <a:ext cx="333565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히스토그램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858000" y="5510213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6858000" y="5019675"/>
            <a:ext cx="1059561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변수 하나의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모양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(치우침·봉우리·꼬리)을 볼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143000" y="6138863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3238500" y="6138863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3238500" y="5672138"/>
            <a:ext cx="33356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박스 플롯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6858000" y="6138863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6858000" y="5672138"/>
            <a:ext cx="10595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그룹 여러 개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의 분포를 나란히 비교할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1143000" y="6767513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3238500" y="6767513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3238500" y="6300788"/>
            <a:ext cx="33356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산점도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6858000" y="6767513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6858000" y="6300788"/>
            <a:ext cx="10595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변수 두 개의 분포와 이상치를 함께 볼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143000" y="7419975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1143000" y="6929438"/>
            <a:ext cx="17907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추세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3238500" y="7419975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3238500" y="6929438"/>
            <a:ext cx="333565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선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6858000" y="7419975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6858000" y="6929438"/>
            <a:ext cx="1059561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연속 시계열, 변화의 방향이 핵심일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143000" y="8048625"/>
            <a:ext cx="1714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3238500" y="8048625"/>
            <a:ext cx="3238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3238500" y="7581900"/>
            <a:ext cx="33356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막대(기간별)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858000" y="8048625"/>
            <a:ext cx="1028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6858000" y="7581900"/>
            <a:ext cx="10595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분기·월처럼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이산 기간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의 크기 비교가 핵심일 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238500" y="8210550"/>
            <a:ext cx="33356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면적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6858000" y="8210550"/>
            <a:ext cx="10595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시간별 크기를 면적으로 강조할 때. 시간 누적과는 구분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1143000" y="8867775"/>
            <a:ext cx="16002000" cy="908670"/>
          </a:xfrm>
          <a:prstGeom prst="roundRect">
            <a:avLst>
              <a:gd fmla="val 1886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1466850" y="9115425"/>
            <a:ext cx="158343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정확도와 함께 데이터 구조, 사용 목적, 독자의 익숙함을 고려합니다. 다음 장에서는 채널의 정확도를 살펴봅니다.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1143000" y="320226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1143000" y="261461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723281" y="2476500"/>
            <a:ext cx="12063613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"무슨 차트?"가 아니라 "무엇을 보여주려는가?"부터 — 목적에 따라 후보를 좁힌다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143000" y="41661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1143000" y="357849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1723281" y="3440385"/>
            <a:ext cx="10838728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강의에서 다루는 목적은 여섯 — 비교 · 추세 · 구성 · 분포 · 관계 · 흐름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1143000" y="454238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1723281" y="4404271"/>
            <a:ext cx="10836109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목적에도 후보는 여럿이고, 채널 정확도와 사용 맥락을 함께 고려한다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143000" y="7367587"/>
            <a:ext cx="16002000" cy="2233613"/>
          </a:xfrm>
          <a:prstGeom prst="roundRect">
            <a:avLst>
              <a:gd fmla="val 767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1524000" y="7672388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1524000" y="8120063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여섯 가지 목적을 말해 보세요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"구성"에서 파이 대신 누적 막대를 고르는 경우는?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한 차트에 여러 목적을 담을 때 무엇을 점검해야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채널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"무슨 차트"가 아니라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"값을 어떤 시각 요소에 실을까"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 사고를 바꿉니다. 수량 비교에서는 위치와 길이가 대체로 유리합니다.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143000" y="6816030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2203921" y="6816030"/>
            <a:ext cx="126332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메시지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6767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목적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943698" y="7173218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4943698" y="6816030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채널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62105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왜곡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477497" y="6816030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· 채널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1143000" y="121920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수량 비교에 유리한 시각 채널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1143000" y="203068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아래 순서는 수량 비교 과제의 일반적 경향을 요약한 것입니다.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1143000" y="2692673"/>
            <a:ext cx="6286500" cy="4862066"/>
          </a:xfrm>
          <a:prstGeom prst="roundRect">
            <a:avLst>
              <a:gd fmla="val 3918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702198"/>
            <a:ext cx="6267450" cy="4843016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8"/>
          <p:cNvSpPr/>
          <p:nvPr/>
        </p:nvSpPr>
        <p:spPr>
          <a:xfrm>
            <a:off x="7962900" y="2692673"/>
            <a:ext cx="9182100" cy="1501973"/>
          </a:xfrm>
          <a:custGeom>
            <a:rect b="b" l="l" r="r" t="t"/>
            <a:pathLst>
              <a:path extrusionOk="0" h="1501973" w="9182100">
                <a:moveTo>
                  <a:pt x="0" y="0"/>
                </a:moveTo>
                <a:lnTo>
                  <a:pt x="9182100" y="0"/>
                </a:lnTo>
                <a:lnTo>
                  <a:pt x="9182100" y="1330523"/>
                </a:lnTo>
                <a:cubicBezTo>
                  <a:pt x="9182100" y="1425212"/>
                  <a:pt x="9105339" y="1501973"/>
                  <a:pt x="9010650" y="1501973"/>
                </a:cubicBezTo>
                <a:lnTo>
                  <a:pt x="171450" y="1501973"/>
                </a:lnTo>
                <a:cubicBezTo>
                  <a:pt x="76761" y="1501973"/>
                  <a:pt x="0" y="1425212"/>
                  <a:pt x="0" y="133052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7962900" y="2692673"/>
            <a:ext cx="91821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8267700" y="3016523"/>
            <a:ext cx="8847963" cy="949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값을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정확히 비교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시켜야 하면 위쪽 채널. 전체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인상만 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주면 되면 아래쪽도 괜찮습니다.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7962900" y="5342409"/>
            <a:ext cx="9182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7962900" y="4442296"/>
            <a:ext cx="1010031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막대가 파이보다 나은 이유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7962900" y="4847109"/>
            <a:ext cx="10100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각도·면적 대신 공통 축 위의 길이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7962900" y="6442546"/>
            <a:ext cx="9182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7962900" y="5542434"/>
            <a:ext cx="1010031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버블 차트에서 주의할 점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7962900" y="5947246"/>
            <a:ext cx="10100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면적의 비율은 정확히 비교하기 어렵습니다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7962900" y="6642571"/>
            <a:ext cx="1010031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히트맵은 "패턴 보기"용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7962900" y="7047384"/>
            <a:ext cx="101003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정확한 값은 라벨·툴팁으로 보완합니다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1143000" y="94773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개념: Cleveland &amp; McGill, Graphical Perception (1984) · Heer &amp; Bostock (2010)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· 채널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데이터, 다른 채널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1143000" y="21717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28 / 26 / 24 / 22 — 어느 쪽에서 순위가 바로 보이나요?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1990725" y="2833688"/>
            <a:ext cx="67056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파이 — 각도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1990725" y="3281363"/>
            <a:ext cx="6096000" cy="4176936"/>
          </a:xfrm>
          <a:prstGeom prst="roundRect">
            <a:avLst>
              <a:gd fmla="val 410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3290888"/>
            <a:ext cx="6076950" cy="415788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9"/>
          <p:cNvSpPr/>
          <p:nvPr/>
        </p:nvSpPr>
        <p:spPr>
          <a:xfrm>
            <a:off x="10201275" y="2833688"/>
            <a:ext cx="67056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막대 — 공통 축 위 길이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10201275" y="3281363"/>
            <a:ext cx="6096000" cy="4176936"/>
          </a:xfrm>
          <a:prstGeom prst="roundRect">
            <a:avLst>
              <a:gd fmla="val 410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0800" y="3290888"/>
            <a:ext cx="6076950" cy="415788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9"/>
          <p:cNvSpPr/>
          <p:nvPr/>
        </p:nvSpPr>
        <p:spPr>
          <a:xfrm>
            <a:off x="1143000" y="8587755"/>
            <a:ext cx="16002000" cy="1013445"/>
          </a:xfrm>
          <a:prstGeom prst="roundRect">
            <a:avLst>
              <a:gd fmla="val 1691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1524000" y="8873505"/>
            <a:ext cx="15720060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정확한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순위 비교</a:t>
            </a:r>
            <a:r>
              <a:rPr b="1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가 필요하면 막대. 파이는 전체에 대한 비중을 보여줍니다. 조각은 같은 전체를 빠짐없이 나누어야 합니다.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· 채널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눈에 먼저 들어오는 것은 따로 있습니다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전주의적 속성 — 찾으려 애쓰지 않아도 보이는 것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1895475" y="2757488"/>
            <a:ext cx="14497050" cy="3407494"/>
          </a:xfrm>
          <a:prstGeom prst="roundRect">
            <a:avLst>
              <a:gd fmla="val 5591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767013"/>
            <a:ext cx="14478000" cy="3388444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0"/>
          <p:cNvSpPr/>
          <p:nvPr/>
        </p:nvSpPr>
        <p:spPr>
          <a:xfrm>
            <a:off x="1143000" y="8275365"/>
            <a:ext cx="16002000" cy="1030560"/>
          </a:xfrm>
          <a:custGeom>
            <a:rect b="b" l="l" r="r" t="t"/>
            <a:pathLst>
              <a:path extrusionOk="0" h="1030560" w="16002000">
                <a:moveTo>
                  <a:pt x="0" y="0"/>
                </a:moveTo>
                <a:lnTo>
                  <a:pt x="16002000" y="0"/>
                </a:lnTo>
                <a:lnTo>
                  <a:pt x="16002000" y="859110"/>
                </a:lnTo>
                <a:cubicBezTo>
                  <a:pt x="16002000" y="953799"/>
                  <a:pt x="15925239" y="1030560"/>
                  <a:pt x="15830550" y="1030560"/>
                </a:cubicBezTo>
                <a:lnTo>
                  <a:pt x="171450" y="1030560"/>
                </a:lnTo>
                <a:cubicBezTo>
                  <a:pt x="76761" y="1030560"/>
                  <a:pt x="0" y="953799"/>
                  <a:pt x="0" y="85911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1143000" y="8275365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1466850" y="8599215"/>
            <a:ext cx="15834360" cy="478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구현 규칙: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강조 대상을 명확히. 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색으로 강조하기로 했으면 크기는 건드리지 않습니다.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개념: Colin Ware, Information Visualization · 요즘IT 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· 채널 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그룹은 여백과 배치가 만듭니다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게슈탈트 — 범례를 읽기 전에 이미 그룹이 정해집니다.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1704975" y="3997077"/>
            <a:ext cx="14878050" cy="3022402"/>
          </a:xfrm>
          <a:prstGeom prst="roundRect">
            <a:avLst>
              <a:gd fmla="val 630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4006602"/>
            <a:ext cx="14859000" cy="300335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1"/>
          <p:cNvSpPr/>
          <p:nvPr/>
        </p:nvSpPr>
        <p:spPr>
          <a:xfrm>
            <a:off x="1143000" y="8278192"/>
            <a:ext cx="16002000" cy="975345"/>
          </a:xfrm>
          <a:prstGeom prst="roundRect">
            <a:avLst>
              <a:gd fmla="val 1757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1524000" y="8544892"/>
            <a:ext cx="15720060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가까이 두는 것 =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관련 있다고 말하는 것. </a:t>
            </a:r>
            <a:r>
              <a:rPr b="1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이 규칙은 PART 5 Ch 4에서 대시보드 레이아웃 규칙으로 돌아옵니다.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1143000" y="9424988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그룹화 효과는 배치와 과제에 따라 달라집니다. 공동 운명은 함께 움직이는 요소의 그룹화이며 애니메이션에도 적용됩니다.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1143000" y="296793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2"/>
          <p:cNvSpPr/>
          <p:nvPr/>
        </p:nvSpPr>
        <p:spPr>
          <a:xfrm>
            <a:off x="1143000" y="243363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1723281" y="2324100"/>
            <a:ext cx="9823639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정확한 비교면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위쪽 채널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(위치·길이), 인상만 주면 아래쪽(면적·색 농도)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1143000" y="381178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1143000" y="327749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1723281" y="3167955"/>
            <a:ext cx="9419845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근접한 값의 순위 비교에는 파이보다 정렬된 막대가 대체로 유리하다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1143000" y="4655641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1143000" y="412134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1723281" y="4011811"/>
            <a:ext cx="8902519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대상에 여러 강조 채널을 쓰되 강조가 분산되지 않도록 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1143000" y="4965204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1723281" y="4855666"/>
            <a:ext cx="6140470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가까이 두는 것은 관련 있다고 말하는 것이다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1143000" y="7639050"/>
            <a:ext cx="16002000" cy="2038350"/>
          </a:xfrm>
          <a:prstGeom prst="roundRect">
            <a:avLst>
              <a:gd fmla="val 8411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1524000" y="7905750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1524000" y="8315325"/>
            <a:ext cx="16764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버블 차트에서 주의할 점은?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1524000" y="8705850"/>
            <a:ext cx="16764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같은 대상을 색과 크기로 함께 강조할 때 무엇을 주의해야 하는가?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1524000" y="9096375"/>
            <a:ext cx="16764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게슈탈트 원리가 PART 5에서 무엇으로 돌아오는가?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"/>
          <p:cNvSpPr/>
          <p:nvPr/>
        </p:nvSpPr>
        <p:spPr>
          <a:xfrm>
            <a:off x="1143000" y="3104257"/>
            <a:ext cx="245509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3603501" y="3035201"/>
            <a:ext cx="2169542" cy="447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3774951" y="3120926"/>
            <a:ext cx="19028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PART의 본론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1143000" y="3749576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왜곡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1143000" y="5231606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해석을 왜곡하는 요소는 없는가. 악의적 조작만 다루지 않습니다. 의도하지 않아도 생길 수 있는 왜곡, 그리고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도구가 대신 만들어내는 왜곡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을 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1143000" y="6866037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2203921" y="6866037"/>
            <a:ext cx="126332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메시지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3676799" y="6866037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목적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4943698" y="6866037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채널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6210598" y="7223224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6210598" y="6866037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왜곡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7477497" y="6866037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왜곡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4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막대는 길이가 곧 값입니다 — 기준선은 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2657475" y="2286000"/>
            <a:ext cx="12973050" cy="4442296"/>
          </a:xfrm>
          <a:prstGeom prst="roundRect">
            <a:avLst>
              <a:gd fmla="val 4288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2295525"/>
            <a:ext cx="12954000" cy="442324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4"/>
          <p:cNvSpPr/>
          <p:nvPr/>
        </p:nvSpPr>
        <p:spPr>
          <a:xfrm>
            <a:off x="1143000" y="7908652"/>
            <a:ext cx="16002000" cy="992460"/>
          </a:xfrm>
          <a:custGeom>
            <a:rect b="b" l="l" r="r" t="t"/>
            <a:pathLst>
              <a:path extrusionOk="0" h="992460" w="16002000">
                <a:moveTo>
                  <a:pt x="0" y="0"/>
                </a:moveTo>
                <a:lnTo>
                  <a:pt x="16002000" y="0"/>
                </a:lnTo>
                <a:lnTo>
                  <a:pt x="16002000" y="821010"/>
                </a:lnTo>
                <a:cubicBezTo>
                  <a:pt x="16002000" y="915699"/>
                  <a:pt x="15925239" y="992460"/>
                  <a:pt x="15830550" y="992460"/>
                </a:cubicBezTo>
                <a:lnTo>
                  <a:pt x="171450" y="992460"/>
                </a:lnTo>
                <a:cubicBezTo>
                  <a:pt x="76761" y="992460"/>
                  <a:pt x="0" y="915699"/>
                  <a:pt x="0" y="82101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1143000" y="7908652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1466850" y="8213452"/>
            <a:ext cx="15834360" cy="478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같은 데이터, 같은 차트 종류.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축 설정 하나가 결론을 바꿉니다.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1143000" y="9053513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막대의 축 절단은 길이 비교를 왜곡할 수 있습니다. 절단 표시만으로 해결되지는 않습니다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사례 개념: Fox News 세율 그래픽(2012) · 국공립 어린이집 증가 그래픽 — 요즘IT ③ 인용 · 도식은 세미나용 재구성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왜곡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이중 Y축의 스케일과 해석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1704975" y="2286000"/>
            <a:ext cx="14878050" cy="3338587"/>
          </a:xfrm>
          <a:prstGeom prst="roundRect">
            <a:avLst>
              <a:gd fmla="val 570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2295525"/>
            <a:ext cx="14859000" cy="331953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5"/>
          <p:cNvSpPr/>
          <p:nvPr/>
        </p:nvSpPr>
        <p:spPr>
          <a:xfrm>
            <a:off x="1143000" y="7893397"/>
            <a:ext cx="16002000" cy="1417290"/>
          </a:xfrm>
          <a:prstGeom prst="roundRect">
            <a:avLst>
              <a:gd fmla="val 12097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5"/>
          <p:cNvSpPr/>
          <p:nvPr/>
        </p:nvSpPr>
        <p:spPr>
          <a:xfrm>
            <a:off x="1524000" y="8160097"/>
            <a:ext cx="15720060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셋 다 같은 데이터입니다. </a:t>
            </a:r>
            <a:r>
              <a:rPr b="1" i="0" lang="en-US" sz="2400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축 범위에 따라 관계가 다르게 보일 수 있습니다. 단위가 다르면 차트를 둘로 나누거나, 지수화(기준시점=100)해서 한 축에.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1143000" y="9463087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순서대로 읽으면 —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"교차한다" →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"Y는 거의 안 변했다" →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"X가 줄자 Y가 폭증했다"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왜곡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음수가 없는 누적합은 감소하지 않습니다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2466975" y="2286000"/>
            <a:ext cx="13354050" cy="4247183"/>
          </a:xfrm>
          <a:prstGeom prst="roundRect">
            <a:avLst>
              <a:gd fmla="val 4485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2295525"/>
            <a:ext cx="13335000" cy="4228133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6"/>
          <p:cNvSpPr/>
          <p:nvPr/>
        </p:nvSpPr>
        <p:spPr>
          <a:xfrm>
            <a:off x="1143000" y="8318227"/>
            <a:ext cx="16002000" cy="992460"/>
          </a:xfrm>
          <a:custGeom>
            <a:rect b="b" l="l" r="r" t="t"/>
            <a:pathLst>
              <a:path extrusionOk="0" h="992460" w="16002000">
                <a:moveTo>
                  <a:pt x="0" y="0"/>
                </a:moveTo>
                <a:lnTo>
                  <a:pt x="16002000" y="0"/>
                </a:lnTo>
                <a:lnTo>
                  <a:pt x="16002000" y="821010"/>
                </a:lnTo>
                <a:cubicBezTo>
                  <a:pt x="16002000" y="915699"/>
                  <a:pt x="15925239" y="992460"/>
                  <a:pt x="15830550" y="992460"/>
                </a:cubicBezTo>
                <a:lnTo>
                  <a:pt x="171450" y="992460"/>
                </a:lnTo>
                <a:cubicBezTo>
                  <a:pt x="76761" y="992460"/>
                  <a:pt x="0" y="915699"/>
                  <a:pt x="0" y="82101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1143000" y="8318227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1466850" y="8623027"/>
            <a:ext cx="15834360" cy="4781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누적 그래프를 볼 때 물어야 할 것 —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"기간별 증가분은 어떻게 변했는가?" 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원계열을 함께 보여주세요.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1143000" y="9463087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3D 파이의 원근 효과도 비중을 다르게 보이게 할 수 있습니다. 정밀 비교에는 2D 막대를 고려합니다.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왜곡 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지도 면적과 데이터 크기의 구분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7"/>
          <p:cNvSpPr/>
          <p:nvPr/>
        </p:nvSpPr>
        <p:spPr>
          <a:xfrm>
            <a:off x="3228975" y="2125935"/>
            <a:ext cx="11830050" cy="4052069"/>
          </a:xfrm>
          <a:prstGeom prst="roundRect">
            <a:avLst>
              <a:gd fmla="val 470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0" name="Google Shape;4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2135460"/>
            <a:ext cx="11811000" cy="403301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7"/>
          <p:cNvSpPr/>
          <p:nvPr/>
        </p:nvSpPr>
        <p:spPr>
          <a:xfrm>
            <a:off x="1143000" y="8459167"/>
            <a:ext cx="16002000" cy="908670"/>
          </a:xfrm>
          <a:prstGeom prst="roundRect">
            <a:avLst>
              <a:gd fmla="val 1886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1524000" y="8706817"/>
            <a:ext cx="157200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지역을 색으로 칠하면 넓은 지역이 더 두드러질 수 있습니다. 총량은 점의 면적·카토그램, 비율·밀도는 지역 색칠을 고려합니다.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1143000" y="9501188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지도를 볼 때: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칠했나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(면적 vs 값) ·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언제 데이터인가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범위는 어디까지인가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8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왜곡 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도구의 기본값과 축 설정 점검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1143000" y="19544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도구마다 자동으로 하는 일이 다릅니다 — 아래 세 경우만 기억하세요.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1143000" y="2568848"/>
            <a:ext cx="8382000" cy="5414963"/>
          </a:xfrm>
          <a:prstGeom prst="roundRect">
            <a:avLst>
              <a:gd fmla="val 3166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8"/>
          <p:cNvSpPr/>
          <p:nvPr/>
        </p:nvSpPr>
        <p:spPr>
          <a:xfrm>
            <a:off x="1466850" y="2854598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① 선 그래프: 축이 데이터 범위에 맞춰집니다 — 정상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1466850" y="3224882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ax.plot(x, 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1809750" y="3595167"/>
            <a:ext cx="76234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ylim ≈ (33.7, 40.3) · 변화가 목적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1466850" y="4098801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② 막대: 0이 기본입니다 — 축 범위 변경 시 확인합니다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1466850" y="4469085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ax.bar(x, y)# ylim = (0, 42)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1466850" y="4839370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ax.set_ylim(</a:t>
            </a: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34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1809750" y="5209654"/>
            <a:ext cx="76234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이 한 줄이 워밍업 A를 만듭니다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1466850" y="5713288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③ 스프레드시트: 도구·차트 종류·설정에 따라 축 범위를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1466850" y="6083573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확인합니다 → 축 옵션에서 최소값 0 고정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1466850" y="6587207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팔레트: 범주형과 연속형을 섞지 않기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1466850" y="6957492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sns.color_palette(</a:t>
            </a: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"colorblind"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)# 범주형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1466850" y="7327776"/>
            <a:ext cx="796632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ax.imshow(z, cmap=</a:t>
            </a: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"viridis"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)# 연속형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9982200" y="2568848"/>
            <a:ext cx="787908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커밋 전 30초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9982200" y="3581326"/>
            <a:ext cx="716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9982200" y="3145110"/>
            <a:ext cx="3238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10420350" y="3087960"/>
            <a:ext cx="4526198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막대인가 →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기준선 0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(선 그래프는 예외)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9982200" y="4577581"/>
            <a:ext cx="716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8"/>
          <p:cNvSpPr/>
          <p:nvPr/>
        </p:nvSpPr>
        <p:spPr>
          <a:xfrm>
            <a:off x="9982200" y="3781351"/>
            <a:ext cx="3238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10420350" y="3724201"/>
            <a:ext cx="6926390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축을 잘랐다면 →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왜 잘랐는지 캡션에 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정당한 절단도 있습니다. 차트 유형과 해석 영향을 함께 설명합니다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9982200" y="5213821"/>
            <a:ext cx="716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8"/>
          <p:cNvSpPr/>
          <p:nvPr/>
        </p:nvSpPr>
        <p:spPr>
          <a:xfrm>
            <a:off x="9982200" y="4777606"/>
            <a:ext cx="3238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10420350" y="4720456"/>
            <a:ext cx="385711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축이 두 개인가 →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나누거나 지수화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9982200" y="5850062"/>
            <a:ext cx="716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9982200" y="5413846"/>
            <a:ext cx="3238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10420350" y="5356696"/>
            <a:ext cx="296578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누적인가 →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원계열도 함께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9982200" y="6486302"/>
            <a:ext cx="716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8"/>
          <p:cNvSpPr/>
          <p:nvPr/>
        </p:nvSpPr>
        <p:spPr>
          <a:xfrm>
            <a:off x="9982200" y="6050087"/>
            <a:ext cx="3238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10420350" y="5992937"/>
            <a:ext cx="5080523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파이인가 → 같은 전체를 빠짐없이 나누었는가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9982200" y="7122542"/>
            <a:ext cx="71628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8"/>
          <p:cNvSpPr/>
          <p:nvPr/>
        </p:nvSpPr>
        <p:spPr>
          <a:xfrm>
            <a:off x="9982200" y="6686327"/>
            <a:ext cx="3238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10420350" y="6629177"/>
            <a:ext cx="459111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지도인가 → 총량과 비율에 맞는 지도인가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9982200" y="7322567"/>
            <a:ext cx="3238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10420350" y="7265417"/>
            <a:ext cx="7381644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마지막으로 →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단위 · 기간 · 출처 · 데이터 시점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그림 안에 있는가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9"/>
          <p:cNvSpPr/>
          <p:nvPr/>
        </p:nvSpPr>
        <p:spPr>
          <a:xfrm>
            <a:off x="1143000" y="6858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9"/>
          <p:cNvSpPr/>
          <p:nvPr/>
        </p:nvSpPr>
        <p:spPr>
          <a:xfrm>
            <a:off x="1143000" y="11239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9"/>
          <p:cNvSpPr/>
          <p:nvPr/>
        </p:nvSpPr>
        <p:spPr>
          <a:xfrm>
            <a:off x="1143000" y="2672655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1143000" y="2192610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1674614" y="2106885"/>
            <a:ext cx="4980332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막대는 길이가 곧 값이다 —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기준선은 0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1143000" y="3400351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1143000" y="2920305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9"/>
          <p:cNvSpPr/>
          <p:nvPr/>
        </p:nvSpPr>
        <p:spPr>
          <a:xfrm>
            <a:off x="1674614" y="2834580"/>
            <a:ext cx="9357062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이중 Y축은 범위에 따라 관계가 다르게 보일 수 있다.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나누거나 지수화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1143000" y="41280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1143000" y="3648001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1674614" y="3562276"/>
            <a:ext cx="7789776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음수가 없는 누적합은 감소하지 않는다 —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원계열을 함께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본다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1143000" y="4855741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1143000" y="4375696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1674614" y="4289971"/>
            <a:ext cx="8722764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지도에서 면적은 값이 아니다 — 총량과 비율에 맞는 표현을 선택한다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1143000" y="5103391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1674614" y="5017666"/>
            <a:ext cx="8117034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도구마다 기본값이 다르다. 자동 축 범위와 수동 설정을 확인한다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1143000" y="8181975"/>
            <a:ext cx="16002000" cy="1571625"/>
          </a:xfrm>
          <a:prstGeom prst="roundRect">
            <a:avLst>
              <a:gd fmla="val 10909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1524000" y="8429625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1524000" y="8820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축을 자르는 것 자체가 잘못인가?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9334500" y="8820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matplotlib에서 축이 자동으로 잘리는 것은?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1524000" y="9201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단위가 다른 두 지표를 한 차트에 넣으려면?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9334500" y="9201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지역 색칠은 총량과 비율 중 어느 경우에 더 적합한가?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0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0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색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색이 정보를 명확히 전달하는가. 정보를 전달하는 색의 역할을 네 가지로 살펴봅니다.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접근성과 맥락을 함께 고려합니다.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0"/>
          <p:cNvSpPr/>
          <p:nvPr/>
        </p:nvSpPr>
        <p:spPr>
          <a:xfrm>
            <a:off x="1143000" y="6816030"/>
            <a:ext cx="85137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0"/>
          <p:cNvSpPr/>
          <p:nvPr/>
        </p:nvSpPr>
        <p:spPr>
          <a:xfrm>
            <a:off x="2203921" y="6816030"/>
            <a:ext cx="126332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메시지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36767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목적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0"/>
          <p:cNvSpPr/>
          <p:nvPr/>
        </p:nvSpPr>
        <p:spPr>
          <a:xfrm>
            <a:off x="49436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채널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62105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왜곡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7477497" y="7173218"/>
            <a:ext cx="775171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7477497" y="6816030"/>
            <a:ext cx="85137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1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 · 색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색의 네 가지 정보 전달 역할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/>
          <p:nvPr/>
        </p:nvSpPr>
        <p:spPr>
          <a:xfrm>
            <a:off x="1143000" y="19544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색이 어떤 정보를 전달하는지 확인합니다.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1"/>
          <p:cNvSpPr/>
          <p:nvPr/>
        </p:nvSpPr>
        <p:spPr>
          <a:xfrm>
            <a:off x="1704975" y="3944169"/>
            <a:ext cx="14878050" cy="2706291"/>
          </a:xfrm>
          <a:prstGeom prst="roundRect">
            <a:avLst>
              <a:gd fmla="val 7039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7" name="Google Shape;57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3953694"/>
            <a:ext cx="14859000" cy="268724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1143000" y="8044830"/>
            <a:ext cx="16002000" cy="927720"/>
          </a:xfrm>
          <a:custGeom>
            <a:rect b="b" l="l" r="r" t="t"/>
            <a:pathLst>
              <a:path extrusionOk="0" h="927720" w="16002000">
                <a:moveTo>
                  <a:pt x="0" y="0"/>
                </a:moveTo>
                <a:lnTo>
                  <a:pt x="16002000" y="0"/>
                </a:lnTo>
                <a:lnTo>
                  <a:pt x="16002000" y="756270"/>
                </a:lnTo>
                <a:cubicBezTo>
                  <a:pt x="16002000" y="850959"/>
                  <a:pt x="15925239" y="927720"/>
                  <a:pt x="15830550" y="927720"/>
                </a:cubicBezTo>
                <a:lnTo>
                  <a:pt x="171450" y="927720"/>
                </a:lnTo>
                <a:cubicBezTo>
                  <a:pt x="76761" y="927720"/>
                  <a:pt x="0" y="850959"/>
                  <a:pt x="0" y="75627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1"/>
          <p:cNvSpPr/>
          <p:nvPr/>
        </p:nvSpPr>
        <p:spPr>
          <a:xfrm>
            <a:off x="1143000" y="8044830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1"/>
          <p:cNvSpPr/>
          <p:nvPr/>
        </p:nvSpPr>
        <p:spPr>
          <a:xfrm>
            <a:off x="1466850" y="8330580"/>
            <a:ext cx="158343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가장 흔한 실수 둘 —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연속형 데이터에 범주형 팔레트</a:t>
            </a: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, 그리고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같은 변수를 차트마다 다른 색</a:t>
            </a: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으로.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1"/>
          <p:cNvSpPr/>
          <p:nvPr/>
        </p:nvSpPr>
        <p:spPr>
          <a:xfrm>
            <a:off x="1143000" y="9105900"/>
            <a:ext cx="164820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① 분류 </a:t>
            </a: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구분하기 쉬운 색을 사용하고, 범주가 많으면 라벨·분할을 고려 · </a:t>
            </a: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② 크기 </a:t>
            </a: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순차형은 명도 순서, 발산형은 의미 있는 기준점 · </a:t>
            </a: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③ 강조 </a:t>
            </a: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핵심 대상을 강조하고 보조 정보의 대비 조절 · </a:t>
            </a: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④ 의미·관습 </a:t>
            </a: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빨강=위험은 따르고, 성별 색처럼 고정관념을 굳히는 관습은 피합니다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 · 색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색각 다양성과 명도 대비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1143000" y="2324100"/>
            <a:ext cx="5905500" cy="3102397"/>
          </a:xfrm>
          <a:prstGeom prst="roundRect">
            <a:avLst>
              <a:gd fmla="val 614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0" name="Google Shape;5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333625"/>
            <a:ext cx="5886450" cy="308334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2"/>
          <p:cNvSpPr/>
          <p:nvPr/>
        </p:nvSpPr>
        <p:spPr>
          <a:xfrm>
            <a:off x="1143000" y="5655097"/>
            <a:ext cx="1632347" cy="471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2"/>
          <p:cNvSpPr/>
          <p:nvPr/>
        </p:nvSpPr>
        <p:spPr>
          <a:xfrm>
            <a:off x="1323975" y="5759872"/>
            <a:ext cx="1346597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ColorBrewer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2889647" y="5655097"/>
            <a:ext cx="1403598" cy="471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2"/>
          <p:cNvSpPr/>
          <p:nvPr/>
        </p:nvSpPr>
        <p:spPr>
          <a:xfrm>
            <a:off x="3070622" y="5759872"/>
            <a:ext cx="1117848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Chroma.js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4407545" y="5655097"/>
            <a:ext cx="997223" cy="471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2"/>
          <p:cNvSpPr/>
          <p:nvPr/>
        </p:nvSpPr>
        <p:spPr>
          <a:xfrm>
            <a:off x="4588520" y="5759872"/>
            <a:ext cx="7114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Coblis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2"/>
          <p:cNvSpPr/>
          <p:nvPr/>
        </p:nvSpPr>
        <p:spPr>
          <a:xfrm>
            <a:off x="5519068" y="5655097"/>
            <a:ext cx="1340421" cy="471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2"/>
          <p:cNvSpPr/>
          <p:nvPr/>
        </p:nvSpPr>
        <p:spPr>
          <a:xfrm>
            <a:off x="5700043" y="5759872"/>
            <a:ext cx="1054671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Colorable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2"/>
          <p:cNvSpPr/>
          <p:nvPr/>
        </p:nvSpPr>
        <p:spPr>
          <a:xfrm>
            <a:off x="7581900" y="3695700"/>
            <a:ext cx="9563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7581900" y="2324100"/>
            <a:ext cx="1051941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색각 특성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은 다양합니다. 유병률은 성별·인구집단에 따라 다릅니다.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7581900" y="2771775"/>
            <a:ext cx="984999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색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하나만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으로 정보를 나르지 말 것 — 패턴 · 모양 · 직접 라벨을 함께.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빨강–초록 대비 피하기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일부 색각 특성에서는 구분하기 어렵습니다.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2"/>
          <p:cNvSpPr/>
          <p:nvPr/>
        </p:nvSpPr>
        <p:spPr>
          <a:xfrm>
            <a:off x="7581900" y="5281613"/>
            <a:ext cx="9563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2"/>
          <p:cNvSpPr/>
          <p:nvPr/>
        </p:nvSpPr>
        <p:spPr>
          <a:xfrm>
            <a:off x="7581900" y="3914775"/>
            <a:ext cx="98499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4.5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텍스트는 배경과 대비 4.5:1, 큰 글자와 필수 그래픽은 3:1 이상(WCAG AA)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2"/>
          <p:cNvSpPr/>
          <p:nvPr/>
        </p:nvSpPr>
        <p:spPr>
          <a:xfrm>
            <a:off x="7581900" y="4714875"/>
            <a:ext cx="1051941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대비는 실제 전경·배경 색상값으로 측정합니다. 색 이름만으로 판단하지 않습니다.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7581900" y="5500688"/>
            <a:ext cx="1051941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rainbow(jet)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밝기가 들쭉날쭉해 없는 경계가 보입니다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2"/>
          <p:cNvSpPr/>
          <p:nvPr/>
        </p:nvSpPr>
        <p:spPr>
          <a:xfrm>
            <a:off x="7581900" y="5948363"/>
            <a:ext cx="1051941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viridis는 밝기가 단조 증가해 흑백 인쇄에서도 순서가 살아남습니다.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2"/>
          <p:cNvSpPr/>
          <p:nvPr/>
        </p:nvSpPr>
        <p:spPr>
          <a:xfrm>
            <a:off x="1143000" y="94773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W3C WCAG 2.2: 1.4.3 텍스트 대비, 1.4.11 비텍스트 대비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3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3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1143000" y="320226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3"/>
          <p:cNvSpPr/>
          <p:nvPr/>
        </p:nvSpPr>
        <p:spPr>
          <a:xfrm>
            <a:off x="1143000" y="261461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3"/>
          <p:cNvSpPr/>
          <p:nvPr/>
        </p:nvSpPr>
        <p:spPr>
          <a:xfrm>
            <a:off x="1723281" y="2476500"/>
            <a:ext cx="13733629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정보를 전달하는 색의 역할 넷 —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분류 · 크기 · 강조 · 의미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각 색의 역할과 접근성을 점검한다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3"/>
          <p:cNvSpPr/>
          <p:nvPr/>
        </p:nvSpPr>
        <p:spPr>
          <a:xfrm>
            <a:off x="1143000" y="41661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3"/>
          <p:cNvSpPr/>
          <p:nvPr/>
        </p:nvSpPr>
        <p:spPr>
          <a:xfrm>
            <a:off x="1143000" y="357849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1723281" y="3440385"/>
            <a:ext cx="9974907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rainbow는 없는 경계를 만든다. viridis는 흑백에서도 순서가 남는다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3"/>
          <p:cNvSpPr/>
          <p:nvPr/>
        </p:nvSpPr>
        <p:spPr>
          <a:xfrm>
            <a:off x="1143000" y="454238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1723281" y="4404271"/>
            <a:ext cx="9237472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색각 다양성을 고려하고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텍스트·필수 그래픽의 대비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를 확인한다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3"/>
          <p:cNvSpPr/>
          <p:nvPr/>
        </p:nvSpPr>
        <p:spPr>
          <a:xfrm>
            <a:off x="1143000" y="7367587"/>
            <a:ext cx="16002000" cy="2233613"/>
          </a:xfrm>
          <a:prstGeom prst="roundRect">
            <a:avLst>
              <a:gd fmla="val 767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3"/>
          <p:cNvSpPr/>
          <p:nvPr/>
        </p:nvSpPr>
        <p:spPr>
          <a:xfrm>
            <a:off x="1524000" y="7672388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1524000" y="8120063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연속형 데이터에 범주형 팔레트를 쓰면 무슨 일이 생기는가?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색 하나만으로 정보를 나르지 않으려면 무엇을 함께 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색의 네 번째 일이 PART 5에서 무엇으로 이어지는가?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1950">
                <a:solidFill>
                  <a:srgbClr val="F7585C"/>
                </a:solidFill>
              </a:rPr>
              <a:t>3</a:t>
            </a: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을 마치며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다시 보는 세 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4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앞서 배운 기준으로 다시 검토합니다.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1143000" y="2757488"/>
            <a:ext cx="5615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1143000" y="3157538"/>
            <a:ext cx="5105400" cy="3167732"/>
          </a:xfrm>
          <a:prstGeom prst="roundRect">
            <a:avLst>
              <a:gd fmla="val 5412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8" name="Google Shape;6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3167063"/>
            <a:ext cx="5086350" cy="31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4"/>
          <p:cNvSpPr/>
          <p:nvPr/>
        </p:nvSpPr>
        <p:spPr>
          <a:xfrm>
            <a:off x="1143000" y="6496720"/>
            <a:ext cx="561594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5 · 기준선이 0이 아님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4"/>
          <p:cNvSpPr/>
          <p:nvPr/>
        </p:nvSpPr>
        <p:spPr>
          <a:xfrm>
            <a:off x="1143000" y="6882482"/>
            <a:ext cx="56159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해법: 막대는 0 기준선, 변화 강조는 다른 차트 검토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4"/>
          <p:cNvSpPr/>
          <p:nvPr/>
        </p:nvSpPr>
        <p:spPr>
          <a:xfrm>
            <a:off x="6591300" y="2757488"/>
            <a:ext cx="5615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4"/>
          <p:cNvSpPr/>
          <p:nvPr/>
        </p:nvSpPr>
        <p:spPr>
          <a:xfrm>
            <a:off x="6591300" y="3157538"/>
            <a:ext cx="5105400" cy="3167732"/>
          </a:xfrm>
          <a:prstGeom prst="roundRect">
            <a:avLst>
              <a:gd fmla="val 5412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3" name="Google Shape;64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3167063"/>
            <a:ext cx="5086350" cy="31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4"/>
          <p:cNvSpPr/>
          <p:nvPr/>
        </p:nvSpPr>
        <p:spPr>
          <a:xfrm>
            <a:off x="6591300" y="6496720"/>
            <a:ext cx="561594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5 · 이중 Y축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4"/>
          <p:cNvSpPr/>
          <p:nvPr/>
        </p:nvSpPr>
        <p:spPr>
          <a:xfrm>
            <a:off x="6591300" y="6882482"/>
            <a:ext cx="56159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해법: 차트 분리 또는 지수화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12039600" y="2757488"/>
            <a:ext cx="5615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12039600" y="3157538"/>
            <a:ext cx="5105400" cy="3167732"/>
          </a:xfrm>
          <a:prstGeom prst="roundRect">
            <a:avLst>
              <a:gd fmla="val 5412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8" name="Google Shape;64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49125" y="3167063"/>
            <a:ext cx="5086350" cy="3148682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4"/>
          <p:cNvSpPr/>
          <p:nvPr/>
        </p:nvSpPr>
        <p:spPr>
          <a:xfrm>
            <a:off x="12039600" y="6496720"/>
            <a:ext cx="561594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4 · 각도로는 근접한 순위 비교가 어려움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4"/>
          <p:cNvSpPr/>
          <p:nvPr/>
        </p:nvSpPr>
        <p:spPr>
          <a:xfrm>
            <a:off x="12039600" y="6882482"/>
            <a:ext cx="56159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해법: 정렬된 막대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1950">
                <a:solidFill>
                  <a:srgbClr val="F7585C"/>
                </a:solidFill>
              </a:rPr>
              <a:t>3</a:t>
            </a: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을 마치며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5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다음 차트를 그리기 전에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여섯 챕터가 다섯 문항으로 남습니다.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5"/>
          <p:cNvSpPr/>
          <p:nvPr/>
        </p:nvSpPr>
        <p:spPr>
          <a:xfrm>
            <a:off x="1143000" y="2776538"/>
            <a:ext cx="16002000" cy="1157288"/>
          </a:xfrm>
          <a:prstGeom prst="roundRect">
            <a:avLst>
              <a:gd fmla="val 131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5"/>
          <p:cNvSpPr/>
          <p:nvPr/>
        </p:nvSpPr>
        <p:spPr>
          <a:xfrm>
            <a:off x="1447800" y="3217069"/>
            <a:ext cx="495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5"/>
          <p:cNvSpPr/>
          <p:nvPr/>
        </p:nvSpPr>
        <p:spPr>
          <a:xfrm>
            <a:off x="2133600" y="3009900"/>
            <a:ext cx="513724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전달할 결론이나 탐색할 질문이 명확한가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5"/>
          <p:cNvSpPr/>
          <p:nvPr/>
        </p:nvSpPr>
        <p:spPr>
          <a:xfrm>
            <a:off x="2133600" y="3414713"/>
            <a:ext cx="1535273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전달용 결론 또는 탐색 질문이 명확한가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5"/>
          <p:cNvSpPr/>
          <p:nvPr/>
        </p:nvSpPr>
        <p:spPr>
          <a:xfrm>
            <a:off x="16357327" y="3224213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5"/>
          <p:cNvSpPr/>
          <p:nvPr/>
        </p:nvSpPr>
        <p:spPr>
          <a:xfrm>
            <a:off x="1143000" y="4067175"/>
            <a:ext cx="16002000" cy="1157288"/>
          </a:xfrm>
          <a:prstGeom prst="roundRect">
            <a:avLst>
              <a:gd fmla="val 131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5"/>
          <p:cNvSpPr/>
          <p:nvPr/>
        </p:nvSpPr>
        <p:spPr>
          <a:xfrm>
            <a:off x="1447800" y="4507706"/>
            <a:ext cx="495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5"/>
          <p:cNvSpPr/>
          <p:nvPr/>
        </p:nvSpPr>
        <p:spPr>
          <a:xfrm>
            <a:off x="2133600" y="4300538"/>
            <a:ext cx="205694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목적을 정했는가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5"/>
          <p:cNvSpPr/>
          <p:nvPr/>
        </p:nvSpPr>
        <p:spPr>
          <a:xfrm>
            <a:off x="2133600" y="4705350"/>
            <a:ext cx="1535273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비교 · 추세 · 구성 · 분포 · 관계 · 흐름 등 목적에 맞는 후보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16357327" y="4514850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5"/>
          <p:cNvSpPr/>
          <p:nvPr/>
        </p:nvSpPr>
        <p:spPr>
          <a:xfrm>
            <a:off x="1143000" y="5357813"/>
            <a:ext cx="16002000" cy="1157288"/>
          </a:xfrm>
          <a:prstGeom prst="roundRect">
            <a:avLst>
              <a:gd fmla="val 131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5"/>
          <p:cNvSpPr/>
          <p:nvPr/>
        </p:nvSpPr>
        <p:spPr>
          <a:xfrm>
            <a:off x="1447800" y="5798344"/>
            <a:ext cx="495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2133600" y="5591175"/>
            <a:ext cx="5706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정확한 비교가 목적이면 위치 · 길이 채널인가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2133600" y="5995988"/>
            <a:ext cx="1535273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강조 대상은 명확하게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5"/>
          <p:cNvSpPr/>
          <p:nvPr/>
        </p:nvSpPr>
        <p:spPr>
          <a:xfrm>
            <a:off x="16357327" y="5805488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1143000" y="6648450"/>
            <a:ext cx="16002000" cy="1157288"/>
          </a:xfrm>
          <a:prstGeom prst="roundRect">
            <a:avLst>
              <a:gd fmla="val 131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5"/>
          <p:cNvSpPr/>
          <p:nvPr/>
        </p:nvSpPr>
        <p:spPr>
          <a:xfrm>
            <a:off x="1447800" y="7088981"/>
            <a:ext cx="495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2133600" y="6881813"/>
            <a:ext cx="117990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왜곡 점검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2133600" y="7286625"/>
            <a:ext cx="1535273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기준선 0 · 이중축 대안 검토 · 누적이면 원계열 · 파이는 전체의 구성 · 지도는 총량·비율 구분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16357327" y="7096125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1143000" y="7939087"/>
            <a:ext cx="16002000" cy="1157288"/>
          </a:xfrm>
          <a:prstGeom prst="roundRect">
            <a:avLst>
              <a:gd fmla="val 1316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5"/>
          <p:cNvSpPr/>
          <p:nvPr/>
        </p:nvSpPr>
        <p:spPr>
          <a:xfrm>
            <a:off x="1447800" y="8379619"/>
            <a:ext cx="495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5"/>
          <p:cNvSpPr/>
          <p:nvPr/>
        </p:nvSpPr>
        <p:spPr>
          <a:xfrm>
            <a:off x="2133600" y="8172450"/>
            <a:ext cx="419386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색이 네 가지 일 중 하나를 하는가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2133600" y="8577263"/>
            <a:ext cx="1535273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색각 이상에서도, 흑백에서도 읽히는가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16357327" y="8386763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1143000" y="94392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핸즈온 세션에서 여러분이 만든 차트를 이 다섯 문항에 통과시킵니다.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6"/>
          <p:cNvSpPr/>
          <p:nvPr/>
        </p:nvSpPr>
        <p:spPr>
          <a:xfrm>
            <a:off x="1143000" y="2718941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1950">
                <a:solidFill>
                  <a:srgbClr val="F7585C"/>
                </a:solidFill>
              </a:rPr>
              <a:t>3</a:t>
            </a: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을 마치며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/>
          <p:nvPr/>
        </p:nvSpPr>
        <p:spPr>
          <a:xfrm>
            <a:off x="1143000" y="3442841"/>
            <a:ext cx="16482060" cy="1920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9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차트 설계는 독자가 데이터를 해석할 수 있도록 시각 채널을 선택하는 과정입니다.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1143000" y="5934521"/>
            <a:ext cx="84658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여기까지 만든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1143000" y="6401246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다섯 질문 체크리스트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1143000" y="6853684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왜곡 점검 7항목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1143000" y="7306121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색 판단 기준 넷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9448800" y="5934521"/>
            <a:ext cx="84658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5로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/>
          <p:nvPr/>
        </p:nvSpPr>
        <p:spPr>
          <a:xfrm>
            <a:off x="9448800" y="6401246"/>
            <a:ext cx="792708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차트 한 장을 잘 만드는 법을 배웠다면, 다음은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여러 장을 하나의 의사결정 도구로 조립하는 법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"/>
          <p:cNvSpPr/>
          <p:nvPr/>
        </p:nvSpPr>
        <p:spPr>
          <a:xfrm>
            <a:off x="1143000" y="762000"/>
            <a:ext cx="17602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참고 문헌 &amp; 참고 자료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7"/>
          <p:cNvSpPr/>
          <p:nvPr/>
        </p:nvSpPr>
        <p:spPr>
          <a:xfrm>
            <a:off x="1143000" y="2740298"/>
            <a:ext cx="76962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7"/>
          <p:cNvSpPr/>
          <p:nvPr/>
        </p:nvSpPr>
        <p:spPr>
          <a:xfrm>
            <a:off x="1143000" y="2278335"/>
            <a:ext cx="792708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개념적 토대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7"/>
          <p:cNvSpPr/>
          <p:nvPr/>
        </p:nvSpPr>
        <p:spPr>
          <a:xfrm>
            <a:off x="1143000" y="2959373"/>
            <a:ext cx="7927086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Cleveland, W. S. &amp; McGill, R. (1984). Graphical Perception. JASA — 지각 정확도 순서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1143000" y="3783285"/>
            <a:ext cx="7927086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Heer, J. &amp; Bostock, M. (2010). Crowdsourcing Graphical Perception. CHI — 재현 연구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1143000" y="4607198"/>
            <a:ext cx="7927086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Ware, C. Information Visualization: Perception for Design — 시각 처리 3단계, 전주의 속성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7"/>
          <p:cNvSpPr/>
          <p:nvPr/>
        </p:nvSpPr>
        <p:spPr>
          <a:xfrm>
            <a:off x="1143000" y="5431110"/>
            <a:ext cx="8465820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게슈탈트 지각 원리 — 근접 · 유사 · 연결 · 공동 운명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1143000" y="5909742"/>
            <a:ext cx="8465820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목적별 차트 분류 — 비교 · 추세 · 구성 · 분포 · 관계 · 흐름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1143000" y="6388373"/>
            <a:ext cx="8465820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viridis / cividis 지각 균일 컬러맵 · ColorBrewer · WCAG 2.x 대비 기준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9448800" y="2740298"/>
            <a:ext cx="76962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7"/>
          <p:cNvSpPr/>
          <p:nvPr/>
        </p:nvSpPr>
        <p:spPr>
          <a:xfrm>
            <a:off x="9448800" y="2278335"/>
            <a:ext cx="7927086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참고한 해설 콘텐츠 · 도구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9448800" y="2959373"/>
            <a:ext cx="846582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신유진, 요즘IT 「데이터 시각화 101」 (yozm.wishket.com)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7"/>
          <p:cNvSpPr/>
          <p:nvPr/>
        </p:nvSpPr>
        <p:spPr>
          <a:xfrm>
            <a:off x="9448800" y="3364185"/>
            <a:ext cx="28575" cy="198090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7"/>
          <p:cNvSpPr/>
          <p:nvPr/>
        </p:nvSpPr>
        <p:spPr>
          <a:xfrm>
            <a:off x="9686925" y="3364185"/>
            <a:ext cx="82038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① 데이터 시각화는 왜 중요할까? (2022.10) →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9686925" y="3779416"/>
            <a:ext cx="82038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② 직관적인 데이터 시각화 만들기 (2022.11) →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9686925" y="4194646"/>
            <a:ext cx="82038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③ 데이터 속 거짓말 발견하기 (2022.12) →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7"/>
          <p:cNvSpPr/>
          <p:nvPr/>
        </p:nvSpPr>
        <p:spPr>
          <a:xfrm>
            <a:off x="9686925" y="4609877"/>
            <a:ext cx="82038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④ 언제 어떤 차트를 사용해야 할까 (2024.01) →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7"/>
          <p:cNvSpPr/>
          <p:nvPr/>
        </p:nvSpPr>
        <p:spPr>
          <a:xfrm>
            <a:off x="9686925" y="5025107"/>
            <a:ext cx="8203883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⑤ 어떤 색을 어떻게 사용해야 할까? (2024.02) →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/>
          <p:cNvSpPr/>
          <p:nvPr/>
        </p:nvSpPr>
        <p:spPr>
          <a:xfrm>
            <a:off x="9448800" y="5535588"/>
            <a:ext cx="846582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도구: ColorBrewer · Chroma.js · Coblis · Colorable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7"/>
          <p:cNvSpPr/>
          <p:nvPr/>
        </p:nvSpPr>
        <p:spPr>
          <a:xfrm>
            <a:off x="1143000" y="8572500"/>
            <a:ext cx="16002000" cy="1143000"/>
          </a:xfrm>
          <a:prstGeom prst="roundRect">
            <a:avLst>
              <a:gd fmla="val 1333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7"/>
          <p:cNvSpPr/>
          <p:nvPr/>
        </p:nvSpPr>
        <p:spPr>
          <a:xfrm>
            <a:off x="1447800" y="8801100"/>
            <a:ext cx="158724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본 자료는 위 개념을 실무 구현 관점에서 재구성한 것이며, 모든 도표는 세미나용으로 새로 제작했습니다. 원문 이미지를 인용한 슬라이드는 해당 슬라이드 하단에 출처를 표기했습니다.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