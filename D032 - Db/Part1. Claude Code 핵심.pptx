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1" name="Google Shape;75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1" name="Google Shape;83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6" name="Google Shape;85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4" name="Google Shape;86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9" name="Google Shape;88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6" name="Google Shape;90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8" name="Google Shape;93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7" name="Google Shape;94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0" name="Google Shape;96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4" name="Google Shape;97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7" name="Google Shape;98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3" name="Google Shape;1003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3" name="Google Shape;102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8" name="Google Shape;104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1" name="Google Shape;1081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42997" y="2610702"/>
            <a:ext cx="1760216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모두의연구소 · AI 에이전트 활용 데이터 분석 파이프라인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142997" y="3470158"/>
            <a:ext cx="17602160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42997" y="4045529"/>
            <a:ext cx="17602160" cy="1379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8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Claude Code 핵심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42997" y="5805674"/>
            <a:ext cx="1523951" cy="57129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142997" y="6358085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1. Claude Code 첫걸음 — 도구 · 모드 · 명령어 · CLAUDE.md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142997" y="687999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2. MCP &amp; Skills — 도구를 늘리는 두 방법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142997" y="7401903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3. 서브에이전트와 협업 구조 </a:t>
            </a:r>
            <a:r>
              <a:rPr b="0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— 이 Part의 본론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과정에서 주로 보는 도구 여섯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142997" y="228701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채팅과의 가장 큰 차이 — Claude Code는 파일을 직접 읽고 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142997" y="3472468"/>
            <a:ext cx="2095450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142997" y="3015771"/>
            <a:ext cx="2171650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도구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401" y="3472468"/>
            <a:ext cx="6572269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619401" y="3015771"/>
            <a:ext cx="6769437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무엇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0572624" y="3472468"/>
            <a:ext cx="6572337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0572624" y="3015771"/>
            <a:ext cx="6769507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언제 쓰이는가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142997" y="4274047"/>
            <a:ext cx="2095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1142997" y="3708103"/>
            <a:ext cx="2171650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619401" y="4274047"/>
            <a:ext cx="657226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619401" y="3708103"/>
            <a:ext cx="676943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파일 내용을 컨텍스트로 가져옴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0572624" y="4274047"/>
            <a:ext cx="65723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0572624" y="3708103"/>
            <a:ext cx="676950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CSV·코드·문서를 분석 전에 확인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142997" y="5058236"/>
            <a:ext cx="2095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1142997" y="4492292"/>
            <a:ext cx="2171650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619401" y="5058236"/>
            <a:ext cx="657226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3619401" y="4492292"/>
            <a:ext cx="676943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새 파일 생성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572624" y="5058236"/>
            <a:ext cx="65723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0572624" y="4492292"/>
            <a:ext cx="676950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분석 결과·설정 파일 저장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142997" y="5842425"/>
            <a:ext cx="2095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1142997" y="5276481"/>
            <a:ext cx="2171650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Edit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619401" y="5842425"/>
            <a:ext cx="657226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619401" y="5276481"/>
            <a:ext cx="676943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기존 파일 일부 수정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0572624" y="5842425"/>
            <a:ext cx="65723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10572624" y="5276481"/>
            <a:ext cx="676950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지시문 고치기. diff로 변경 확인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142997" y="6626613"/>
            <a:ext cx="2095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1142997" y="6060670"/>
            <a:ext cx="2171650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Bash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619401" y="6626613"/>
            <a:ext cx="657226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3619401" y="6060670"/>
            <a:ext cx="676943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터미널 명령 실행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0572624" y="6626613"/>
            <a:ext cx="65723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10572624" y="6060670"/>
            <a:ext cx="676950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Python 실행, 파일 개수 세기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142997" y="7410802"/>
            <a:ext cx="2095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1142997" y="6844858"/>
            <a:ext cx="2171650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Glob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619401" y="7410802"/>
            <a:ext cx="657226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3619401" y="6844858"/>
            <a:ext cx="676943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파일 패턴 검색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0572624" y="7410802"/>
            <a:ext cx="65723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10572624" y="6844858"/>
            <a:ext cx="676950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data/*.csv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1142997" y="7629048"/>
            <a:ext cx="2171650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Grep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619401" y="7629048"/>
            <a:ext cx="676943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파일 내용 검색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572624" y="7629048"/>
            <a:ext cx="676950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컬럼명·함수명·에러 메시지 찾기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도구는 조합되어 흐른다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142997" y="228701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"data 안의 CSV를 전부 채널별로 분석해줘" 라고 하면 이렇게 움직인다.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142997" y="3020119"/>
            <a:ext cx="457154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828687" y="3015771"/>
            <a:ext cx="2933644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Bash (ls)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800372" y="3020119"/>
            <a:ext cx="1805842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폴더 구조 확인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142997" y="3505618"/>
            <a:ext cx="457154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1828687" y="3501270"/>
            <a:ext cx="2933644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Glob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800372" y="3505618"/>
            <a:ext cx="3577835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data/*.csv → 3개 파일 발견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142997" y="3991117"/>
            <a:ext cx="457154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828687" y="3986769"/>
            <a:ext cx="2933644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800372" y="3991117"/>
            <a:ext cx="2726137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컬럼·데이터 구조 확인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142997" y="4476615"/>
            <a:ext cx="457154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828687" y="4472268"/>
            <a:ext cx="2933644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800372" y="4476615"/>
            <a:ext cx="3128971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scripts/analyze.py 생성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142997" y="5014896"/>
            <a:ext cx="16001964" cy="746148"/>
          </a:xfrm>
          <a:prstGeom prst="rect">
            <a:avLst/>
          </a:prstGeom>
          <a:solidFill>
            <a:srgbClr val="F7585C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1142997" y="5014896"/>
            <a:ext cx="56518" cy="74614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1447122" y="5218416"/>
            <a:ext cx="457154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2132812" y="5214068"/>
            <a:ext cx="2870801" cy="394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Bash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047367" y="5205373"/>
            <a:ext cx="7548640" cy="403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실행 → KeyError: 'conversion_rate' ← 컬럼명 불일치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142997" y="5955868"/>
            <a:ext cx="457154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828687" y="5951521"/>
            <a:ext cx="2933644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Edit + Bash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800372" y="5955868"/>
            <a:ext cx="1848285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수정 → 재실행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1142997" y="6441367"/>
            <a:ext cx="457154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828687" y="6437020"/>
            <a:ext cx="2933644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800372" y="6441367"/>
            <a:ext cx="349578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processed/result.csv 저장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142997" y="8820291"/>
            <a:ext cx="16001964" cy="9525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1142997" y="9171886"/>
            <a:ext cx="16482023" cy="4293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5번을 보세요. 실패하고, 원인을 보고, 고쳐서 다시 돈다.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채팅에서는 이 루프를 사람이 손으로 돌린다.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슬래시 명령어 두 종류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142997" y="228701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실행 모드는 Part 0 Ch3에서 설명했다. 실습은 Manual로 시작한다.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142997" y="3130098"/>
            <a:ext cx="7283297" cy="3119094"/>
          </a:xfrm>
          <a:prstGeom prst="roundRect">
            <a:avLst>
              <a:gd fmla="val 610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1562060" y="3587270"/>
            <a:ext cx="708968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내장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562060" y="4144571"/>
            <a:ext cx="7089688" cy="5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85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/clear /help /model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562060" y="4896969"/>
            <a:ext cx="708968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Claude Code 자체에서 온다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8769139" y="3130098"/>
            <a:ext cx="8375754" cy="3119094"/>
          </a:xfrm>
          <a:prstGeom prst="roundRect">
            <a:avLst>
              <a:gd fmla="val 6108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9188202" y="3587270"/>
            <a:ext cx="8291391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프로젝트 스킬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9188202" y="4144571"/>
            <a:ext cx="7763757" cy="1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8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/run-pipeline /audit-analysis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9188202" y="5439869"/>
            <a:ext cx="8291391" cy="390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.claude/skills/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 우리가 만든 것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142997" y="9176215"/>
            <a:ext cx="16482023" cy="4249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두 번째가 중요하다 —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우리가 만든 절차를 명령어 한 줄로 부를 수 있다.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CLAUDE.md — 프로젝트의 헌법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1142997" y="228701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 폴더에서 실행될 때마다 </a:t>
            </a: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항상 읽는 파일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. 여기에 쓰는 것은 항상 적용되는 규칙이다.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142997" y="3053880"/>
            <a:ext cx="16001964" cy="6509230"/>
          </a:xfrm>
          <a:prstGeom prst="roundRect">
            <a:avLst>
              <a:gd fmla="val 2927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1600169" y="3472943"/>
            <a:ext cx="15540250" cy="521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27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## 폴더 규약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600169" y="3956268"/>
            <a:ext cx="15540250" cy="521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원본 데이터는 runs/latest/input/에만 있다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600169" y="4439593"/>
            <a:ext cx="15540250" cy="521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산출물은 runs/latest/outputs/에 저장한다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600169" y="5151504"/>
            <a:ext cx="15540250" cy="521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27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## 언어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1600169" y="5634829"/>
            <a:ext cx="15540250" cy="521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산출물은 한국어로 쓴다. 컬럼명·코드는 원문 그대로 둔다.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600169" y="6346740"/>
            <a:ext cx="15540250" cy="521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27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## 하지 말 것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600169" y="6830065"/>
            <a:ext cx="15540250" cy="521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파이프라인 전체 재실행. 문제가 있으면 그 단계만 다시 돌린다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짧을수록 지켜진다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1142997" y="228701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규칙을 많이 쓰면 다 지켜질 것 같지만 반대다.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1142997" y="3189945"/>
            <a:ext cx="17602160" cy="590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길어지면 뒤쪽 규칙의 영향력이 떨어진다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1142997" y="4028139"/>
            <a:ext cx="17602160" cy="590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서로 충돌하는 규칙이 생기고, 충돌하면 예측할 수 없게 동작한다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1142997" y="4866332"/>
            <a:ext cx="17602160" cy="590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사람도 안 읽는다 — </a:t>
            </a: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읽히지 않는 규칙은 규칙이 아니다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1142997" y="8212246"/>
            <a:ext cx="16001964" cy="17390"/>
          </a:xfrm>
          <a:prstGeom prst="rect">
            <a:avLst/>
          </a:prstGeom>
          <a:solidFill>
            <a:srgbClr val="FFFFFF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1142997" y="9157362"/>
            <a:ext cx="650552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목표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2022085" y="8648699"/>
            <a:ext cx="3513946" cy="9525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9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20~35줄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CLAUDE.md에 쓰지 말 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1142997" y="3010405"/>
            <a:ext cx="8786122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1142997" y="2553709"/>
            <a:ext cx="9049705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쓰고 싶어지는 것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10386292" y="3010405"/>
            <a:ext cx="6758670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10386292" y="2553709"/>
            <a:ext cx="6961430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실제로 갈 곳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1142997" y="3901245"/>
            <a:ext cx="878612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1142997" y="3284140"/>
            <a:ext cx="9049705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"먼저 결측을 확인하고 그 다음 이상치를…"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10386292" y="3901245"/>
            <a:ext cx="675867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10386292" y="3284140"/>
            <a:ext cx="6961430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Skill (절차)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1142997" y="4779042"/>
            <a:ext cx="878612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1142997" y="4157590"/>
            <a:ext cx="9049705" cy="4119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b="0" i="0" lang="en-US" sz="24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@eda</a:t>
            </a: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는 탐색을 담당한다"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10386292" y="4779042"/>
            <a:ext cx="675867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10386292" y="4157590"/>
            <a:ext cx="6961430" cy="4119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agents/eda.md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(역할)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1142997" y="5656839"/>
            <a:ext cx="878612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1142997" y="5035387"/>
            <a:ext cx="9049705" cy="4119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"비율에는 표본 크기를 함께 적는다"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10386292" y="5656839"/>
            <a:ext cx="675867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10386292" y="5035387"/>
            <a:ext cx="6961430" cy="4119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rules/ </a:t>
            </a: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(원칙)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1142997" y="6530288"/>
            <a:ext cx="878612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1142997" y="5913184"/>
            <a:ext cx="9049705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"매출은 수량 × 단가다"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10386292" y="6530288"/>
            <a:ext cx="675867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10386292" y="5913184"/>
            <a:ext cx="6961430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정의서 (산출물)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1142997" y="8511751"/>
            <a:ext cx="17602160" cy="4952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"짧게 쓰라면서 지킬 게 많은데 뭘 버리냐" 는 당연한 반발이 나온다.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1142997" y="9102270"/>
            <a:ext cx="17602160" cy="498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버리지 않는다. </a:t>
            </a:r>
            <a:r>
              <a:rPr b="1" i="0" lang="en-US" sz="30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옮긴다.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폴더 구조를 먼저 보게 하는 이유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142997" y="2553709"/>
            <a:ext cx="16001964" cy="1081317"/>
          </a:xfrm>
          <a:prstGeom prst="roundRect">
            <a:avLst>
              <a:gd fmla="val 14094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1562097" y="2896609"/>
            <a:ext cx="15643823" cy="4336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이 폴더 구조를 파악하고 무엇을 하는 프로젝트인지 알려줘.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1142997" y="4092197"/>
            <a:ext cx="2337079" cy="851712"/>
          </a:xfrm>
          <a:prstGeom prst="roundRect">
            <a:avLst>
              <a:gd fmla="val 1565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1485897" y="4339847"/>
            <a:ext cx="1727479" cy="3945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Bash (ls)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708662" y="4278938"/>
            <a:ext cx="495263" cy="5163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356311" y="4092197"/>
            <a:ext cx="1419678" cy="851712"/>
          </a:xfrm>
          <a:prstGeom prst="roundRect">
            <a:avLst>
              <a:gd fmla="val 1565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4699211" y="4339847"/>
            <a:ext cx="810078" cy="3945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Glob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004575" y="4278938"/>
            <a:ext cx="495263" cy="5163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6652224" y="4092197"/>
            <a:ext cx="1419678" cy="851712"/>
          </a:xfrm>
          <a:prstGeom prst="roundRect">
            <a:avLst>
              <a:gd fmla="val 1565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6995124" y="4339847"/>
            <a:ext cx="810078" cy="3945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8300488" y="4278938"/>
            <a:ext cx="495263" cy="5163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8948136" y="4333282"/>
            <a:ext cx="603476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요약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1142997" y="5401081"/>
            <a:ext cx="17602160" cy="6248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사람이 먼저 구조를 알아야 결과를 검증할 수 있다.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네 문장으로 남는 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1142997" y="2609208"/>
            <a:ext cx="7848614" cy="2213513"/>
          </a:xfrm>
          <a:prstGeom prst="roundRect">
            <a:avLst>
              <a:gd fmla="val 7746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1523951" y="3009250"/>
            <a:ext cx="7795377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1523951" y="3451273"/>
            <a:ext cx="7299308" cy="10095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Claude Code는 파일을 직접 읽고 쓴다 — 채팅과의 본질적 차이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9296348" y="2609208"/>
            <a:ext cx="7848614" cy="2213513"/>
          </a:xfrm>
          <a:prstGeom prst="roundRect">
            <a:avLst>
              <a:gd fmla="val 7746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9677301" y="3009250"/>
            <a:ext cx="7795377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9677301" y="3451273"/>
            <a:ext cx="7299308" cy="10095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도구는 조합되어 흐르고, 실패하면 스스로 고쳐 다시 돈다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1142997" y="5127457"/>
            <a:ext cx="7848614" cy="2213513"/>
          </a:xfrm>
          <a:prstGeom prst="roundRect">
            <a:avLst>
              <a:gd fmla="val 7746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1523951" y="5527499"/>
            <a:ext cx="7795377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1523951" y="5969522"/>
            <a:ext cx="7795377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는 항상 읽히는 규칙 — 20~35줄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9296348" y="5127457"/>
            <a:ext cx="7848614" cy="2213513"/>
          </a:xfrm>
          <a:prstGeom prst="roundRect">
            <a:avLst>
              <a:gd fmla="val 7746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9677301" y="5527499"/>
            <a:ext cx="7795377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9677301" y="5969522"/>
            <a:ext cx="7299308" cy="10095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절차·역할·공통 원칙은 </a:t>
            </a:r>
            <a:r>
              <a:rPr b="0" i="0" lang="en-US" sz="25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CLAUDE.md </a:t>
            </a: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가 아니라 다른 층에 둔다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1142997" y="7911246"/>
            <a:ext cx="1600196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1142997" y="8356394"/>
            <a:ext cx="1790696" cy="1244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확인 질문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3276556" y="8356394"/>
            <a:ext cx="769323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와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Grep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은 각각 언제 쓰는가?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3276556" y="8796719"/>
            <a:ext cx="769323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를 짧게 유지해야 하는 이유 두 가지는?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3276556" y="9237044"/>
            <a:ext cx="769323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3. "비율에는 표본 크기를 함께 적는다"는 어느 파일에 써야 하는가?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"/>
          <p:cNvSpPr/>
          <p:nvPr/>
        </p:nvSpPr>
        <p:spPr>
          <a:xfrm>
            <a:off x="1142997" y="3564242"/>
            <a:ext cx="17602160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 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1142997" y="4139612"/>
            <a:ext cx="17602160" cy="1177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3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&amp; Skills — 도구를 늘리는 두 방법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1142997" y="5659760"/>
            <a:ext cx="12753970" cy="1101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3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절은 읽기 자료입니다(우리 모듈은 쓰지 않습니다). Skills 절은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/run-pipeline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을 실행하면서 실물로 만납니다.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둘은 다른 것을 늘린다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1142997" y="2668036"/>
            <a:ext cx="7810505" cy="3093484"/>
          </a:xfrm>
          <a:prstGeom prst="roundRect">
            <a:avLst>
              <a:gd fmla="val 615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"/>
          <p:cNvSpPr/>
          <p:nvPr/>
        </p:nvSpPr>
        <p:spPr>
          <a:xfrm>
            <a:off x="1619190" y="3201425"/>
            <a:ext cx="7543932" cy="43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MCP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1619190" y="3849006"/>
            <a:ext cx="7543932" cy="68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05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닿을 수 있는 범위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1619190" y="4740457"/>
            <a:ext cx="7543932" cy="5257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217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앱 설치 — 없던 기능이 생긴다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9334456" y="2668036"/>
            <a:ext cx="7810505" cy="3093484"/>
          </a:xfrm>
          <a:prstGeom prst="roundRect">
            <a:avLst>
              <a:gd fmla="val 6158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"/>
          <p:cNvSpPr/>
          <p:nvPr/>
        </p:nvSpPr>
        <p:spPr>
          <a:xfrm>
            <a:off x="9810649" y="3201425"/>
            <a:ext cx="7543932" cy="43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Skill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9810649" y="3849006"/>
            <a:ext cx="7543932" cy="68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따르는 절차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9810649" y="4740457"/>
            <a:ext cx="7543932" cy="5257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2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작업 지시서 — 순서가 정해진다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MCP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Model Context Protocol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1142997" y="2287014"/>
            <a:ext cx="14716091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Claude Code는 파일·터미널과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WebSearch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WebFetch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에 닿는다. DB·노션·슬랙처럼 인증이 필요한 시스템에 구조적으로 접근하려면 MCP나 커넥터가 필요하다.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1142997" y="3553780"/>
            <a:ext cx="16001964" cy="1408605"/>
          </a:xfrm>
          <a:prstGeom prst="roundRect">
            <a:avLst>
              <a:gd fmla="val 1352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4592097" y="4079834"/>
            <a:ext cx="2220184" cy="394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 Code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6953291" y="3934734"/>
            <a:ext cx="697288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↓ 요청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6953291" y="4277104"/>
            <a:ext cx="697288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↑ 응답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7917224" y="4071139"/>
            <a:ext cx="6356502" cy="411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MCP 서버 (DB · 노션 · 웹 크롤러 · …)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1142997" y="5381449"/>
            <a:ext cx="8570559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언제 필요한가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1142997" y="5900641"/>
            <a:ext cx="8570559" cy="466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분석 대상이 파일이 아니라 살아 있는 시스템에 있다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1142997" y="6500671"/>
            <a:ext cx="8570559" cy="466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산출물을 다른 시스템에 넣어야 한다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1142997" y="7100700"/>
            <a:ext cx="8570559" cy="466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반복 수집이 필요하다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9353477" y="5381449"/>
            <a:ext cx="8570633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언제 과한가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9353477" y="5900641"/>
            <a:ext cx="8570633" cy="466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데이터를 CSV로 한 번 내려받으면 되는 경우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9353477" y="6500671"/>
            <a:ext cx="8570633" cy="466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연결·인증 설정이 분석보다 오래 걸리는 경우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9353477" y="7100700"/>
            <a:ext cx="8570633" cy="466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키·토큰 관리 책임을 감당할 준비가 안 된 경우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MCP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우리 모듈은 외부 MCP 연결을 쓰지 않는다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1142997" y="3010405"/>
            <a:ext cx="4000491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1142997" y="2553709"/>
            <a:ext cx="4120506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무엇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5600660" y="3010405"/>
            <a:ext cx="11544301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"/>
          <p:cNvSpPr/>
          <p:nvPr/>
        </p:nvSpPr>
        <p:spPr>
          <a:xfrm>
            <a:off x="5600660" y="2553709"/>
            <a:ext cx="11890630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1142997" y="3939422"/>
            <a:ext cx="400049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5"/>
          <p:cNvSpPr/>
          <p:nvPr/>
        </p:nvSpPr>
        <p:spPr>
          <a:xfrm>
            <a:off x="1142997" y="3303190"/>
            <a:ext cx="4120506" cy="4076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웹 크롤링 (Firecrawl 등)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5600660" y="3939422"/>
            <a:ext cx="1154430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5600660" y="3303190"/>
            <a:ext cx="11890630" cy="4076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선행 웹 스크래핑 모듈에서 이미 다뤘다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1142997" y="4851048"/>
            <a:ext cx="400049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5"/>
          <p:cNvSpPr/>
          <p:nvPr/>
        </p:nvSpPr>
        <p:spPr>
          <a:xfrm>
            <a:off x="1142997" y="4214817"/>
            <a:ext cx="4120506" cy="4076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DB 연결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5600660" y="4851048"/>
            <a:ext cx="1154430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5600660" y="4214817"/>
            <a:ext cx="11890630" cy="4076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실습 데이터는 로컬 CSV로 고정. 제한된 시간을 인증 문제로 쓰지 않는다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1142997" y="5762674"/>
            <a:ext cx="400049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5"/>
          <p:cNvSpPr/>
          <p:nvPr/>
        </p:nvSpPr>
        <p:spPr>
          <a:xfrm>
            <a:off x="1142997" y="5126443"/>
            <a:ext cx="4120506" cy="4076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노션·슬랙 연동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5600660" y="5762674"/>
            <a:ext cx="1154430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5"/>
          <p:cNvSpPr/>
          <p:nvPr/>
        </p:nvSpPr>
        <p:spPr>
          <a:xfrm>
            <a:off x="5600660" y="5126443"/>
            <a:ext cx="11890630" cy="4076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계정·토큰 관리 리스크가 교육 환경에 맞지 않는다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1142997" y="8559407"/>
            <a:ext cx="16482023" cy="1041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외부 MCP 연결 없이도 이 과정은 진행할 수 있다.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실무에서 살아 있는 DB·업무 시스템을 반복적으로 읽고 써야 할 때는 MCP가 유력한 선택지가 된다.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SKILLS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Skills — 절차를 명령어로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1142997" y="228701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반복하는 절차를 파일로 적어 두고 명령어로 부르는 것.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1142997" y="3113727"/>
            <a:ext cx="16001964" cy="2952664"/>
          </a:xfrm>
          <a:prstGeom prst="roundRect">
            <a:avLst>
              <a:gd fmla="val 6452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6"/>
          <p:cNvSpPr/>
          <p:nvPr/>
        </p:nvSpPr>
        <p:spPr>
          <a:xfrm>
            <a:off x="1600169" y="3532790"/>
            <a:ext cx="15540250" cy="5667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1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.claude/skills/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1600169" y="4061424"/>
            <a:ext cx="15540250" cy="5667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1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run-pipeline/SKILL.md → </a:t>
            </a:r>
            <a:r>
              <a:rPr b="0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/run-pipeline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1600169" y="4590059"/>
            <a:ext cx="15540250" cy="5667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1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audit-analysis/SKILL.md → </a:t>
            </a:r>
            <a:r>
              <a:rPr b="0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1600169" y="5118694"/>
            <a:ext cx="15540250" cy="5667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1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└── dashboard-design/SKILL.md → (에이전트가 참조)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1142997" y="6485454"/>
            <a:ext cx="17602160" cy="498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폴더 이름이 명령어 이름이 된다.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SKILLS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우리 킷의 스킬 셋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1142997" y="2629927"/>
            <a:ext cx="5143488" cy="2877805"/>
          </a:xfrm>
          <a:prstGeom prst="roundRect">
            <a:avLst>
              <a:gd fmla="val 662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1523951" y="3048989"/>
            <a:ext cx="4819739" cy="4163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/run-pipeline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1523951" y="3617703"/>
            <a:ext cx="4513028" cy="9533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7단계를 순서대로 실행. 이미 만든 단계는 건너뜀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1523951" y="4779993"/>
            <a:ext cx="4819739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Part 2 Ch2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6572201" y="2629927"/>
            <a:ext cx="5143488" cy="2877805"/>
          </a:xfrm>
          <a:prstGeom prst="roundRect">
            <a:avLst>
              <a:gd fmla="val 662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7"/>
          <p:cNvSpPr/>
          <p:nvPr/>
        </p:nvSpPr>
        <p:spPr>
          <a:xfrm>
            <a:off x="6572201" y="2629927"/>
            <a:ext cx="5143488" cy="5651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"/>
          <p:cNvSpPr/>
          <p:nvPr/>
        </p:nvSpPr>
        <p:spPr>
          <a:xfrm>
            <a:off x="6953155" y="3105508"/>
            <a:ext cx="4819739" cy="4163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6953155" y="3674221"/>
            <a:ext cx="4513028" cy="9533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재계산 · 문서 대조 · 표본 타당성 · 규칙 준수 감사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6953155" y="4779993"/>
            <a:ext cx="4819739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Part 3 Ch3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12001405" y="2629927"/>
            <a:ext cx="5143556" cy="2877805"/>
          </a:xfrm>
          <a:prstGeom prst="roundRect">
            <a:avLst>
              <a:gd fmla="val 662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7"/>
          <p:cNvSpPr/>
          <p:nvPr/>
        </p:nvSpPr>
        <p:spPr>
          <a:xfrm>
            <a:off x="12382359" y="3048989"/>
            <a:ext cx="4819813" cy="4163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dashboard-design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12382359" y="3617703"/>
            <a:ext cx="4513098" cy="9533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대시보드 원형·컴포넌트 스펙.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@dashboard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참조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12382359" y="4779993"/>
            <a:ext cx="4819813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Part 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1142997" y="9176215"/>
            <a:ext cx="16482023" cy="4249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이 킷의 특징이다.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의견을 내지 않고 다시 계산한다.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8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SKILLS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8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스킬 실행과 자연어 프롬프트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8"/>
          <p:cNvSpPr/>
          <p:nvPr/>
        </p:nvSpPr>
        <p:spPr>
          <a:xfrm>
            <a:off x="1142997" y="3010405"/>
            <a:ext cx="2095450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8"/>
          <p:cNvSpPr/>
          <p:nvPr/>
        </p:nvSpPr>
        <p:spPr>
          <a:xfrm>
            <a:off x="3657510" y="3010405"/>
            <a:ext cx="6534160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8"/>
          <p:cNvSpPr/>
          <p:nvPr/>
        </p:nvSpPr>
        <p:spPr>
          <a:xfrm>
            <a:off x="3657510" y="2553709"/>
            <a:ext cx="6730185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스킬 실행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10610734" y="3010405"/>
            <a:ext cx="6534228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8"/>
          <p:cNvSpPr/>
          <p:nvPr/>
        </p:nvSpPr>
        <p:spPr>
          <a:xfrm>
            <a:off x="10610734" y="2553709"/>
            <a:ext cx="6730255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자연어 프롬프트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1142997" y="4388985"/>
            <a:ext cx="2095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8"/>
          <p:cNvSpPr/>
          <p:nvPr/>
        </p:nvSpPr>
        <p:spPr>
          <a:xfrm>
            <a:off x="1142997" y="3284140"/>
            <a:ext cx="2171650" cy="8952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입력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3657510" y="4388985"/>
            <a:ext cx="653416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8"/>
          <p:cNvSpPr/>
          <p:nvPr/>
        </p:nvSpPr>
        <p:spPr>
          <a:xfrm>
            <a:off x="3657510" y="3284140"/>
            <a:ext cx="6730185" cy="8952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/run-pipeline 한 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10610734" y="4388985"/>
            <a:ext cx="653422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"/>
          <p:cNvSpPr/>
          <p:nvPr/>
        </p:nvSpPr>
        <p:spPr>
          <a:xfrm>
            <a:off x="10610734" y="3284140"/>
            <a:ext cx="6730255" cy="8952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네 가지를 직접 말한다 — 무슨 데이터로 · 무슨 기준으로 · 어떤 절차로 · 무엇을 기준 삼아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1142997" y="5258087"/>
            <a:ext cx="2095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8"/>
          <p:cNvSpPr/>
          <p:nvPr/>
        </p:nvSpPr>
        <p:spPr>
          <a:xfrm>
            <a:off x="1142997" y="4645330"/>
            <a:ext cx="2171650" cy="4032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일관성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3657510" y="5258087"/>
            <a:ext cx="653416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8"/>
          <p:cNvSpPr/>
          <p:nvPr/>
        </p:nvSpPr>
        <p:spPr>
          <a:xfrm>
            <a:off x="3657510" y="4645330"/>
            <a:ext cx="6730185" cy="4032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같은 절차·출력 형식을 반복 적용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10610734" y="5258087"/>
            <a:ext cx="653422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8"/>
          <p:cNvSpPr/>
          <p:nvPr/>
        </p:nvSpPr>
        <p:spPr>
          <a:xfrm>
            <a:off x="10610734" y="4645330"/>
            <a:ext cx="6730255" cy="4032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요청할 때마다 절차를 다시 설명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1142997" y="6127189"/>
            <a:ext cx="2095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8"/>
          <p:cNvSpPr/>
          <p:nvPr/>
        </p:nvSpPr>
        <p:spPr>
          <a:xfrm>
            <a:off x="1142997" y="5514432"/>
            <a:ext cx="2171650" cy="4032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배우는 것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3657510" y="6127189"/>
            <a:ext cx="653416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8"/>
          <p:cNvSpPr/>
          <p:nvPr/>
        </p:nvSpPr>
        <p:spPr>
          <a:xfrm>
            <a:off x="3657510" y="5514432"/>
            <a:ext cx="6730185" cy="4032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절차를 쓰는 법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10610734" y="6127189"/>
            <a:ext cx="653422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8"/>
          <p:cNvSpPr/>
          <p:nvPr/>
        </p:nvSpPr>
        <p:spPr>
          <a:xfrm>
            <a:off x="10610734" y="5514432"/>
            <a:ext cx="6730255" cy="4032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지시하는 법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1142997" y="8599381"/>
            <a:ext cx="17602160" cy="498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처음에는 자연어로, 익숙해지면 스킬로.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1142997" y="9193568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스킬은 절차가 확정된 뒤에 만든다. 확정 전에 만들면 계속 고친다.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9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SKILLS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스킬은 세 갈래로 온다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1142997" y="2629927"/>
            <a:ext cx="5143488" cy="2896214"/>
          </a:xfrm>
          <a:prstGeom prst="roundRect">
            <a:avLst>
              <a:gd fmla="val 65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9"/>
          <p:cNvSpPr/>
          <p:nvPr/>
        </p:nvSpPr>
        <p:spPr>
          <a:xfrm>
            <a:off x="1523951" y="3048989"/>
            <a:ext cx="4819739" cy="4293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킷에 들어 있는 것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1523951" y="3630746"/>
            <a:ext cx="4513028" cy="6728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.claude/skills/&lt;이름&gt;/SKILL.md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1523951" y="4455965"/>
            <a:ext cx="4819739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폴더를 넘기면 함께 넘어간다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6572201" y="2629927"/>
            <a:ext cx="5143488" cy="2896214"/>
          </a:xfrm>
          <a:prstGeom prst="roundRect">
            <a:avLst>
              <a:gd fmla="val 65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9"/>
          <p:cNvSpPr/>
          <p:nvPr/>
        </p:nvSpPr>
        <p:spPr>
          <a:xfrm>
            <a:off x="6953155" y="3048989"/>
            <a:ext cx="4819739" cy="4293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남이 만든 것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6953155" y="3630746"/>
            <a:ext cx="4819739" cy="438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60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마켓플레이스 · 커뮤니티 색인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6953155" y="4221265"/>
            <a:ext cx="4513028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플러그인으로 설치, 또는 파일을 직접 둠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12001405" y="2629927"/>
            <a:ext cx="5143556" cy="2896214"/>
          </a:xfrm>
          <a:prstGeom prst="roundRect">
            <a:avLst>
              <a:gd fmla="val 65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9"/>
          <p:cNvSpPr/>
          <p:nvPr/>
        </p:nvSpPr>
        <p:spPr>
          <a:xfrm>
            <a:off x="12382359" y="3048989"/>
            <a:ext cx="4819813" cy="4293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내가 만든 것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12382359" y="3630746"/>
            <a:ext cx="4513098" cy="6728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~/.claude/skills/&lt;이름&gt;/SKILL.md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9"/>
          <p:cNvSpPr/>
          <p:nvPr/>
        </p:nvSpPr>
        <p:spPr>
          <a:xfrm>
            <a:off x="12382359" y="4455965"/>
            <a:ext cx="4819813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Claude에게 절차를 굳히게 한다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1142997" y="9193606"/>
            <a:ext cx="16482023" cy="4076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첫 번째는 킷의 세 스킬이다.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두 번째와 세 번째가 이 절의 주제다.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0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SKILLS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커뮤니티 설치 — </a:t>
            </a:r>
            <a:r>
              <a:rPr b="1" i="0" lang="en-US" sz="4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/plugin </a:t>
            </a: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메뉴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1142997" y="2287014"/>
            <a:ext cx="15716214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마켓플레이스는 플러그인 카탈로그다. 공식 Anthropic 마켓플레이스는 첫 대화형 실행 때 자동 등록된다.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1142997" y="3053880"/>
            <a:ext cx="8570559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메뉴에서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1142997" y="3683460"/>
            <a:ext cx="351658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1608932" y="3592161"/>
            <a:ext cx="3320188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터미널에서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실행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1142997" y="4316843"/>
            <a:ext cx="351658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1608932" y="4225544"/>
            <a:ext cx="2020822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Courier New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/plugin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입력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0"/>
          <p:cNvSpPr/>
          <p:nvPr/>
        </p:nvSpPr>
        <p:spPr>
          <a:xfrm>
            <a:off x="1142997" y="4950226"/>
            <a:ext cx="351658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1608932" y="4858928"/>
            <a:ext cx="3353589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Discover 탭 → 목록 확인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0"/>
          <p:cNvSpPr/>
          <p:nvPr/>
        </p:nvSpPr>
        <p:spPr>
          <a:xfrm>
            <a:off x="1142997" y="5583610"/>
            <a:ext cx="351658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0"/>
          <p:cNvSpPr/>
          <p:nvPr/>
        </p:nvSpPr>
        <p:spPr>
          <a:xfrm>
            <a:off x="1608932" y="5492311"/>
            <a:ext cx="4121074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권한·구성 요소를 확인한 뒤 설치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0"/>
          <p:cNvSpPr/>
          <p:nvPr/>
        </p:nvSpPr>
        <p:spPr>
          <a:xfrm>
            <a:off x="9353477" y="3053880"/>
            <a:ext cx="8570633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터미널에서 — 같은 일이다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9353477" y="3592161"/>
            <a:ext cx="7791484" cy="2900426"/>
          </a:xfrm>
          <a:prstGeom prst="roundRect">
            <a:avLst>
              <a:gd fmla="val 5254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0"/>
          <p:cNvSpPr/>
          <p:nvPr/>
        </p:nvSpPr>
        <p:spPr>
          <a:xfrm>
            <a:off x="9677301" y="3896897"/>
            <a:ext cx="7358151" cy="9544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46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 plugin marketplace add anthropics/claude-plugins-official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0"/>
          <p:cNvSpPr/>
          <p:nvPr/>
        </p:nvSpPr>
        <p:spPr>
          <a:xfrm>
            <a:off x="9677301" y="4813279"/>
            <a:ext cx="7358151" cy="9544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46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 plugin install duckdb-skills@claude-plugins-official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0"/>
          <p:cNvSpPr/>
          <p:nvPr/>
        </p:nvSpPr>
        <p:spPr>
          <a:xfrm>
            <a:off x="9677301" y="5729660"/>
            <a:ext cx="7358151" cy="4962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46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 plugin list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1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SKILLS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플러그인은 스킬보다 큰 배포 단위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1"/>
          <p:cNvSpPr/>
          <p:nvPr/>
        </p:nvSpPr>
        <p:spPr>
          <a:xfrm>
            <a:off x="1142997" y="228701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하나에 여러 구성 요소를 담을 수 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1142997" y="3053880"/>
            <a:ext cx="1964073" cy="788536"/>
          </a:xfrm>
          <a:prstGeom prst="roundRect">
            <a:avLst>
              <a:gd fmla="val 5000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1"/>
          <p:cNvSpPr/>
          <p:nvPr/>
        </p:nvSpPr>
        <p:spPr>
          <a:xfrm>
            <a:off x="1562097" y="3263430"/>
            <a:ext cx="1202073" cy="4075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highlight>
                  <a:srgbClr val="F4F6F8"/>
                </a:highlight>
                <a:latin typeface="Arial"/>
                <a:ea typeface="Arial"/>
                <a:cs typeface="Arial"/>
                <a:sym typeface="Arial"/>
              </a:rPr>
              <a:t>스킬 </a:t>
            </a:r>
            <a:r>
              <a:rPr b="1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절차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3297547" y="3053880"/>
            <a:ext cx="2490873" cy="788536"/>
          </a:xfrm>
          <a:prstGeom prst="roundRect">
            <a:avLst>
              <a:gd fmla="val 5000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1"/>
          <p:cNvSpPr/>
          <p:nvPr/>
        </p:nvSpPr>
        <p:spPr>
          <a:xfrm>
            <a:off x="3716647" y="3263430"/>
            <a:ext cx="1728873" cy="4075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highlight>
                  <a:srgbClr val="F4F6F8"/>
                </a:highlight>
                <a:latin typeface="Arial"/>
                <a:ea typeface="Arial"/>
                <a:cs typeface="Arial"/>
                <a:sym typeface="Arial"/>
              </a:rPr>
              <a:t>에이전트 </a:t>
            </a:r>
            <a:r>
              <a:rPr b="1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역할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5978897" y="3053880"/>
            <a:ext cx="2490873" cy="788536"/>
          </a:xfrm>
          <a:prstGeom prst="roundRect">
            <a:avLst>
              <a:gd fmla="val 5000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1"/>
          <p:cNvSpPr/>
          <p:nvPr/>
        </p:nvSpPr>
        <p:spPr>
          <a:xfrm>
            <a:off x="6397997" y="3263430"/>
            <a:ext cx="1728873" cy="4075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슬래시 명령어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8660247" y="3053880"/>
            <a:ext cx="2121807" cy="788536"/>
          </a:xfrm>
          <a:prstGeom prst="roundRect">
            <a:avLst>
              <a:gd fmla="val 50000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1"/>
          <p:cNvSpPr/>
          <p:nvPr/>
        </p:nvSpPr>
        <p:spPr>
          <a:xfrm>
            <a:off x="9079347" y="3263430"/>
            <a:ext cx="1359807" cy="4075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MCP 서버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10972530" y="3053880"/>
            <a:ext cx="1101560" cy="788536"/>
          </a:xfrm>
          <a:prstGeom prst="roundRect">
            <a:avLst>
              <a:gd fmla="val 5000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1"/>
          <p:cNvSpPr/>
          <p:nvPr/>
        </p:nvSpPr>
        <p:spPr>
          <a:xfrm>
            <a:off x="11391630" y="3263430"/>
            <a:ext cx="339560" cy="4075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12264568" y="3053880"/>
            <a:ext cx="1979832" cy="788536"/>
          </a:xfrm>
          <a:prstGeom prst="roundRect">
            <a:avLst>
              <a:gd fmla="val 5000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1"/>
          <p:cNvSpPr/>
          <p:nvPr/>
        </p:nvSpPr>
        <p:spPr>
          <a:xfrm>
            <a:off x="12683668" y="3263430"/>
            <a:ext cx="1217832" cy="4075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LSP 서버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1"/>
          <p:cNvSpPr/>
          <p:nvPr/>
        </p:nvSpPr>
        <p:spPr>
          <a:xfrm>
            <a:off x="1142997" y="4299589"/>
            <a:ext cx="17602160" cy="562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748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그래서 "MCP냐 Skill이냐"가 아니다 — 플러그인이 둘을 함께 배포한다.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1"/>
          <p:cNvSpPr/>
          <p:nvPr/>
        </p:nvSpPr>
        <p:spPr>
          <a:xfrm>
            <a:off x="1142997" y="5033849"/>
            <a:ext cx="17602160" cy="510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데이터 관련 플러그인 대부분이 그렇다. MCP로 DB에 닿고, 스킬로 그 쓰는 법을 정한다.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1"/>
          <p:cNvSpPr/>
          <p:nvPr/>
        </p:nvSpPr>
        <p:spPr>
          <a:xfrm>
            <a:off x="1142997" y="8481250"/>
            <a:ext cx="16001964" cy="1081860"/>
          </a:xfrm>
          <a:prstGeom prst="roundRect">
            <a:avLst>
              <a:gd fmla="val 14087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1"/>
          <p:cNvSpPr/>
          <p:nvPr/>
        </p:nvSpPr>
        <p:spPr>
          <a:xfrm>
            <a:off x="1504947" y="8786050"/>
            <a:ext cx="15758123" cy="510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누가 만든 것인지 확인하고 넣으세요. </a:t>
            </a:r>
            <a:r>
              <a:rPr b="0" i="0" lang="en-US" sz="2400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훅과 MCP 서버가 함께 딸려 오고, 훅은 여러분의 명령을 가로챌 수 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2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SKILLS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스킬은 공짜가 아니다 — 토큰으로 값을 낸다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2"/>
          <p:cNvSpPr/>
          <p:nvPr/>
        </p:nvSpPr>
        <p:spPr>
          <a:xfrm>
            <a:off x="1142997" y="2287014"/>
            <a:ext cx="17602160" cy="390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깔기 전에 값을 볼 수 있다 — </a:t>
            </a:r>
            <a:r>
              <a:rPr b="0" i="0" lang="en-US" sz="2250" u="none" cap="none" strike="noStrike">
                <a:solidFill>
                  <a:srgbClr val="5F656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claude plugin details &lt;플러그인&gt;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/>
          <p:nvPr/>
        </p:nvSpPr>
        <p:spPr>
          <a:xfrm>
            <a:off x="1142997" y="3020119"/>
            <a:ext cx="7829526" cy="3214196"/>
          </a:xfrm>
          <a:prstGeom prst="roundRect">
            <a:avLst>
              <a:gd fmla="val 592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2"/>
          <p:cNvSpPr/>
          <p:nvPr/>
        </p:nvSpPr>
        <p:spPr>
          <a:xfrm>
            <a:off x="1523951" y="3439182"/>
            <a:ext cx="7774380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Courier New"/>
                <a:ea typeface="Courier New"/>
                <a:cs typeface="Courier New"/>
                <a:sym typeface="Courier New"/>
              </a:rPr>
              <a:t>always-on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1523951" y="3940984"/>
            <a:ext cx="7774380" cy="7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~530 tok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1523951" y="4860151"/>
            <a:ext cx="7774380" cy="4957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스킬 이름 ·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등 호출 판단용 목록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1523951" y="5489186"/>
            <a:ext cx="777438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모든 세션에 더해진다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9315368" y="3020119"/>
            <a:ext cx="7829594" cy="3214196"/>
          </a:xfrm>
          <a:prstGeom prst="roundRect">
            <a:avLst>
              <a:gd fmla="val 5927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9696322" y="3439182"/>
            <a:ext cx="7774455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on-invoke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2"/>
          <p:cNvSpPr/>
          <p:nvPr/>
        </p:nvSpPr>
        <p:spPr>
          <a:xfrm>
            <a:off x="9696322" y="3940984"/>
            <a:ext cx="7774455" cy="7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~12.7k tok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2"/>
          <p:cNvSpPr/>
          <p:nvPr/>
        </p:nvSpPr>
        <p:spPr>
          <a:xfrm>
            <a:off x="9696322" y="4860151"/>
            <a:ext cx="7774455" cy="4957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Courier New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SKILL.md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본문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2"/>
          <p:cNvSpPr/>
          <p:nvPr/>
        </p:nvSpPr>
        <p:spPr>
          <a:xfrm>
            <a:off x="9696322" y="5489186"/>
            <a:ext cx="7774455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그 스킬이 불릴 때만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1142997" y="9090759"/>
            <a:ext cx="16482023" cy="5104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설치 개수만으로 비용을 단정하지 말고 </a:t>
            </a:r>
            <a:r>
              <a:rPr b="0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 plugin details</a:t>
            </a: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와 </a:t>
            </a:r>
            <a:r>
              <a:rPr b="0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/context</a:t>
            </a: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 실제 추정치를 확인한다.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3"/>
          <p:cNvSpPr/>
          <p:nvPr/>
        </p:nvSpPr>
        <p:spPr>
          <a:xfrm>
            <a:off x="1142997" y="2651325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 · SKILLS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1142997" y="3166849"/>
            <a:ext cx="14716091" cy="21334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5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ourier New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 </a:t>
            </a:r>
            <a:r>
              <a:rPr b="1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스킬에서 가장 중요한 필드다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1142997" y="5681294"/>
            <a:ext cx="14668442" cy="5695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3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너무 모호하게 쓰면 엉뚱한 때 불리거나, 필요한 때 호출되지 않는다.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3"/>
          <p:cNvSpPr/>
          <p:nvPr/>
        </p:nvSpPr>
        <p:spPr>
          <a:xfrm>
            <a:off x="1142997" y="6422279"/>
            <a:ext cx="14668442" cy="5695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3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이것이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/이름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없이 자연어로도 스킬이 걸리는 이유다.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3"/>
          <p:cNvSpPr/>
          <p:nvPr/>
        </p:nvSpPr>
        <p:spPr>
          <a:xfrm>
            <a:off x="1142997" y="7163264"/>
            <a:ext cx="14668442" cy="510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에이전트의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과 정확히 같은 원리 — Ch 3에서 다시 나온다.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4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데이터 분석 스킬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찾는 길이 둘 있다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4"/>
          <p:cNvSpPr/>
          <p:nvPr/>
        </p:nvSpPr>
        <p:spPr>
          <a:xfrm>
            <a:off x="1142997" y="230440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성질이 다르니 섞지 마세요.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1142997" y="3169226"/>
            <a:ext cx="7810505" cy="3231994"/>
          </a:xfrm>
          <a:prstGeom prst="roundRect">
            <a:avLst>
              <a:gd fmla="val 589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4"/>
          <p:cNvSpPr/>
          <p:nvPr/>
        </p:nvSpPr>
        <p:spPr>
          <a:xfrm>
            <a:off x="1562060" y="3626398"/>
            <a:ext cx="7669618" cy="43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skillsmp.com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4"/>
          <p:cNvSpPr/>
          <p:nvPr/>
        </p:nvSpPr>
        <p:spPr>
          <a:xfrm>
            <a:off x="1562060" y="4235870"/>
            <a:ext cx="7669618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커뮤니티 스킬 색인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4"/>
          <p:cNvSpPr/>
          <p:nvPr/>
        </p:nvSpPr>
        <p:spPr>
          <a:xfrm>
            <a:off x="1562060" y="4898667"/>
            <a:ext cx="7669618" cy="4957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GitHub 저장소들에서 스킬을 모아 보여준다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4"/>
          <p:cNvSpPr/>
          <p:nvPr/>
        </p:nvSpPr>
        <p:spPr>
          <a:xfrm>
            <a:off x="1562060" y="5587550"/>
            <a:ext cx="7669618" cy="394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관리되지 않음 — 파일을 직접 둔다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9334456" y="3169226"/>
            <a:ext cx="7810505" cy="3231994"/>
          </a:xfrm>
          <a:prstGeom prst="roundRect">
            <a:avLst>
              <a:gd fmla="val 5894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4"/>
          <p:cNvSpPr/>
          <p:nvPr/>
        </p:nvSpPr>
        <p:spPr>
          <a:xfrm>
            <a:off x="9753519" y="3626398"/>
            <a:ext cx="7669618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공식 마켓플레이스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4"/>
          <p:cNvSpPr/>
          <p:nvPr/>
        </p:nvSpPr>
        <p:spPr>
          <a:xfrm>
            <a:off x="9753519" y="4253260"/>
            <a:ext cx="7669618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Anthropic이 등록을 관리하는 플러그인 목록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4"/>
          <p:cNvSpPr/>
          <p:nvPr/>
        </p:nvSpPr>
        <p:spPr>
          <a:xfrm>
            <a:off x="9753519" y="4916057"/>
            <a:ext cx="7669618" cy="4957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첫 대화형 실행 때 자동 등록된다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4"/>
          <p:cNvSpPr/>
          <p:nvPr/>
        </p:nvSpPr>
        <p:spPr>
          <a:xfrm>
            <a:off x="9753519" y="5583202"/>
            <a:ext cx="7669618" cy="3989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325"/>
              <a:buFont typeface="Courier New"/>
              <a:buNone/>
            </a:pPr>
            <a:r>
              <a:rPr b="1" i="0" lang="en-US" sz="232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/plugin</a:t>
            </a: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으로 설치·업데이트·삭제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5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skillsmp.com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5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⭐ 숫자를 오해하지 마세요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5"/>
          <p:cNvSpPr/>
          <p:nvPr/>
        </p:nvSpPr>
        <p:spPr>
          <a:xfrm>
            <a:off x="1142997" y="2287014"/>
            <a:ext cx="17602160" cy="390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2026-09-03에 </a:t>
            </a:r>
            <a:r>
              <a:rPr b="0" i="0" lang="en-US" sz="2250" u="none" cap="none" strike="noStrike">
                <a:solidFill>
                  <a:srgbClr val="5F656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 visualization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으로 검색해 확인한 예시.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5"/>
          <p:cNvSpPr/>
          <p:nvPr/>
        </p:nvSpPr>
        <p:spPr>
          <a:xfrm>
            <a:off x="1142997" y="3498553"/>
            <a:ext cx="4048110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5"/>
          <p:cNvSpPr/>
          <p:nvPr/>
        </p:nvSpPr>
        <p:spPr>
          <a:xfrm>
            <a:off x="1142997" y="3020119"/>
            <a:ext cx="4169553" cy="364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스킬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5"/>
          <p:cNvSpPr/>
          <p:nvPr/>
        </p:nvSpPr>
        <p:spPr>
          <a:xfrm>
            <a:off x="5572062" y="3498553"/>
            <a:ext cx="4048178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5"/>
          <p:cNvSpPr/>
          <p:nvPr/>
        </p:nvSpPr>
        <p:spPr>
          <a:xfrm>
            <a:off x="5572062" y="3020119"/>
            <a:ext cx="4169624" cy="364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출처 저장소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5"/>
          <p:cNvSpPr/>
          <p:nvPr/>
        </p:nvSpPr>
        <p:spPr>
          <a:xfrm>
            <a:off x="10001193" y="3498553"/>
            <a:ext cx="4857841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5"/>
          <p:cNvSpPr/>
          <p:nvPr/>
        </p:nvSpPr>
        <p:spPr>
          <a:xfrm>
            <a:off x="10001193" y="3020119"/>
            <a:ext cx="5003576" cy="364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무엇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5"/>
          <p:cNvSpPr/>
          <p:nvPr/>
        </p:nvSpPr>
        <p:spPr>
          <a:xfrm>
            <a:off x="15239988" y="3498553"/>
            <a:ext cx="1904973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5"/>
          <p:cNvSpPr/>
          <p:nvPr/>
        </p:nvSpPr>
        <p:spPr>
          <a:xfrm>
            <a:off x="15239988" y="3020119"/>
            <a:ext cx="1981173" cy="364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⭐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5"/>
          <p:cNvSpPr/>
          <p:nvPr/>
        </p:nvSpPr>
        <p:spPr>
          <a:xfrm>
            <a:off x="1142997" y="4291437"/>
            <a:ext cx="404811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5"/>
          <p:cNvSpPr/>
          <p:nvPr/>
        </p:nvSpPr>
        <p:spPr>
          <a:xfrm>
            <a:off x="1142997" y="3734188"/>
            <a:ext cx="4169553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data-analyst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5"/>
          <p:cNvSpPr/>
          <p:nvPr/>
        </p:nvSpPr>
        <p:spPr>
          <a:xfrm>
            <a:off x="5572062" y="4291437"/>
            <a:ext cx="404817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5"/>
          <p:cNvSpPr/>
          <p:nvPr/>
        </p:nvSpPr>
        <p:spPr>
          <a:xfrm>
            <a:off x="5572062" y="3734188"/>
            <a:ext cx="4169624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Shubhamsaboo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5"/>
          <p:cNvSpPr/>
          <p:nvPr/>
        </p:nvSpPr>
        <p:spPr>
          <a:xfrm>
            <a:off x="10001193" y="4291437"/>
            <a:ext cx="485784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5"/>
          <p:cNvSpPr/>
          <p:nvPr/>
        </p:nvSpPr>
        <p:spPr>
          <a:xfrm>
            <a:off x="10001193" y="3734188"/>
            <a:ext cx="5003576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SQL · pandas · 통계 분석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5"/>
          <p:cNvSpPr/>
          <p:nvPr/>
        </p:nvSpPr>
        <p:spPr>
          <a:xfrm>
            <a:off x="15239988" y="4291437"/>
            <a:ext cx="190497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5"/>
          <p:cNvSpPr/>
          <p:nvPr/>
        </p:nvSpPr>
        <p:spPr>
          <a:xfrm>
            <a:off x="15239988" y="3734188"/>
            <a:ext cx="1981173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107.3k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5"/>
          <p:cNvSpPr/>
          <p:nvPr/>
        </p:nvSpPr>
        <p:spPr>
          <a:xfrm>
            <a:off x="1142997" y="5066931"/>
            <a:ext cx="404811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5"/>
          <p:cNvSpPr/>
          <p:nvPr/>
        </p:nvSpPr>
        <p:spPr>
          <a:xfrm>
            <a:off x="1142997" y="4509682"/>
            <a:ext cx="4169553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data-visualization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5"/>
          <p:cNvSpPr/>
          <p:nvPr/>
        </p:nvSpPr>
        <p:spPr>
          <a:xfrm>
            <a:off x="5572062" y="5066931"/>
            <a:ext cx="404817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5"/>
          <p:cNvSpPr/>
          <p:nvPr/>
        </p:nvSpPr>
        <p:spPr>
          <a:xfrm>
            <a:off x="5572062" y="4509682"/>
            <a:ext cx="4169624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langchain-ai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5"/>
          <p:cNvSpPr/>
          <p:nvPr/>
        </p:nvSpPr>
        <p:spPr>
          <a:xfrm>
            <a:off x="10001193" y="5066931"/>
            <a:ext cx="485784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5"/>
          <p:cNvSpPr/>
          <p:nvPr/>
        </p:nvSpPr>
        <p:spPr>
          <a:xfrm>
            <a:off x="10001193" y="4509682"/>
            <a:ext cx="5003576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차트 · 멀티패널 분석 요약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5"/>
          <p:cNvSpPr/>
          <p:nvPr/>
        </p:nvSpPr>
        <p:spPr>
          <a:xfrm>
            <a:off x="15239988" y="5066931"/>
            <a:ext cx="190497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5"/>
          <p:cNvSpPr/>
          <p:nvPr/>
        </p:nvSpPr>
        <p:spPr>
          <a:xfrm>
            <a:off x="15239988" y="4509682"/>
            <a:ext cx="1981173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21.7k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5"/>
          <p:cNvSpPr/>
          <p:nvPr/>
        </p:nvSpPr>
        <p:spPr>
          <a:xfrm>
            <a:off x="1142997" y="5842424"/>
            <a:ext cx="404811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5"/>
          <p:cNvSpPr/>
          <p:nvPr/>
        </p:nvSpPr>
        <p:spPr>
          <a:xfrm>
            <a:off x="1142997" y="5285176"/>
            <a:ext cx="4169553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data-visualization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5"/>
          <p:cNvSpPr/>
          <p:nvPr/>
        </p:nvSpPr>
        <p:spPr>
          <a:xfrm>
            <a:off x="5572062" y="5842424"/>
            <a:ext cx="404817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5"/>
          <p:cNvSpPr/>
          <p:nvPr/>
        </p:nvSpPr>
        <p:spPr>
          <a:xfrm>
            <a:off x="5572062" y="5285176"/>
            <a:ext cx="4169624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anthropics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5"/>
          <p:cNvSpPr/>
          <p:nvPr/>
        </p:nvSpPr>
        <p:spPr>
          <a:xfrm>
            <a:off x="10001193" y="5842424"/>
            <a:ext cx="485784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5"/>
          <p:cNvSpPr/>
          <p:nvPr/>
        </p:nvSpPr>
        <p:spPr>
          <a:xfrm>
            <a:off x="10001193" y="5285176"/>
            <a:ext cx="5003576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matplotlib · seaborn · plotly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5"/>
          <p:cNvSpPr/>
          <p:nvPr/>
        </p:nvSpPr>
        <p:spPr>
          <a:xfrm>
            <a:off x="15239988" y="5842424"/>
            <a:ext cx="190497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5"/>
          <p:cNvSpPr/>
          <p:nvPr/>
        </p:nvSpPr>
        <p:spPr>
          <a:xfrm>
            <a:off x="15239988" y="5285176"/>
            <a:ext cx="1981173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11.5k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5"/>
          <p:cNvSpPr/>
          <p:nvPr/>
        </p:nvSpPr>
        <p:spPr>
          <a:xfrm>
            <a:off x="1142997" y="9077408"/>
            <a:ext cx="17602160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이건 스킬이 담긴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GitHub 저장소의 별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이다. 스킬 하나에 대한 평가가 아니다.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6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skillsmp.com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6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색인에서 찾은 것은 Discover에 없다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6"/>
          <p:cNvSpPr/>
          <p:nvPr/>
        </p:nvSpPr>
        <p:spPr>
          <a:xfrm>
            <a:off x="1142997" y="228701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공식 마켓플레이스에 등록된 이름이 아니다. 쓰려면 둘 중 하나다.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6"/>
          <p:cNvSpPr/>
          <p:nvPr/>
        </p:nvSpPr>
        <p:spPr>
          <a:xfrm>
            <a:off x="1142997" y="3113727"/>
            <a:ext cx="7829526" cy="3556430"/>
          </a:xfrm>
          <a:prstGeom prst="roundRect">
            <a:avLst>
              <a:gd fmla="val 5356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6"/>
          <p:cNvSpPr/>
          <p:nvPr/>
        </p:nvSpPr>
        <p:spPr>
          <a:xfrm>
            <a:off x="1523951" y="3532790"/>
            <a:ext cx="7774380" cy="4752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308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출처 저장소를 마켓플레이스로 붙인다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6"/>
          <p:cNvSpPr/>
          <p:nvPr/>
        </p:nvSpPr>
        <p:spPr>
          <a:xfrm>
            <a:off x="1523951" y="4160399"/>
            <a:ext cx="7774380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/plugin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→ Add Marketplace → 저장소 URL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6"/>
          <p:cNvSpPr/>
          <p:nvPr/>
        </p:nvSpPr>
        <p:spPr>
          <a:xfrm>
            <a:off x="1523951" y="4793783"/>
            <a:ext cx="7279647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저장소에 </a:t>
            </a:r>
            <a:r>
              <a:rPr b="0" i="0" lang="en-US" sz="22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.claude-plugin/marketplace.json </a:t>
            </a: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있어야 함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6"/>
          <p:cNvSpPr/>
          <p:nvPr/>
        </p:nvSpPr>
        <p:spPr>
          <a:xfrm>
            <a:off x="9315368" y="3113727"/>
            <a:ext cx="7829594" cy="3556430"/>
          </a:xfrm>
          <a:prstGeom prst="roundRect">
            <a:avLst>
              <a:gd fmla="val 5356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6"/>
          <p:cNvSpPr/>
          <p:nvPr/>
        </p:nvSpPr>
        <p:spPr>
          <a:xfrm>
            <a:off x="9696322" y="3532790"/>
            <a:ext cx="7774455" cy="4752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308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SKILL.md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를 직접 둔다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6"/>
          <p:cNvSpPr/>
          <p:nvPr/>
        </p:nvSpPr>
        <p:spPr>
          <a:xfrm>
            <a:off x="9696322" y="4160399"/>
            <a:ext cx="7279717" cy="1495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8981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~/.claude/skills/ data-analyst/ SKILL.md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6"/>
          <p:cNvSpPr/>
          <p:nvPr/>
        </p:nvSpPr>
        <p:spPr>
          <a:xfrm>
            <a:off x="9696322" y="5808188"/>
            <a:ext cx="7774455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언제나 가능. 대신 관리가 안 된다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6"/>
          <p:cNvSpPr/>
          <p:nvPr/>
        </p:nvSpPr>
        <p:spPr>
          <a:xfrm>
            <a:off x="1142997" y="8008726"/>
            <a:ext cx="16001964" cy="1554384"/>
          </a:xfrm>
          <a:prstGeom prst="roundRect">
            <a:avLst>
              <a:gd fmla="val 9805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6"/>
          <p:cNvSpPr/>
          <p:nvPr/>
        </p:nvSpPr>
        <p:spPr>
          <a:xfrm>
            <a:off x="1504947" y="8313526"/>
            <a:ext cx="15758123" cy="9828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127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남의 </a:t>
            </a:r>
            <a:r>
              <a:rPr b="1" i="0" lang="en-US" sz="232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SKILL.md</a:t>
            </a: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는 넣기 전에 읽으세요.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allowed-tools</a:t>
            </a:r>
            <a:r>
              <a:rPr b="0" i="0" lang="en-US" sz="2325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에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Bash </a:t>
            </a:r>
            <a:r>
              <a:rPr b="0" i="0" lang="en-US" sz="2325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가 있으면 호출한 턴에서 별도 확인 없이 쓸 수 있다. 업데이트 알림도 오지 않는다 — 받아 둔 시점에 멈춘다.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7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공식 마켓플레이스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7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선행 지식과 겹치는 데이터 플러그인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7"/>
          <p:cNvSpPr/>
          <p:nvPr/>
        </p:nvSpPr>
        <p:spPr>
          <a:xfrm>
            <a:off x="1142997" y="2266295"/>
            <a:ext cx="1760216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FFFFFF"/>
                </a:solidFill>
              </a:rPr>
              <a:t>플러그인은 계속 업데이트된다. (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2026-09-03 기준 예시</a:t>
            </a:r>
            <a:r>
              <a:rPr lang="en-US" sz="2100">
                <a:solidFill>
                  <a:srgbClr val="FFFFFF"/>
                </a:solidFill>
              </a:rPr>
              <a:t>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7"/>
          <p:cNvSpPr/>
          <p:nvPr/>
        </p:nvSpPr>
        <p:spPr>
          <a:xfrm>
            <a:off x="1142997" y="3351144"/>
            <a:ext cx="4000491" cy="1739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7"/>
          <p:cNvSpPr/>
          <p:nvPr/>
        </p:nvSpPr>
        <p:spPr>
          <a:xfrm>
            <a:off x="1142997" y="2935206"/>
            <a:ext cx="4120506" cy="3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플러그인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7"/>
          <p:cNvSpPr/>
          <p:nvPr/>
        </p:nvSpPr>
        <p:spPr>
          <a:xfrm>
            <a:off x="5448224" y="3351144"/>
            <a:ext cx="2857494" cy="1739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7"/>
          <p:cNvSpPr/>
          <p:nvPr/>
        </p:nvSpPr>
        <p:spPr>
          <a:xfrm>
            <a:off x="5448224" y="2935206"/>
            <a:ext cx="2943218" cy="3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만든 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7"/>
          <p:cNvSpPr/>
          <p:nvPr/>
        </p:nvSpPr>
        <p:spPr>
          <a:xfrm>
            <a:off x="8610454" y="3351144"/>
            <a:ext cx="6324799" cy="1739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7"/>
          <p:cNvSpPr/>
          <p:nvPr/>
        </p:nvSpPr>
        <p:spPr>
          <a:xfrm>
            <a:off x="8610454" y="2935206"/>
            <a:ext cx="6514543" cy="3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무엇을 하는가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7"/>
          <p:cNvSpPr/>
          <p:nvPr/>
        </p:nvSpPr>
        <p:spPr>
          <a:xfrm>
            <a:off x="15239988" y="3351144"/>
            <a:ext cx="1904973" cy="1739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7"/>
          <p:cNvSpPr/>
          <p:nvPr/>
        </p:nvSpPr>
        <p:spPr>
          <a:xfrm>
            <a:off x="15239988" y="2935206"/>
            <a:ext cx="1981173" cy="3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인증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7"/>
          <p:cNvSpPr/>
          <p:nvPr/>
        </p:nvSpPr>
        <p:spPr>
          <a:xfrm>
            <a:off x="1142997" y="4018357"/>
            <a:ext cx="4000491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7"/>
          <p:cNvSpPr/>
          <p:nvPr/>
        </p:nvSpPr>
        <p:spPr>
          <a:xfrm>
            <a:off x="1142997" y="3530459"/>
            <a:ext cx="4120506" cy="3640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Courier New"/>
              <a:buNone/>
            </a:pPr>
            <a:r>
              <a:rPr i="0" lang="en-US" sz="21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duckdb-skills</a:t>
            </a:r>
            <a:endParaRPr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7"/>
          <p:cNvSpPr/>
          <p:nvPr/>
        </p:nvSpPr>
        <p:spPr>
          <a:xfrm>
            <a:off x="5448224" y="4018357"/>
            <a:ext cx="2857494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7"/>
          <p:cNvSpPr/>
          <p:nvPr/>
        </p:nvSpPr>
        <p:spPr>
          <a:xfrm>
            <a:off x="5448224" y="3530459"/>
            <a:ext cx="2943218" cy="3640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DuckDB Foundation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7"/>
          <p:cNvSpPr/>
          <p:nvPr/>
        </p:nvSpPr>
        <p:spPr>
          <a:xfrm>
            <a:off x="8610454" y="4018357"/>
            <a:ext cx="6324799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7"/>
          <p:cNvSpPr/>
          <p:nvPr/>
        </p:nvSpPr>
        <p:spPr>
          <a:xfrm>
            <a:off x="8610454" y="3530459"/>
            <a:ext cx="6514543" cy="3640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어떤 데이터 파일이든 읽고 DuckDB로 질의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7"/>
          <p:cNvSpPr/>
          <p:nvPr/>
        </p:nvSpPr>
        <p:spPr>
          <a:xfrm>
            <a:off x="15239988" y="4018357"/>
            <a:ext cx="1904973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7"/>
          <p:cNvSpPr/>
          <p:nvPr/>
        </p:nvSpPr>
        <p:spPr>
          <a:xfrm>
            <a:off x="15239988" y="3530459"/>
            <a:ext cx="1981173" cy="3640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없음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7"/>
          <p:cNvSpPr/>
          <p:nvPr/>
        </p:nvSpPr>
        <p:spPr>
          <a:xfrm>
            <a:off x="1142997" y="4668179"/>
            <a:ext cx="4000491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7"/>
          <p:cNvSpPr/>
          <p:nvPr/>
        </p:nvSpPr>
        <p:spPr>
          <a:xfrm>
            <a:off x="1142997" y="4188977"/>
            <a:ext cx="412050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bigquery-data-analytics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7"/>
          <p:cNvSpPr/>
          <p:nvPr/>
        </p:nvSpPr>
        <p:spPr>
          <a:xfrm>
            <a:off x="5448224" y="4668179"/>
            <a:ext cx="2857494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7"/>
          <p:cNvSpPr/>
          <p:nvPr/>
        </p:nvSpPr>
        <p:spPr>
          <a:xfrm>
            <a:off x="5448224" y="4188977"/>
            <a:ext cx="2943218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Google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7"/>
          <p:cNvSpPr/>
          <p:nvPr/>
        </p:nvSpPr>
        <p:spPr>
          <a:xfrm>
            <a:off x="8610454" y="4668179"/>
            <a:ext cx="6324799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7"/>
          <p:cNvSpPr/>
          <p:nvPr/>
        </p:nvSpPr>
        <p:spPr>
          <a:xfrm>
            <a:off x="8610454" y="4188977"/>
            <a:ext cx="6514543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BigQuery 데이터셋 질의와 인사이트 생성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7"/>
          <p:cNvSpPr/>
          <p:nvPr/>
        </p:nvSpPr>
        <p:spPr>
          <a:xfrm>
            <a:off x="15239988" y="4668179"/>
            <a:ext cx="1904973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7"/>
          <p:cNvSpPr/>
          <p:nvPr/>
        </p:nvSpPr>
        <p:spPr>
          <a:xfrm>
            <a:off x="15239988" y="4188977"/>
            <a:ext cx="1981173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GCP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7"/>
          <p:cNvSpPr/>
          <p:nvPr/>
        </p:nvSpPr>
        <p:spPr>
          <a:xfrm>
            <a:off x="1142997" y="5318002"/>
            <a:ext cx="4000491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7"/>
          <p:cNvSpPr/>
          <p:nvPr/>
        </p:nvSpPr>
        <p:spPr>
          <a:xfrm>
            <a:off x="1142997" y="4838799"/>
            <a:ext cx="412050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aws-data-analytics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7"/>
          <p:cNvSpPr/>
          <p:nvPr/>
        </p:nvSpPr>
        <p:spPr>
          <a:xfrm>
            <a:off x="5448224" y="5318002"/>
            <a:ext cx="2857494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7"/>
          <p:cNvSpPr/>
          <p:nvPr/>
        </p:nvSpPr>
        <p:spPr>
          <a:xfrm>
            <a:off x="5448224" y="4838799"/>
            <a:ext cx="2943218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AWS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7"/>
          <p:cNvSpPr/>
          <p:nvPr/>
        </p:nvSpPr>
        <p:spPr>
          <a:xfrm>
            <a:off x="8610454" y="5318002"/>
            <a:ext cx="6324799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7"/>
          <p:cNvSpPr/>
          <p:nvPr/>
        </p:nvSpPr>
        <p:spPr>
          <a:xfrm>
            <a:off x="8610454" y="4838799"/>
            <a:ext cx="6514543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 레이크 · Glue · Athena ETL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7"/>
          <p:cNvSpPr/>
          <p:nvPr/>
        </p:nvSpPr>
        <p:spPr>
          <a:xfrm>
            <a:off x="15239988" y="5318002"/>
            <a:ext cx="1904973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7"/>
          <p:cNvSpPr/>
          <p:nvPr/>
        </p:nvSpPr>
        <p:spPr>
          <a:xfrm>
            <a:off x="15239988" y="4838799"/>
            <a:ext cx="1981173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AWS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7"/>
          <p:cNvSpPr/>
          <p:nvPr/>
        </p:nvSpPr>
        <p:spPr>
          <a:xfrm>
            <a:off x="1142997" y="5967824"/>
            <a:ext cx="4000491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7"/>
          <p:cNvSpPr/>
          <p:nvPr/>
        </p:nvSpPr>
        <p:spPr>
          <a:xfrm>
            <a:off x="1142997" y="5488622"/>
            <a:ext cx="412050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data-engineering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7"/>
          <p:cNvSpPr/>
          <p:nvPr/>
        </p:nvSpPr>
        <p:spPr>
          <a:xfrm>
            <a:off x="5448224" y="5967824"/>
            <a:ext cx="2857494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7"/>
          <p:cNvSpPr/>
          <p:nvPr/>
        </p:nvSpPr>
        <p:spPr>
          <a:xfrm>
            <a:off x="5448224" y="5488622"/>
            <a:ext cx="2943218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Astronomer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7"/>
          <p:cNvSpPr/>
          <p:nvPr/>
        </p:nvSpPr>
        <p:spPr>
          <a:xfrm>
            <a:off x="8610454" y="5967824"/>
            <a:ext cx="6324799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7"/>
          <p:cNvSpPr/>
          <p:nvPr/>
        </p:nvSpPr>
        <p:spPr>
          <a:xfrm>
            <a:off x="8610454" y="5488622"/>
            <a:ext cx="6514543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웨어하우스 탐색, Airflow DAG 작성·디버깅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7"/>
          <p:cNvSpPr/>
          <p:nvPr/>
        </p:nvSpPr>
        <p:spPr>
          <a:xfrm>
            <a:off x="15239988" y="5967824"/>
            <a:ext cx="1904973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7"/>
          <p:cNvSpPr/>
          <p:nvPr/>
        </p:nvSpPr>
        <p:spPr>
          <a:xfrm>
            <a:off x="15239988" y="5488622"/>
            <a:ext cx="1981173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연결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7"/>
          <p:cNvSpPr/>
          <p:nvPr/>
        </p:nvSpPr>
        <p:spPr>
          <a:xfrm>
            <a:off x="1142997" y="6617647"/>
            <a:ext cx="4000491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7"/>
          <p:cNvSpPr/>
          <p:nvPr/>
        </p:nvSpPr>
        <p:spPr>
          <a:xfrm>
            <a:off x="1142997" y="6138445"/>
            <a:ext cx="412050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posthog · amplitude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7"/>
          <p:cNvSpPr/>
          <p:nvPr/>
        </p:nvSpPr>
        <p:spPr>
          <a:xfrm>
            <a:off x="5448224" y="6617647"/>
            <a:ext cx="2857494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7"/>
          <p:cNvSpPr/>
          <p:nvPr/>
        </p:nvSpPr>
        <p:spPr>
          <a:xfrm>
            <a:off x="5448224" y="6138445"/>
            <a:ext cx="2943218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각사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7"/>
          <p:cNvSpPr/>
          <p:nvPr/>
        </p:nvSpPr>
        <p:spPr>
          <a:xfrm>
            <a:off x="8610454" y="6617647"/>
            <a:ext cx="6324799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7"/>
          <p:cNvSpPr/>
          <p:nvPr/>
        </p:nvSpPr>
        <p:spPr>
          <a:xfrm>
            <a:off x="8610454" y="6138445"/>
            <a:ext cx="6514543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제품 분석 지표 · 차트 · 대시보드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7"/>
          <p:cNvSpPr/>
          <p:nvPr/>
        </p:nvSpPr>
        <p:spPr>
          <a:xfrm>
            <a:off x="15239988" y="6617647"/>
            <a:ext cx="1904973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7"/>
          <p:cNvSpPr/>
          <p:nvPr/>
        </p:nvSpPr>
        <p:spPr>
          <a:xfrm>
            <a:off x="15239988" y="6138445"/>
            <a:ext cx="1981173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계정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7"/>
          <p:cNvSpPr/>
          <p:nvPr/>
        </p:nvSpPr>
        <p:spPr>
          <a:xfrm>
            <a:off x="1142997" y="7567450"/>
            <a:ext cx="4000491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7"/>
          <p:cNvSpPr/>
          <p:nvPr/>
        </p:nvSpPr>
        <p:spPr>
          <a:xfrm>
            <a:off x="1142997" y="6788267"/>
            <a:ext cx="4120506" cy="6553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clickhouse-best-practices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7"/>
          <p:cNvSpPr/>
          <p:nvPr/>
        </p:nvSpPr>
        <p:spPr>
          <a:xfrm>
            <a:off x="5448224" y="7567450"/>
            <a:ext cx="2857494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7"/>
          <p:cNvSpPr/>
          <p:nvPr/>
        </p:nvSpPr>
        <p:spPr>
          <a:xfrm>
            <a:off x="5448224" y="6788267"/>
            <a:ext cx="2943218" cy="6553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ClickHouse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7"/>
          <p:cNvSpPr/>
          <p:nvPr/>
        </p:nvSpPr>
        <p:spPr>
          <a:xfrm>
            <a:off x="8610454" y="7567450"/>
            <a:ext cx="6324799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7"/>
          <p:cNvSpPr/>
          <p:nvPr/>
        </p:nvSpPr>
        <p:spPr>
          <a:xfrm>
            <a:off x="8610454" y="6788267"/>
            <a:ext cx="6514543" cy="6553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스키마·쿼리 최적화 규칙 28개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7"/>
          <p:cNvSpPr/>
          <p:nvPr/>
        </p:nvSpPr>
        <p:spPr>
          <a:xfrm>
            <a:off x="15239988" y="7567450"/>
            <a:ext cx="1904973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7"/>
          <p:cNvSpPr/>
          <p:nvPr/>
        </p:nvSpPr>
        <p:spPr>
          <a:xfrm>
            <a:off x="15239988" y="6788267"/>
            <a:ext cx="1981173" cy="6553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없음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7"/>
          <p:cNvSpPr/>
          <p:nvPr/>
        </p:nvSpPr>
        <p:spPr>
          <a:xfrm>
            <a:off x="1142997" y="7738070"/>
            <a:ext cx="4120506" cy="3640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playground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7"/>
          <p:cNvSpPr/>
          <p:nvPr/>
        </p:nvSpPr>
        <p:spPr>
          <a:xfrm>
            <a:off x="5448224" y="7738070"/>
            <a:ext cx="2943218" cy="3640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Anthropic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7"/>
          <p:cNvSpPr/>
          <p:nvPr/>
        </p:nvSpPr>
        <p:spPr>
          <a:xfrm>
            <a:off x="8610454" y="7738070"/>
            <a:ext cx="6514543" cy="3640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자체완결 단일 HTML 탐색기 — 데이터 탐색기 템플릿 포함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7"/>
          <p:cNvSpPr/>
          <p:nvPr/>
        </p:nvSpPr>
        <p:spPr>
          <a:xfrm>
            <a:off x="15239988" y="7738070"/>
            <a:ext cx="1981173" cy="3640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없음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7"/>
          <p:cNvSpPr/>
          <p:nvPr/>
        </p:nvSpPr>
        <p:spPr>
          <a:xfrm>
            <a:off x="1142997" y="9197980"/>
            <a:ext cx="16482023" cy="4032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8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data 플러그인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8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Anthropic의 </a:t>
            </a:r>
            <a:r>
              <a:rPr b="1" i="0" lang="en-US" sz="48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data </a:t>
            </a: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플러그인 — 이 과정에 가장 가까운 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8"/>
          <p:cNvSpPr/>
          <p:nvPr/>
        </p:nvSpPr>
        <p:spPr>
          <a:xfrm>
            <a:off x="1142997" y="2304404"/>
            <a:ext cx="16001964" cy="1369613"/>
          </a:xfrm>
          <a:prstGeom prst="roundRect">
            <a:avLst>
              <a:gd fmla="val 9736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8"/>
          <p:cNvSpPr/>
          <p:nvPr/>
        </p:nvSpPr>
        <p:spPr>
          <a:xfrm>
            <a:off x="1447733" y="2552011"/>
            <a:ext cx="15854267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 plugin marketplace add anthropics/knowledge-work-plugins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8"/>
          <p:cNvSpPr/>
          <p:nvPr/>
        </p:nvSpPr>
        <p:spPr>
          <a:xfrm>
            <a:off x="1447733" y="2989211"/>
            <a:ext cx="15854267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 plugin install data@knowledge-work-plugins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8"/>
          <p:cNvSpPr/>
          <p:nvPr/>
        </p:nvSpPr>
        <p:spPr>
          <a:xfrm>
            <a:off x="1142997" y="4479604"/>
            <a:ext cx="3238447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8"/>
          <p:cNvSpPr/>
          <p:nvPr/>
        </p:nvSpPr>
        <p:spPr>
          <a:xfrm>
            <a:off x="1142997" y="4054971"/>
            <a:ext cx="3335601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스킬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8"/>
          <p:cNvSpPr/>
          <p:nvPr/>
        </p:nvSpPr>
        <p:spPr>
          <a:xfrm>
            <a:off x="4724290" y="4479604"/>
            <a:ext cx="6038880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8"/>
          <p:cNvSpPr/>
          <p:nvPr/>
        </p:nvSpPr>
        <p:spPr>
          <a:xfrm>
            <a:off x="4724290" y="4054971"/>
            <a:ext cx="6220046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무엇을 하는가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8"/>
          <p:cNvSpPr/>
          <p:nvPr/>
        </p:nvSpPr>
        <p:spPr>
          <a:xfrm>
            <a:off x="11106014" y="4479604"/>
            <a:ext cx="6038948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8"/>
          <p:cNvSpPr/>
          <p:nvPr/>
        </p:nvSpPr>
        <p:spPr>
          <a:xfrm>
            <a:off x="11106014" y="4054971"/>
            <a:ext cx="6220116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부르는 방법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8"/>
          <p:cNvSpPr/>
          <p:nvPr/>
        </p:nvSpPr>
        <p:spPr>
          <a:xfrm>
            <a:off x="1142997" y="5165837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8"/>
          <p:cNvSpPr/>
          <p:nvPr/>
        </p:nvSpPr>
        <p:spPr>
          <a:xfrm>
            <a:off x="1142997" y="4677140"/>
            <a:ext cx="3335601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explore-data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8"/>
          <p:cNvSpPr/>
          <p:nvPr/>
        </p:nvSpPr>
        <p:spPr>
          <a:xfrm>
            <a:off x="4724290" y="5165837"/>
            <a:ext cx="60388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8"/>
          <p:cNvSpPr/>
          <p:nvPr/>
        </p:nvSpPr>
        <p:spPr>
          <a:xfrm>
            <a:off x="4724290" y="4677140"/>
            <a:ext cx="622004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데이터셋 프로파일링 — 결측률 · 분포 · 중복 · 의심값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8"/>
          <p:cNvSpPr/>
          <p:nvPr/>
        </p:nvSpPr>
        <p:spPr>
          <a:xfrm>
            <a:off x="11106014" y="5165837"/>
            <a:ext cx="60389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8"/>
          <p:cNvSpPr/>
          <p:nvPr/>
        </p:nvSpPr>
        <p:spPr>
          <a:xfrm>
            <a:off x="11106014" y="4677140"/>
            <a:ext cx="622011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/data:explore-data &lt;파일&gt;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8"/>
          <p:cNvSpPr/>
          <p:nvPr/>
        </p:nvSpPr>
        <p:spPr>
          <a:xfrm>
            <a:off x="1142997" y="5834680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8"/>
          <p:cNvSpPr/>
          <p:nvPr/>
        </p:nvSpPr>
        <p:spPr>
          <a:xfrm>
            <a:off x="1142997" y="5345982"/>
            <a:ext cx="3335601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analyze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8"/>
          <p:cNvSpPr/>
          <p:nvPr/>
        </p:nvSpPr>
        <p:spPr>
          <a:xfrm>
            <a:off x="4724290" y="5834680"/>
            <a:ext cx="60388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8"/>
          <p:cNvSpPr/>
          <p:nvPr/>
        </p:nvSpPr>
        <p:spPr>
          <a:xfrm>
            <a:off x="4724290" y="5345982"/>
            <a:ext cx="622004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데이터 질문에 답 — 단일 지표부터 정식 리포트까지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8"/>
          <p:cNvSpPr/>
          <p:nvPr/>
        </p:nvSpPr>
        <p:spPr>
          <a:xfrm>
            <a:off x="11106014" y="5834680"/>
            <a:ext cx="60389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8"/>
          <p:cNvSpPr/>
          <p:nvPr/>
        </p:nvSpPr>
        <p:spPr>
          <a:xfrm>
            <a:off x="11106014" y="5345982"/>
            <a:ext cx="622011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/data:analyze &lt;질문&gt;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8"/>
          <p:cNvSpPr/>
          <p:nvPr/>
        </p:nvSpPr>
        <p:spPr>
          <a:xfrm>
            <a:off x="1142997" y="6503524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8"/>
          <p:cNvSpPr/>
          <p:nvPr/>
        </p:nvSpPr>
        <p:spPr>
          <a:xfrm>
            <a:off x="1142997" y="6014826"/>
            <a:ext cx="3335601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write-query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8"/>
          <p:cNvSpPr/>
          <p:nvPr/>
        </p:nvSpPr>
        <p:spPr>
          <a:xfrm>
            <a:off x="4724290" y="6503524"/>
            <a:ext cx="60388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8"/>
          <p:cNvSpPr/>
          <p:nvPr/>
        </p:nvSpPr>
        <p:spPr>
          <a:xfrm>
            <a:off x="4724290" y="6014826"/>
            <a:ext cx="622004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자연어를 최적화된 SQL로 변환(방언별)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8"/>
          <p:cNvSpPr/>
          <p:nvPr/>
        </p:nvSpPr>
        <p:spPr>
          <a:xfrm>
            <a:off x="11106014" y="6503524"/>
            <a:ext cx="60389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8"/>
          <p:cNvSpPr/>
          <p:nvPr/>
        </p:nvSpPr>
        <p:spPr>
          <a:xfrm>
            <a:off x="11106014" y="6014826"/>
            <a:ext cx="622011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/data:write-query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8"/>
          <p:cNvSpPr/>
          <p:nvPr/>
        </p:nvSpPr>
        <p:spPr>
          <a:xfrm>
            <a:off x="1142997" y="7172367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8"/>
          <p:cNvSpPr/>
          <p:nvPr/>
        </p:nvSpPr>
        <p:spPr>
          <a:xfrm>
            <a:off x="1142997" y="6683669"/>
            <a:ext cx="3335601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create-viz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8"/>
          <p:cNvSpPr/>
          <p:nvPr/>
        </p:nvSpPr>
        <p:spPr>
          <a:xfrm>
            <a:off x="4724290" y="7172367"/>
            <a:ext cx="60388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8"/>
          <p:cNvSpPr/>
          <p:nvPr/>
        </p:nvSpPr>
        <p:spPr>
          <a:xfrm>
            <a:off x="4724290" y="6683669"/>
            <a:ext cx="622004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Python으로 발표 품질 차트 제작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8"/>
          <p:cNvSpPr/>
          <p:nvPr/>
        </p:nvSpPr>
        <p:spPr>
          <a:xfrm>
            <a:off x="11106014" y="7172367"/>
            <a:ext cx="60389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8"/>
          <p:cNvSpPr/>
          <p:nvPr/>
        </p:nvSpPr>
        <p:spPr>
          <a:xfrm>
            <a:off x="11106014" y="6683669"/>
            <a:ext cx="622011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/data:create-viz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8"/>
          <p:cNvSpPr/>
          <p:nvPr/>
        </p:nvSpPr>
        <p:spPr>
          <a:xfrm>
            <a:off x="1142997" y="7841210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8"/>
          <p:cNvSpPr/>
          <p:nvPr/>
        </p:nvSpPr>
        <p:spPr>
          <a:xfrm>
            <a:off x="1142997" y="7352512"/>
            <a:ext cx="3335601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build-dashboard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8"/>
          <p:cNvSpPr/>
          <p:nvPr/>
        </p:nvSpPr>
        <p:spPr>
          <a:xfrm>
            <a:off x="4724290" y="7841210"/>
            <a:ext cx="60388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8"/>
          <p:cNvSpPr/>
          <p:nvPr/>
        </p:nvSpPr>
        <p:spPr>
          <a:xfrm>
            <a:off x="4724290" y="7352512"/>
            <a:ext cx="622004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자체완결 HTML 대시보드 — KPI 카드 · 필터 · 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8"/>
          <p:cNvSpPr/>
          <p:nvPr/>
        </p:nvSpPr>
        <p:spPr>
          <a:xfrm>
            <a:off x="11106014" y="7841210"/>
            <a:ext cx="60389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8"/>
          <p:cNvSpPr/>
          <p:nvPr/>
        </p:nvSpPr>
        <p:spPr>
          <a:xfrm>
            <a:off x="11106014" y="7352512"/>
            <a:ext cx="622011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/data:build-dashboard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8"/>
          <p:cNvSpPr/>
          <p:nvPr/>
        </p:nvSpPr>
        <p:spPr>
          <a:xfrm>
            <a:off x="1142997" y="8510053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8"/>
          <p:cNvSpPr/>
          <p:nvPr/>
        </p:nvSpPr>
        <p:spPr>
          <a:xfrm>
            <a:off x="1142997" y="8021355"/>
            <a:ext cx="3335601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validate-data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8"/>
          <p:cNvSpPr/>
          <p:nvPr/>
        </p:nvSpPr>
        <p:spPr>
          <a:xfrm>
            <a:off x="4724290" y="8510053"/>
            <a:ext cx="60388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8"/>
          <p:cNvSpPr/>
          <p:nvPr/>
        </p:nvSpPr>
        <p:spPr>
          <a:xfrm>
            <a:off x="4724290" y="8021355"/>
            <a:ext cx="622004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공유 전 QA — 방법론 · 정확성 · 편향 점검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8"/>
          <p:cNvSpPr/>
          <p:nvPr/>
        </p:nvSpPr>
        <p:spPr>
          <a:xfrm>
            <a:off x="11106014" y="8510053"/>
            <a:ext cx="60389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8"/>
          <p:cNvSpPr/>
          <p:nvPr/>
        </p:nvSpPr>
        <p:spPr>
          <a:xfrm>
            <a:off x="11106014" y="8021355"/>
            <a:ext cx="622011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/data:validate-data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8"/>
          <p:cNvSpPr/>
          <p:nvPr/>
        </p:nvSpPr>
        <p:spPr>
          <a:xfrm>
            <a:off x="1142997" y="8690198"/>
            <a:ext cx="3335601" cy="6553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data-context-extractor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8"/>
          <p:cNvSpPr/>
          <p:nvPr/>
        </p:nvSpPr>
        <p:spPr>
          <a:xfrm>
            <a:off x="4724290" y="8690198"/>
            <a:ext cx="6220046" cy="6553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회사 고유 데이터 스킬을 만들어 주는 스킬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8"/>
          <p:cNvSpPr/>
          <p:nvPr/>
        </p:nvSpPr>
        <p:spPr>
          <a:xfrm>
            <a:off x="11106014" y="8690198"/>
            <a:ext cx="6220116" cy="6553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/data:data-context-extractor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9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data 플러그인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9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참조 전용 스킬은 직접 부를 수 없다 — 정상 동작이다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9"/>
          <p:cNvSpPr/>
          <p:nvPr/>
        </p:nvSpPr>
        <p:spPr>
          <a:xfrm>
            <a:off x="1142997" y="2609140"/>
            <a:ext cx="16001964" cy="1883032"/>
          </a:xfrm>
          <a:prstGeom prst="roundRect">
            <a:avLst>
              <a:gd fmla="val 8093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9"/>
          <p:cNvSpPr/>
          <p:nvPr/>
        </p:nvSpPr>
        <p:spPr>
          <a:xfrm>
            <a:off x="1485842" y="2894855"/>
            <a:ext cx="15775763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name: data-visualization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9"/>
          <p:cNvSpPr/>
          <p:nvPr/>
        </p:nvSpPr>
        <p:spPr>
          <a:xfrm>
            <a:off x="1485842" y="3332056"/>
            <a:ext cx="15775763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description: Create effective data visualizations with Python…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9"/>
          <p:cNvSpPr/>
          <p:nvPr/>
        </p:nvSpPr>
        <p:spPr>
          <a:xfrm>
            <a:off x="1485842" y="3769256"/>
            <a:ext cx="15775763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user-invocable: false </a:t>
            </a: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← 사람이 직접 부르지 않는다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9"/>
          <p:cNvSpPr/>
          <p:nvPr/>
        </p:nvSpPr>
        <p:spPr>
          <a:xfrm>
            <a:off x="1142997" y="5297758"/>
            <a:ext cx="3809946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9"/>
          <p:cNvSpPr/>
          <p:nvPr/>
        </p:nvSpPr>
        <p:spPr>
          <a:xfrm>
            <a:off x="1142997" y="4873125"/>
            <a:ext cx="3924245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스킬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9"/>
          <p:cNvSpPr/>
          <p:nvPr/>
        </p:nvSpPr>
        <p:spPr>
          <a:xfrm>
            <a:off x="5333898" y="5297758"/>
            <a:ext cx="5715055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9"/>
          <p:cNvSpPr/>
          <p:nvPr/>
        </p:nvSpPr>
        <p:spPr>
          <a:xfrm>
            <a:off x="5333898" y="4873125"/>
            <a:ext cx="5886507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무엇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9"/>
          <p:cNvSpPr/>
          <p:nvPr/>
        </p:nvSpPr>
        <p:spPr>
          <a:xfrm>
            <a:off x="11429906" y="5297758"/>
            <a:ext cx="5715055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9"/>
          <p:cNvSpPr/>
          <p:nvPr/>
        </p:nvSpPr>
        <p:spPr>
          <a:xfrm>
            <a:off x="11429906" y="4873125"/>
            <a:ext cx="5886507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누가 쓰는가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9"/>
          <p:cNvSpPr/>
          <p:nvPr/>
        </p:nvSpPr>
        <p:spPr>
          <a:xfrm>
            <a:off x="1142997" y="6356930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9"/>
          <p:cNvSpPr/>
          <p:nvPr/>
        </p:nvSpPr>
        <p:spPr>
          <a:xfrm>
            <a:off x="1142997" y="5514344"/>
            <a:ext cx="3924245" cy="6901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data-visualization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9"/>
          <p:cNvSpPr/>
          <p:nvPr/>
        </p:nvSpPr>
        <p:spPr>
          <a:xfrm>
            <a:off x="5333898" y="6356930"/>
            <a:ext cx="571505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9"/>
          <p:cNvSpPr/>
          <p:nvPr/>
        </p:nvSpPr>
        <p:spPr>
          <a:xfrm>
            <a:off x="5333898" y="5514344"/>
            <a:ext cx="5886507" cy="6901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matplotlib · seaborn · plotly, 차트 선택, 접근성·색채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9"/>
          <p:cNvSpPr/>
          <p:nvPr/>
        </p:nvSpPr>
        <p:spPr>
          <a:xfrm>
            <a:off x="11429906" y="6356930"/>
            <a:ext cx="571505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9"/>
          <p:cNvSpPr/>
          <p:nvPr/>
        </p:nvSpPr>
        <p:spPr>
          <a:xfrm>
            <a:off x="11429906" y="5514344"/>
            <a:ext cx="5886507" cy="6901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create-viz · build-dashboard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9"/>
          <p:cNvSpPr/>
          <p:nvPr/>
        </p:nvSpPr>
        <p:spPr>
          <a:xfrm>
            <a:off x="1142997" y="7072645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9"/>
          <p:cNvSpPr/>
          <p:nvPr/>
        </p:nvSpPr>
        <p:spPr>
          <a:xfrm>
            <a:off x="1142997" y="6556125"/>
            <a:ext cx="3924245" cy="364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sql-queries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9"/>
          <p:cNvSpPr/>
          <p:nvPr/>
        </p:nvSpPr>
        <p:spPr>
          <a:xfrm>
            <a:off x="5333898" y="7072645"/>
            <a:ext cx="571505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9"/>
          <p:cNvSpPr/>
          <p:nvPr/>
        </p:nvSpPr>
        <p:spPr>
          <a:xfrm>
            <a:off x="5333898" y="6556125"/>
            <a:ext cx="5886507" cy="364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웨어하우스 방언별 SQL 문법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9"/>
          <p:cNvSpPr/>
          <p:nvPr/>
        </p:nvSpPr>
        <p:spPr>
          <a:xfrm>
            <a:off x="11429906" y="7072645"/>
            <a:ext cx="571505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9"/>
          <p:cNvSpPr/>
          <p:nvPr/>
        </p:nvSpPr>
        <p:spPr>
          <a:xfrm>
            <a:off x="11429906" y="6556125"/>
            <a:ext cx="5886507" cy="364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write-query · analyze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9"/>
          <p:cNvSpPr/>
          <p:nvPr/>
        </p:nvSpPr>
        <p:spPr>
          <a:xfrm>
            <a:off x="1142997" y="7788360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9"/>
          <p:cNvSpPr/>
          <p:nvPr/>
        </p:nvSpPr>
        <p:spPr>
          <a:xfrm>
            <a:off x="1142997" y="7271840"/>
            <a:ext cx="3924245" cy="364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statistical-analysis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9"/>
          <p:cNvSpPr/>
          <p:nvPr/>
        </p:nvSpPr>
        <p:spPr>
          <a:xfrm>
            <a:off x="5333898" y="7788360"/>
            <a:ext cx="571505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9"/>
          <p:cNvSpPr/>
          <p:nvPr/>
        </p:nvSpPr>
        <p:spPr>
          <a:xfrm>
            <a:off x="5333898" y="7271840"/>
            <a:ext cx="5886507" cy="364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기술통계 · 추세 · 이상치 · 가설검정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9"/>
          <p:cNvSpPr/>
          <p:nvPr/>
        </p:nvSpPr>
        <p:spPr>
          <a:xfrm>
            <a:off x="11429906" y="7788360"/>
            <a:ext cx="571505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9"/>
          <p:cNvSpPr/>
          <p:nvPr/>
        </p:nvSpPr>
        <p:spPr>
          <a:xfrm>
            <a:off x="11429906" y="7271840"/>
            <a:ext cx="5886507" cy="364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analyze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9"/>
          <p:cNvSpPr/>
          <p:nvPr/>
        </p:nvSpPr>
        <p:spPr>
          <a:xfrm>
            <a:off x="1142997" y="9073106"/>
            <a:ext cx="16482023" cy="5281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우리 킷의 </a:t>
            </a:r>
            <a:r>
              <a:rPr b="1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dashboard-design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과 같은 구조다.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판단 기준은 참조 전용으로 두고, 사람이 부르는 것은 절차 쪽에 둔다.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0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실습 준비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0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남의 예제 프롬프트를 그대로 쓰면 안 된다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0"/>
          <p:cNvSpPr/>
          <p:nvPr/>
        </p:nvSpPr>
        <p:spPr>
          <a:xfrm>
            <a:off x="1142997" y="230440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우리 데이터는 컬럼 여덟 개다 — Invoice · StockCode · Description · Quantity · InvoiceDate · Price · Customer ID · Country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0"/>
          <p:cNvSpPr/>
          <p:nvPr/>
        </p:nvSpPr>
        <p:spPr>
          <a:xfrm>
            <a:off x="1142997" y="3495904"/>
            <a:ext cx="8499727" cy="1739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0"/>
          <p:cNvSpPr/>
          <p:nvPr/>
        </p:nvSpPr>
        <p:spPr>
          <a:xfrm>
            <a:off x="1142997" y="3071271"/>
            <a:ext cx="8754719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예제 프롬프트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0"/>
          <p:cNvSpPr/>
          <p:nvPr/>
        </p:nvSpPr>
        <p:spPr>
          <a:xfrm>
            <a:off x="10061787" y="3495904"/>
            <a:ext cx="7083174" cy="1739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0"/>
          <p:cNvSpPr/>
          <p:nvPr/>
        </p:nvSpPr>
        <p:spPr>
          <a:xfrm>
            <a:off x="10061787" y="3071271"/>
            <a:ext cx="7295669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우리 데이터에서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0"/>
          <p:cNvSpPr/>
          <p:nvPr/>
        </p:nvSpPr>
        <p:spPr>
          <a:xfrm>
            <a:off x="1142997" y="4326965"/>
            <a:ext cx="8499727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0"/>
          <p:cNvSpPr/>
          <p:nvPr/>
        </p:nvSpPr>
        <p:spPr>
          <a:xfrm>
            <a:off x="1142997" y="3741894"/>
            <a:ext cx="8754719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"이 CSV 파일 분석해서 주요 인사이트 뽑아줘"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0"/>
          <p:cNvSpPr/>
          <p:nvPr/>
        </p:nvSpPr>
        <p:spPr>
          <a:xfrm>
            <a:off x="10061787" y="4326965"/>
            <a:ext cx="7083174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30"/>
          <p:cNvSpPr/>
          <p:nvPr/>
        </p:nvSpPr>
        <p:spPr>
          <a:xfrm>
            <a:off x="10061787" y="3741894"/>
            <a:ext cx="7295669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돕니다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0"/>
          <p:cNvSpPr/>
          <p:nvPr/>
        </p:nvSpPr>
        <p:spPr>
          <a:xfrm>
            <a:off x="1142997" y="5149330"/>
            <a:ext cx="8499727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0"/>
          <p:cNvSpPr/>
          <p:nvPr/>
        </p:nvSpPr>
        <p:spPr>
          <a:xfrm>
            <a:off x="1142997" y="4564260"/>
            <a:ext cx="8754719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"월별 매출 트렌드랑 </a:t>
            </a: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카테고리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비교 차트 만들어줘"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0"/>
          <p:cNvSpPr/>
          <p:nvPr/>
        </p:nvSpPr>
        <p:spPr>
          <a:xfrm>
            <a:off x="10061787" y="5149330"/>
            <a:ext cx="7083174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0"/>
          <p:cNvSpPr/>
          <p:nvPr/>
        </p:nvSpPr>
        <p:spPr>
          <a:xfrm>
            <a:off x="10061787" y="4564260"/>
            <a:ext cx="7295669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카테고리 컬럼이 없습니다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0"/>
          <p:cNvSpPr/>
          <p:nvPr/>
        </p:nvSpPr>
        <p:spPr>
          <a:xfrm>
            <a:off x="1142997" y="5971696"/>
            <a:ext cx="8499727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0"/>
          <p:cNvSpPr/>
          <p:nvPr/>
        </p:nvSpPr>
        <p:spPr>
          <a:xfrm>
            <a:off x="1142997" y="5386625"/>
            <a:ext cx="8754719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상관관계 히트맵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이랑 분포 그래프 그려줘"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0"/>
          <p:cNvSpPr/>
          <p:nvPr/>
        </p:nvSpPr>
        <p:spPr>
          <a:xfrm>
            <a:off x="10061787" y="5971696"/>
            <a:ext cx="7083174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0"/>
          <p:cNvSpPr/>
          <p:nvPr/>
        </p:nvSpPr>
        <p:spPr>
          <a:xfrm>
            <a:off x="10061787" y="5386625"/>
            <a:ext cx="7295669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수치 컬럼이 Quantity · Price 둘뿐입니다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0"/>
          <p:cNvSpPr/>
          <p:nvPr/>
        </p:nvSpPr>
        <p:spPr>
          <a:xfrm>
            <a:off x="1142997" y="9048778"/>
            <a:ext cx="16482023" cy="5524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데이터에 없는 것을 요구하면 그럴싸한 것이 나온다. </a:t>
            </a:r>
            <a:r>
              <a:rPr b="1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스킬이 나빠서가 아니라 요구가 데이터와 맞지 않아서다.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F2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1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실습 준비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1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컬럼을 먼저 보고 프롬프트를 고쳐 쓴다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1"/>
          <p:cNvSpPr/>
          <p:nvPr/>
        </p:nvSpPr>
        <p:spPr>
          <a:xfrm>
            <a:off x="1142997" y="2304404"/>
            <a:ext cx="17602160" cy="411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/data:explore-data</a:t>
            </a: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로 컬럼을 확인하고, 있는 컬럼으로 다시 쓴다.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1"/>
          <p:cNvSpPr/>
          <p:nvPr/>
        </p:nvSpPr>
        <p:spPr>
          <a:xfrm>
            <a:off x="1142997" y="3135465"/>
            <a:ext cx="16001964" cy="1238236"/>
          </a:xfrm>
          <a:prstGeom prst="roundRect">
            <a:avLst>
              <a:gd fmla="val 13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1"/>
          <p:cNvSpPr/>
          <p:nvPr/>
        </p:nvSpPr>
        <p:spPr>
          <a:xfrm>
            <a:off x="1543040" y="3573598"/>
            <a:ext cx="742937" cy="3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1"/>
          <p:cNvSpPr/>
          <p:nvPr/>
        </p:nvSpPr>
        <p:spPr>
          <a:xfrm>
            <a:off x="2552622" y="3497398"/>
            <a:ext cx="7421760" cy="5524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"월별 매출 트렌드랑 카테고리 비교 차트 만들어줘"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1"/>
          <p:cNvSpPr/>
          <p:nvPr/>
        </p:nvSpPr>
        <p:spPr>
          <a:xfrm>
            <a:off x="1142997" y="4621307"/>
            <a:ext cx="16001964" cy="1752605"/>
          </a:xfrm>
          <a:prstGeom prst="roundRect">
            <a:avLst>
              <a:gd fmla="val 978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1"/>
          <p:cNvSpPr/>
          <p:nvPr/>
        </p:nvSpPr>
        <p:spPr>
          <a:xfrm>
            <a:off x="1142997" y="4621307"/>
            <a:ext cx="56518" cy="175260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1"/>
          <p:cNvSpPr/>
          <p:nvPr/>
        </p:nvSpPr>
        <p:spPr>
          <a:xfrm>
            <a:off x="1599558" y="5059441"/>
            <a:ext cx="742937" cy="3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1"/>
          <p:cNvSpPr/>
          <p:nvPr/>
        </p:nvSpPr>
        <p:spPr>
          <a:xfrm>
            <a:off x="2609140" y="4983241"/>
            <a:ext cx="14559852" cy="1066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"InvoiceDate로 월별 매출(Quantity × Price) 추이, Country로 상위 10개국 비교 차트. </a:t>
            </a:r>
            <a:r>
              <a:rPr b="1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카테고리 컬럼은 없으니 Country로 대체. </a:t>
            </a: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1"/>
          <p:cNvSpPr/>
          <p:nvPr/>
        </p:nvSpPr>
        <p:spPr>
          <a:xfrm>
            <a:off x="1142997" y="8146557"/>
            <a:ext cx="16001964" cy="2608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1"/>
          <p:cNvSpPr/>
          <p:nvPr/>
        </p:nvSpPr>
        <p:spPr>
          <a:xfrm>
            <a:off x="1142997" y="8591742"/>
            <a:ext cx="16482023" cy="10094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대체했다는 사실을 프롬프트에 적는 것이 중요하다. 적지 않으면 산출물에 "카테고리별"이라고 쓰이고, 읽는 사람은 없는 컬럼을 상상한다.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2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비교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2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이름이 비슷하지만 다른 일이다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2"/>
          <p:cNvSpPr/>
          <p:nvPr/>
        </p:nvSpPr>
        <p:spPr>
          <a:xfrm>
            <a:off x="1142997" y="2647317"/>
            <a:ext cx="7810505" cy="2490941"/>
          </a:xfrm>
          <a:prstGeom prst="roundRect">
            <a:avLst>
              <a:gd fmla="val 764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2"/>
          <p:cNvSpPr/>
          <p:nvPr/>
        </p:nvSpPr>
        <p:spPr>
          <a:xfrm>
            <a:off x="1562060" y="3104489"/>
            <a:ext cx="7669618" cy="394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/data:validate-data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2"/>
          <p:cNvSpPr/>
          <p:nvPr/>
        </p:nvSpPr>
        <p:spPr>
          <a:xfrm>
            <a:off x="1562060" y="3670485"/>
            <a:ext cx="7669618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방법론 · 정확성 · 편향을 읽고 점검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2"/>
          <p:cNvSpPr/>
          <p:nvPr/>
        </p:nvSpPr>
        <p:spPr>
          <a:xfrm>
            <a:off x="1562060" y="4333282"/>
            <a:ext cx="766961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판정 근거 — 방법론적 판단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2"/>
          <p:cNvSpPr/>
          <p:nvPr/>
        </p:nvSpPr>
        <p:spPr>
          <a:xfrm>
            <a:off x="9334456" y="2647317"/>
            <a:ext cx="7810505" cy="2490941"/>
          </a:xfrm>
          <a:prstGeom prst="roundRect">
            <a:avLst>
              <a:gd fmla="val 7648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2"/>
          <p:cNvSpPr/>
          <p:nvPr/>
        </p:nvSpPr>
        <p:spPr>
          <a:xfrm>
            <a:off x="9753519" y="3104489"/>
            <a:ext cx="7669618" cy="394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2"/>
          <p:cNvSpPr/>
          <p:nvPr/>
        </p:nvSpPr>
        <p:spPr>
          <a:xfrm>
            <a:off x="9753519" y="3670485"/>
            <a:ext cx="7669618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재계산 · 문서 대조 · 표본 타당성 · 규칙 준수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2"/>
          <p:cNvSpPr/>
          <p:nvPr/>
        </p:nvSpPr>
        <p:spPr>
          <a:xfrm>
            <a:off x="9753519" y="4333282"/>
            <a:ext cx="766961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판정 근거 — 저장된 계산 근거와 킷의 명시적 규칙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2"/>
          <p:cNvSpPr/>
          <p:nvPr/>
        </p:nvSpPr>
        <p:spPr>
          <a:xfrm>
            <a:off x="1142997" y="8026864"/>
            <a:ext cx="17602160" cy="4772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둘 다 필요하고, 둘은 다르다.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2"/>
          <p:cNvSpPr/>
          <p:nvPr/>
        </p:nvSpPr>
        <p:spPr>
          <a:xfrm>
            <a:off x="1142997" y="8618334"/>
            <a:ext cx="16482023" cy="9828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재계산이 없으면 "이 숫자 맞습니까"에 답할 수 없고, 방법론 점검이 없으면 "이 표본으로 이 숫자를 계산할 수 있습니까"에 답할 수 없다.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3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직접 만들기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3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대화로 다듬고 스킬로 굳힌다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3"/>
          <p:cNvSpPr/>
          <p:nvPr/>
        </p:nvSpPr>
        <p:spPr>
          <a:xfrm>
            <a:off x="1142997" y="2304404"/>
            <a:ext cx="17602160" cy="411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SKILL.md</a:t>
            </a: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를 백지에서 쓰지 않는다.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3"/>
          <p:cNvSpPr/>
          <p:nvPr/>
        </p:nvSpPr>
        <p:spPr>
          <a:xfrm>
            <a:off x="1142997" y="3173574"/>
            <a:ext cx="4833929" cy="2372334"/>
          </a:xfrm>
          <a:prstGeom prst="roundRect">
            <a:avLst>
              <a:gd fmla="val 803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3"/>
          <p:cNvSpPr/>
          <p:nvPr/>
        </p:nvSpPr>
        <p:spPr>
          <a:xfrm>
            <a:off x="1523951" y="3592637"/>
            <a:ext cx="4479224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 초안 잡기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3"/>
          <p:cNvSpPr/>
          <p:nvPr/>
        </p:nvSpPr>
        <p:spPr>
          <a:xfrm>
            <a:off x="1523951" y="4130917"/>
            <a:ext cx="4194182" cy="9533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"CSV 분석 → 차트 → 리포트 자동화하고 싶어"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3"/>
          <p:cNvSpPr/>
          <p:nvPr/>
        </p:nvSpPr>
        <p:spPr>
          <a:xfrm>
            <a:off x="6243622" y="3173574"/>
            <a:ext cx="5800715" cy="2372334"/>
          </a:xfrm>
          <a:prstGeom prst="roundRect">
            <a:avLst>
              <a:gd fmla="val 8030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3"/>
          <p:cNvSpPr/>
          <p:nvPr/>
        </p:nvSpPr>
        <p:spPr>
          <a:xfrm>
            <a:off x="6624576" y="3592637"/>
            <a:ext cx="554268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 확인하고 수정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3"/>
          <p:cNvSpPr/>
          <p:nvPr/>
        </p:nvSpPr>
        <p:spPr>
          <a:xfrm>
            <a:off x="6624576" y="4130917"/>
            <a:ext cx="5542688" cy="4957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"이 단계 더 추가해줘" → 피드백 반복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3"/>
          <p:cNvSpPr/>
          <p:nvPr/>
        </p:nvSpPr>
        <p:spPr>
          <a:xfrm>
            <a:off x="6624576" y="4779042"/>
            <a:ext cx="554268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여기가 실제 작업이다. 여러 번 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3"/>
          <p:cNvSpPr/>
          <p:nvPr/>
        </p:nvSpPr>
        <p:spPr>
          <a:xfrm>
            <a:off x="12311032" y="3173574"/>
            <a:ext cx="4833929" cy="2372334"/>
          </a:xfrm>
          <a:prstGeom prst="roundRect">
            <a:avLst>
              <a:gd fmla="val 803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3"/>
          <p:cNvSpPr/>
          <p:nvPr/>
        </p:nvSpPr>
        <p:spPr>
          <a:xfrm>
            <a:off x="12691986" y="3592637"/>
            <a:ext cx="4479224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 스킬로 저장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3"/>
          <p:cNvSpPr/>
          <p:nvPr/>
        </p:nvSpPr>
        <p:spPr>
          <a:xfrm>
            <a:off x="12691986" y="4130917"/>
            <a:ext cx="4194182" cy="9533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"이거 스킬로 만들어줘" →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SKILL.md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생성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3"/>
          <p:cNvSpPr/>
          <p:nvPr/>
        </p:nvSpPr>
        <p:spPr>
          <a:xfrm>
            <a:off x="1142997" y="9176215"/>
            <a:ext cx="16482023" cy="4249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확정되기 전에 굳히면 계속 고친다.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굳히는 것이 3번인 이유다.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4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직접 만들기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4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Courier New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SKILL.md</a:t>
            </a: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 프론트매터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4"/>
          <p:cNvSpPr/>
          <p:nvPr/>
        </p:nvSpPr>
        <p:spPr>
          <a:xfrm>
            <a:off x="1142997" y="2995732"/>
            <a:ext cx="3047971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4"/>
          <p:cNvSpPr/>
          <p:nvPr/>
        </p:nvSpPr>
        <p:spPr>
          <a:xfrm>
            <a:off x="1142997" y="2571099"/>
            <a:ext cx="3139410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필드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4"/>
          <p:cNvSpPr/>
          <p:nvPr/>
        </p:nvSpPr>
        <p:spPr>
          <a:xfrm>
            <a:off x="4571922" y="2995732"/>
            <a:ext cx="6096009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4"/>
          <p:cNvSpPr/>
          <p:nvPr/>
        </p:nvSpPr>
        <p:spPr>
          <a:xfrm>
            <a:off x="4571922" y="2571099"/>
            <a:ext cx="6278889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무엇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4"/>
          <p:cNvSpPr/>
          <p:nvPr/>
        </p:nvSpPr>
        <p:spPr>
          <a:xfrm>
            <a:off x="11048885" y="2995732"/>
            <a:ext cx="6096077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4"/>
          <p:cNvSpPr/>
          <p:nvPr/>
        </p:nvSpPr>
        <p:spPr>
          <a:xfrm>
            <a:off x="11048885" y="2571099"/>
            <a:ext cx="6278959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주의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4"/>
          <p:cNvSpPr/>
          <p:nvPr/>
        </p:nvSpPr>
        <p:spPr>
          <a:xfrm>
            <a:off x="1142997" y="3818098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4"/>
          <p:cNvSpPr/>
          <p:nvPr/>
        </p:nvSpPr>
        <p:spPr>
          <a:xfrm>
            <a:off x="1142997" y="3250417"/>
            <a:ext cx="3139410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4"/>
          <p:cNvSpPr/>
          <p:nvPr/>
        </p:nvSpPr>
        <p:spPr>
          <a:xfrm>
            <a:off x="4571922" y="3818098"/>
            <a:ext cx="609600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4"/>
          <p:cNvSpPr/>
          <p:nvPr/>
        </p:nvSpPr>
        <p:spPr>
          <a:xfrm>
            <a:off x="4571922" y="3250417"/>
            <a:ext cx="6278889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목록에 보이는 이름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4"/>
          <p:cNvSpPr/>
          <p:nvPr/>
        </p:nvSpPr>
        <p:spPr>
          <a:xfrm>
            <a:off x="11048885" y="3818098"/>
            <a:ext cx="609607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4"/>
          <p:cNvSpPr/>
          <p:nvPr/>
        </p:nvSpPr>
        <p:spPr>
          <a:xfrm>
            <a:off x="11048885" y="3250417"/>
            <a:ext cx="6278959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선택 사항. 생략하면 폴더명을 사용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4"/>
          <p:cNvSpPr/>
          <p:nvPr/>
        </p:nvSpPr>
        <p:spPr>
          <a:xfrm>
            <a:off x="1142997" y="4623073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4"/>
          <p:cNvSpPr/>
          <p:nvPr/>
        </p:nvSpPr>
        <p:spPr>
          <a:xfrm>
            <a:off x="1142997" y="4055393"/>
            <a:ext cx="3139410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4"/>
          <p:cNvSpPr/>
          <p:nvPr/>
        </p:nvSpPr>
        <p:spPr>
          <a:xfrm>
            <a:off x="4571922" y="4623073"/>
            <a:ext cx="609600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4"/>
          <p:cNvSpPr/>
          <p:nvPr/>
        </p:nvSpPr>
        <p:spPr>
          <a:xfrm>
            <a:off x="4571922" y="4055393"/>
            <a:ext cx="6278889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언제 이 스킬을 쓸지 판단하는 기준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4"/>
          <p:cNvSpPr/>
          <p:nvPr/>
        </p:nvSpPr>
        <p:spPr>
          <a:xfrm>
            <a:off x="11048885" y="4623073"/>
            <a:ext cx="609607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4"/>
          <p:cNvSpPr/>
          <p:nvPr/>
        </p:nvSpPr>
        <p:spPr>
          <a:xfrm>
            <a:off x="11048885" y="4055393"/>
            <a:ext cx="6278959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권장 필드. 핵심 사용 사례를 먼저 쓴다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4"/>
          <p:cNvSpPr/>
          <p:nvPr/>
        </p:nvSpPr>
        <p:spPr>
          <a:xfrm>
            <a:off x="1142997" y="5428049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4"/>
          <p:cNvSpPr/>
          <p:nvPr/>
        </p:nvSpPr>
        <p:spPr>
          <a:xfrm>
            <a:off x="1142997" y="4860368"/>
            <a:ext cx="3139410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argument-hint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4"/>
          <p:cNvSpPr/>
          <p:nvPr/>
        </p:nvSpPr>
        <p:spPr>
          <a:xfrm>
            <a:off x="4571922" y="5428049"/>
            <a:ext cx="609600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4"/>
          <p:cNvSpPr/>
          <p:nvPr/>
        </p:nvSpPr>
        <p:spPr>
          <a:xfrm>
            <a:off x="4571922" y="4860368"/>
            <a:ext cx="6278889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인자 힌트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4"/>
          <p:cNvSpPr/>
          <p:nvPr/>
        </p:nvSpPr>
        <p:spPr>
          <a:xfrm>
            <a:off x="11048885" y="5428049"/>
            <a:ext cx="609607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4"/>
          <p:cNvSpPr/>
          <p:nvPr/>
        </p:nvSpPr>
        <p:spPr>
          <a:xfrm>
            <a:off x="11048885" y="4860368"/>
            <a:ext cx="6278959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인자가 없으면 생략 가능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4"/>
          <p:cNvSpPr/>
          <p:nvPr/>
        </p:nvSpPr>
        <p:spPr>
          <a:xfrm>
            <a:off x="1142997" y="6233025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4"/>
          <p:cNvSpPr/>
          <p:nvPr/>
        </p:nvSpPr>
        <p:spPr>
          <a:xfrm>
            <a:off x="1142997" y="5665344"/>
            <a:ext cx="3139410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allowed-tools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4"/>
          <p:cNvSpPr/>
          <p:nvPr/>
        </p:nvSpPr>
        <p:spPr>
          <a:xfrm>
            <a:off x="4571922" y="6233025"/>
            <a:ext cx="609600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4"/>
          <p:cNvSpPr/>
          <p:nvPr/>
        </p:nvSpPr>
        <p:spPr>
          <a:xfrm>
            <a:off x="4571922" y="5665344"/>
            <a:ext cx="6278889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호출한 턴에서 사전 승인할 도구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4"/>
          <p:cNvSpPr/>
          <p:nvPr/>
        </p:nvSpPr>
        <p:spPr>
          <a:xfrm>
            <a:off x="11048885" y="6233025"/>
            <a:ext cx="609607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4"/>
          <p:cNvSpPr/>
          <p:nvPr/>
        </p:nvSpPr>
        <p:spPr>
          <a:xfrm>
            <a:off x="11048885" y="5665344"/>
            <a:ext cx="6278959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허용 목록이 아니다. 의도할 때만 사용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4"/>
          <p:cNvSpPr/>
          <p:nvPr/>
        </p:nvSpPr>
        <p:spPr>
          <a:xfrm>
            <a:off x="1142997" y="8651212"/>
            <a:ext cx="8570559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길어지면 쪼갠다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4"/>
          <p:cNvSpPr/>
          <p:nvPr/>
        </p:nvSpPr>
        <p:spPr>
          <a:xfrm>
            <a:off x="1142997" y="9135013"/>
            <a:ext cx="8570559" cy="4661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90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자주 쓰는 판단은 </a:t>
            </a:r>
            <a:r>
              <a:rPr b="0" i="0" lang="en-US" sz="21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SKILL.md</a:t>
            </a: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에, 찾아보는 표는 </a:t>
            </a:r>
            <a:r>
              <a:rPr b="0" i="0" lang="en-US" sz="21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references/</a:t>
            </a: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에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4"/>
          <p:cNvSpPr/>
          <p:nvPr/>
        </p:nvSpPr>
        <p:spPr>
          <a:xfrm>
            <a:off x="9353477" y="8651212"/>
            <a:ext cx="8570633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만들지 말아야 할 때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4"/>
          <p:cNvSpPr/>
          <p:nvPr/>
        </p:nvSpPr>
        <p:spPr>
          <a:xfrm>
            <a:off x="9353477" y="9135013"/>
            <a:ext cx="8570633" cy="4661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90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절차가 확정되지 않았을 때 · 한 번만 할 일일 때 · </a:t>
            </a:r>
            <a:r>
              <a:rPr b="1" i="0" lang="en-US" sz="21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규칙일 때(</a:t>
            </a:r>
            <a:r>
              <a:rPr b="1" i="0" lang="en-US" sz="217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rules/</a:t>
            </a:r>
            <a:r>
              <a:rPr b="1" i="0" lang="en-US" sz="21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로)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5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실습 25분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5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스킬을 받아 쓰고, 하나 만들어 본다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5"/>
          <p:cNvSpPr/>
          <p:nvPr/>
        </p:nvSpPr>
        <p:spPr>
          <a:xfrm>
            <a:off x="1142997" y="2609208"/>
            <a:ext cx="9522834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실습 A — 남이 만든 스킬 (15분)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5"/>
          <p:cNvSpPr/>
          <p:nvPr/>
        </p:nvSpPr>
        <p:spPr>
          <a:xfrm>
            <a:off x="1142997" y="3169226"/>
            <a:ext cx="8916836" cy="9040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data@knowledge-work-plugins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설치. 깔기 전에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plugin details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로 값을 본다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5"/>
          <p:cNvSpPr/>
          <p:nvPr/>
        </p:nvSpPr>
        <p:spPr>
          <a:xfrm>
            <a:off x="1142997" y="4225680"/>
            <a:ext cx="8916836" cy="8953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답을 이미 아는 질문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을 던진다 — 행 45,004 · Invoice 2,209 · 고객 1,233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5"/>
          <p:cNvSpPr/>
          <p:nvPr/>
        </p:nvSpPr>
        <p:spPr>
          <a:xfrm>
            <a:off x="1142997" y="5273439"/>
            <a:ext cx="9522834" cy="466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같은 질문을 스킬 없이 던진다. 결과는 같아야 한다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5"/>
          <p:cNvSpPr/>
          <p:nvPr/>
        </p:nvSpPr>
        <p:spPr>
          <a:xfrm>
            <a:off x="1142997" y="5892557"/>
            <a:ext cx="8916836" cy="8953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무엇으로 계산했나 · 남은 파일 · 다시 돌리면 같은가 · 몇 번 주고받았나를 표로 채운다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5"/>
          <p:cNvSpPr/>
          <p:nvPr/>
        </p:nvSpPr>
        <p:spPr>
          <a:xfrm>
            <a:off x="1142997" y="6940316"/>
            <a:ext cx="8916836" cy="8953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⑤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없는 컬럼을 요구해 본다 — 무엇을 카테고리로 삼는지, 그 선택을 어디에 적는지 본다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5"/>
          <p:cNvSpPr/>
          <p:nvPr/>
        </p:nvSpPr>
        <p:spPr>
          <a:xfrm>
            <a:off x="10219182" y="2609208"/>
            <a:ext cx="6925779" cy="5188390"/>
          </a:xfrm>
          <a:prstGeom prst="roundRect">
            <a:avLst>
              <a:gd fmla="val 3672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5"/>
          <p:cNvSpPr/>
          <p:nvPr/>
        </p:nvSpPr>
        <p:spPr>
          <a:xfrm>
            <a:off x="10581116" y="2990162"/>
            <a:ext cx="6822104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실습 B — 내 스킬 (10분)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5"/>
          <p:cNvSpPr/>
          <p:nvPr/>
        </p:nvSpPr>
        <p:spPr>
          <a:xfrm>
            <a:off x="10581116" y="3550180"/>
            <a:ext cx="6387970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집계 단위별 카운트 + 결측 보고 절차를 만들어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/my-eda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로 굳힌다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5"/>
          <p:cNvSpPr/>
          <p:nvPr/>
        </p:nvSpPr>
        <p:spPr>
          <a:xfrm>
            <a:off x="10581116" y="4740729"/>
            <a:ext cx="6822104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확인할 것 셋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5"/>
          <p:cNvSpPr/>
          <p:nvPr/>
        </p:nvSpPr>
        <p:spPr>
          <a:xfrm>
            <a:off x="10581116" y="5257272"/>
            <a:ext cx="6387970" cy="1289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5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파일이 생겼는가 ·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"언제 부를지"를 말하는가 ·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/my-eda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없이 "이 CSV 좀 봐줘"만으로 걸리는가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5"/>
          <p:cNvSpPr/>
          <p:nvPr/>
        </p:nvSpPr>
        <p:spPr>
          <a:xfrm>
            <a:off x="1142997" y="8808267"/>
            <a:ext cx="16001964" cy="9525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35"/>
          <p:cNvSpPr/>
          <p:nvPr/>
        </p:nvSpPr>
        <p:spPr>
          <a:xfrm>
            <a:off x="1142997" y="9197962"/>
            <a:ext cx="16482023" cy="403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정답을 아는 질문으로 새 도구를 시험한다. </a:t>
            </a: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모르는 데이터에 새 도구를 쓰면 도구가 틀렸는지 내가 틀렸는지 판정할 수 없다.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36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6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여섯 문장으로 남는 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6"/>
          <p:cNvSpPr/>
          <p:nvPr/>
        </p:nvSpPr>
        <p:spPr>
          <a:xfrm>
            <a:off x="1142997" y="2571099"/>
            <a:ext cx="7877145" cy="1972700"/>
          </a:xfrm>
          <a:prstGeom prst="roundRect">
            <a:avLst>
              <a:gd fmla="val 86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6"/>
          <p:cNvSpPr/>
          <p:nvPr/>
        </p:nvSpPr>
        <p:spPr>
          <a:xfrm>
            <a:off x="1466822" y="2913944"/>
            <a:ext cx="7952446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6"/>
          <p:cNvSpPr/>
          <p:nvPr/>
        </p:nvSpPr>
        <p:spPr>
          <a:xfrm>
            <a:off x="1466822" y="3315141"/>
            <a:ext cx="7952446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MCP는 닿는 범위를, Skill은 따르는 절차를 늘린다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6"/>
          <p:cNvSpPr/>
          <p:nvPr/>
        </p:nvSpPr>
        <p:spPr>
          <a:xfrm>
            <a:off x="9267749" y="2571099"/>
            <a:ext cx="7877213" cy="1972700"/>
          </a:xfrm>
          <a:prstGeom prst="roundRect">
            <a:avLst>
              <a:gd fmla="val 86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6"/>
          <p:cNvSpPr/>
          <p:nvPr/>
        </p:nvSpPr>
        <p:spPr>
          <a:xfrm>
            <a:off x="9591573" y="2913944"/>
            <a:ext cx="795252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6"/>
          <p:cNvSpPr/>
          <p:nvPr/>
        </p:nvSpPr>
        <p:spPr>
          <a:xfrm>
            <a:off x="9591573" y="3315141"/>
            <a:ext cx="7446451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우리 모듈은 외부 MCP 연결을 쓰지 않는다 — 중복 · 리스크 · 시간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6"/>
          <p:cNvSpPr/>
          <p:nvPr/>
        </p:nvSpPr>
        <p:spPr>
          <a:xfrm>
            <a:off x="1142997" y="4791405"/>
            <a:ext cx="7877145" cy="1972700"/>
          </a:xfrm>
          <a:prstGeom prst="roundRect">
            <a:avLst>
              <a:gd fmla="val 86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6"/>
          <p:cNvSpPr/>
          <p:nvPr/>
        </p:nvSpPr>
        <p:spPr>
          <a:xfrm>
            <a:off x="1466822" y="5134250"/>
            <a:ext cx="7952446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6"/>
          <p:cNvSpPr/>
          <p:nvPr/>
        </p:nvSpPr>
        <p:spPr>
          <a:xfrm>
            <a:off x="1466822" y="5535447"/>
            <a:ext cx="7952446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플러그인 하나가 스킬·에이전트·MCP·훅을 함께 담는다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6"/>
          <p:cNvSpPr/>
          <p:nvPr/>
        </p:nvSpPr>
        <p:spPr>
          <a:xfrm>
            <a:off x="9267749" y="4791405"/>
            <a:ext cx="7877213" cy="1972700"/>
          </a:xfrm>
          <a:prstGeom prst="roundRect">
            <a:avLst>
              <a:gd fmla="val 86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36"/>
          <p:cNvSpPr/>
          <p:nvPr/>
        </p:nvSpPr>
        <p:spPr>
          <a:xfrm>
            <a:off x="9591573" y="5134250"/>
            <a:ext cx="795252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6"/>
          <p:cNvSpPr/>
          <p:nvPr/>
        </p:nvSpPr>
        <p:spPr>
          <a:xfrm>
            <a:off x="9591573" y="5535447"/>
            <a:ext cx="7446451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⭐는 저장소의 별이지 스킬 평가가 아니다. 색인은 설치 관리자가 아니다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6"/>
          <p:cNvSpPr/>
          <p:nvPr/>
        </p:nvSpPr>
        <p:spPr>
          <a:xfrm>
            <a:off x="1142997" y="7011711"/>
            <a:ext cx="7877145" cy="1972700"/>
          </a:xfrm>
          <a:prstGeom prst="roundRect">
            <a:avLst>
              <a:gd fmla="val 86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6"/>
          <p:cNvSpPr/>
          <p:nvPr/>
        </p:nvSpPr>
        <p:spPr>
          <a:xfrm>
            <a:off x="1466822" y="7354556"/>
            <a:ext cx="7952446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6"/>
          <p:cNvSpPr/>
          <p:nvPr/>
        </p:nvSpPr>
        <p:spPr>
          <a:xfrm>
            <a:off x="1466822" y="7755753"/>
            <a:ext cx="7446381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스킬 값은 always-on 목록 + on-invoke 본문으로 나뉜다. 그래서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가장 중요하다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6"/>
          <p:cNvSpPr/>
          <p:nvPr/>
        </p:nvSpPr>
        <p:spPr>
          <a:xfrm>
            <a:off x="9267749" y="7011711"/>
            <a:ext cx="7877213" cy="1972700"/>
          </a:xfrm>
          <a:prstGeom prst="roundRect">
            <a:avLst>
              <a:gd fmla="val 8691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36"/>
          <p:cNvSpPr/>
          <p:nvPr/>
        </p:nvSpPr>
        <p:spPr>
          <a:xfrm>
            <a:off x="9591573" y="7354556"/>
            <a:ext cx="795252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6"/>
          <p:cNvSpPr/>
          <p:nvPr/>
        </p:nvSpPr>
        <p:spPr>
          <a:xfrm>
            <a:off x="9591573" y="7755753"/>
            <a:ext cx="7446451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초안 → 확인·수정 반복 → 굳히기. 규칙은 스킬이 아니라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rules/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로 간다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37"/>
          <p:cNvSpPr/>
          <p:nvPr/>
        </p:nvSpPr>
        <p:spPr>
          <a:xfrm>
            <a:off x="1142997" y="3555547"/>
            <a:ext cx="1760216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 3 · 이 PART의 본론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7"/>
          <p:cNvSpPr/>
          <p:nvPr/>
        </p:nvSpPr>
        <p:spPr>
          <a:xfrm>
            <a:off x="1142997" y="4148308"/>
            <a:ext cx="17602160" cy="1177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3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서브에이전트와 협업 구조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7"/>
          <p:cNvSpPr/>
          <p:nvPr/>
        </p:nvSpPr>
        <p:spPr>
          <a:xfrm>
            <a:off x="1142997" y="5668455"/>
            <a:ext cx="12753970" cy="1101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3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왜 하나의 Claude에게 모든 작업을 맡기지 않는지, 그리고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우리 킷이 단계 간 공식 인수인계를 파일로 제한한 이유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38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8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단일 대화는 왜 무너지는가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8"/>
          <p:cNvSpPr/>
          <p:nvPr/>
        </p:nvSpPr>
        <p:spPr>
          <a:xfrm>
            <a:off x="1142997" y="2629927"/>
            <a:ext cx="3814769" cy="5651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8"/>
          <p:cNvSpPr/>
          <p:nvPr/>
        </p:nvSpPr>
        <p:spPr>
          <a:xfrm>
            <a:off x="1142997" y="2972160"/>
            <a:ext cx="4196246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8"/>
          <p:cNvSpPr/>
          <p:nvPr/>
        </p:nvSpPr>
        <p:spPr>
          <a:xfrm>
            <a:off x="1142997" y="3469615"/>
            <a:ext cx="4196246" cy="5266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76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컨텍스트 누적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8"/>
          <p:cNvSpPr/>
          <p:nvPr/>
        </p:nvSpPr>
        <p:spPr>
          <a:xfrm>
            <a:off x="1142997" y="4129559"/>
            <a:ext cx="3929212" cy="86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92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5번째 턴의 "취소 건 제외"가 25번째 턴 집계에는 들어가 있다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8"/>
          <p:cNvSpPr/>
          <p:nvPr/>
        </p:nvSpPr>
        <p:spPr>
          <a:xfrm>
            <a:off x="5205373" y="2629927"/>
            <a:ext cx="3814769" cy="5651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8"/>
          <p:cNvSpPr/>
          <p:nvPr/>
        </p:nvSpPr>
        <p:spPr>
          <a:xfrm>
            <a:off x="5205373" y="2972160"/>
            <a:ext cx="4196246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8"/>
          <p:cNvSpPr/>
          <p:nvPr/>
        </p:nvSpPr>
        <p:spPr>
          <a:xfrm>
            <a:off x="5205373" y="3469615"/>
            <a:ext cx="4196246" cy="5266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76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중간 실패의 전파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8"/>
          <p:cNvSpPr/>
          <p:nvPr/>
        </p:nvSpPr>
        <p:spPr>
          <a:xfrm>
            <a:off x="5205373" y="4129559"/>
            <a:ext cx="3929212" cy="86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92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3단계가 틀렸는데 7단계 결과에서야 발견한다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8"/>
          <p:cNvSpPr/>
          <p:nvPr/>
        </p:nvSpPr>
        <p:spPr>
          <a:xfrm>
            <a:off x="9267749" y="2629927"/>
            <a:ext cx="3814769" cy="5651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38"/>
          <p:cNvSpPr/>
          <p:nvPr/>
        </p:nvSpPr>
        <p:spPr>
          <a:xfrm>
            <a:off x="9267749" y="2972160"/>
            <a:ext cx="4196246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8"/>
          <p:cNvSpPr/>
          <p:nvPr/>
        </p:nvSpPr>
        <p:spPr>
          <a:xfrm>
            <a:off x="9267749" y="3469615"/>
            <a:ext cx="4196246" cy="5266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76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재설명 비용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8"/>
          <p:cNvSpPr/>
          <p:nvPr/>
        </p:nvSpPr>
        <p:spPr>
          <a:xfrm>
            <a:off x="9267749" y="4129559"/>
            <a:ext cx="3929212" cy="86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92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대화 기록만 넘겨서는 같은 작업을 재현하기 어렵다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8"/>
          <p:cNvSpPr/>
          <p:nvPr/>
        </p:nvSpPr>
        <p:spPr>
          <a:xfrm>
            <a:off x="13330125" y="2629927"/>
            <a:ext cx="3814837" cy="5651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8"/>
          <p:cNvSpPr/>
          <p:nvPr/>
        </p:nvSpPr>
        <p:spPr>
          <a:xfrm>
            <a:off x="13330125" y="2972160"/>
            <a:ext cx="4196321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8"/>
          <p:cNvSpPr/>
          <p:nvPr/>
        </p:nvSpPr>
        <p:spPr>
          <a:xfrm>
            <a:off x="13330125" y="3469615"/>
            <a:ext cx="4196321" cy="5266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76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검증 불가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8"/>
          <p:cNvSpPr/>
          <p:nvPr/>
        </p:nvSpPr>
        <p:spPr>
          <a:xfrm>
            <a:off x="13330125" y="4129559"/>
            <a:ext cx="3929282" cy="12781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92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"이 숫자는 어디서 나왔습니까?"에 "Claude가 그렇게 계산했습니다"는 답이 아니다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8"/>
          <p:cNvSpPr/>
          <p:nvPr/>
        </p:nvSpPr>
        <p:spPr>
          <a:xfrm>
            <a:off x="1142997" y="8700597"/>
            <a:ext cx="1600196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8"/>
          <p:cNvSpPr/>
          <p:nvPr/>
        </p:nvSpPr>
        <p:spPr>
          <a:xfrm>
            <a:off x="1142997" y="9145783"/>
            <a:ext cx="16482023" cy="4554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①②③은 </a:t>
            </a:r>
            <a:r>
              <a:rPr b="1" i="0" lang="en-US" sz="27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효율</a:t>
            </a: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 문제이고, ④는 </a:t>
            </a:r>
            <a:r>
              <a:rPr b="1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결과의 신뢰성</a:t>
            </a: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에 관한 문제다.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39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9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서브에이전트의 성질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9"/>
          <p:cNvSpPr/>
          <p:nvPr/>
        </p:nvSpPr>
        <p:spPr>
          <a:xfrm>
            <a:off x="1142997" y="2629927"/>
            <a:ext cx="7810505" cy="3777204"/>
          </a:xfrm>
          <a:prstGeom prst="roundRect">
            <a:avLst>
              <a:gd fmla="val 50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9"/>
          <p:cNvSpPr/>
          <p:nvPr/>
        </p:nvSpPr>
        <p:spPr>
          <a:xfrm>
            <a:off x="1562060" y="3087098"/>
            <a:ext cx="7669618" cy="498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독립 실행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39"/>
          <p:cNvSpPr/>
          <p:nvPr/>
        </p:nvSpPr>
        <p:spPr>
          <a:xfrm>
            <a:off x="1562060" y="3757436"/>
            <a:ext cx="7181551" cy="983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12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자기만의 컨텍스트 창에서 실행된다. 상위 대화 전체를 보지 않고, 위임 메시지와 프로젝트 지침을 받아 작업한다.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9"/>
          <p:cNvSpPr/>
          <p:nvPr/>
        </p:nvSpPr>
        <p:spPr>
          <a:xfrm>
            <a:off x="1562060" y="4911846"/>
            <a:ext cx="7669618" cy="4524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552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장점 — 집중도가 높고 역할이 명확하다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9"/>
          <p:cNvSpPr/>
          <p:nvPr/>
        </p:nvSpPr>
        <p:spPr>
          <a:xfrm>
            <a:off x="1562060" y="5535651"/>
            <a:ext cx="7669618" cy="4524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552"/>
              </a:lnSpc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단점 — 맥락을 따로 전달해야 한다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9"/>
          <p:cNvSpPr/>
          <p:nvPr/>
        </p:nvSpPr>
        <p:spPr>
          <a:xfrm>
            <a:off x="9334456" y="2629927"/>
            <a:ext cx="7810505" cy="3777204"/>
          </a:xfrm>
          <a:prstGeom prst="roundRect">
            <a:avLst>
              <a:gd fmla="val 50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39"/>
          <p:cNvSpPr/>
          <p:nvPr/>
        </p:nvSpPr>
        <p:spPr>
          <a:xfrm>
            <a:off x="9753519" y="3087098"/>
            <a:ext cx="7669618" cy="498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순차 또는 병렬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9"/>
          <p:cNvSpPr/>
          <p:nvPr/>
        </p:nvSpPr>
        <p:spPr>
          <a:xfrm>
            <a:off x="9753519" y="3757436"/>
            <a:ext cx="7181551" cy="983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12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의존성이 있으면 순차, 없으면 병렬. </a:t>
            </a: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우리 파이프라인은 전부 순차다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각 단계가 앞 단계 산출물을 입력으로 받으니까.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9"/>
          <p:cNvSpPr/>
          <p:nvPr/>
        </p:nvSpPr>
        <p:spPr>
          <a:xfrm>
            <a:off x="9753519" y="4911846"/>
            <a:ext cx="7669618" cy="4524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552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장점 — 병렬이면 시간이 줄어든다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9"/>
          <p:cNvSpPr/>
          <p:nvPr/>
        </p:nvSpPr>
        <p:spPr>
          <a:xfrm>
            <a:off x="9753519" y="5535651"/>
            <a:ext cx="7669618" cy="4524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552"/>
              </a:lnSpc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단점 — 에이전트 수와 문맥·실행 시간이 늘수록 사용량이 커진다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0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40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우리 킷에서는 파일로 인수인계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40"/>
          <p:cNvSpPr/>
          <p:nvPr/>
        </p:nvSpPr>
        <p:spPr>
          <a:xfrm>
            <a:off x="1142997" y="2287014"/>
            <a:ext cx="14716091" cy="733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일곱 역할은 서로를 직접 호출하지 않는다. 오케스트레이터가 순서대로 호출하고, 각 역할은 앞 단계 파일을 읽어 자기 산출물을 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40"/>
          <p:cNvSpPr/>
          <p:nvPr/>
        </p:nvSpPr>
        <p:spPr>
          <a:xfrm>
            <a:off x="1142997" y="3495292"/>
            <a:ext cx="2819249" cy="765848"/>
          </a:xfrm>
          <a:prstGeom prst="roundRect">
            <a:avLst>
              <a:gd fmla="val 17412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40"/>
          <p:cNvSpPr/>
          <p:nvPr/>
        </p:nvSpPr>
        <p:spPr>
          <a:xfrm>
            <a:off x="1428747" y="3723892"/>
            <a:ext cx="2332326" cy="3467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input/data.csv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40"/>
          <p:cNvSpPr/>
          <p:nvPr/>
        </p:nvSpPr>
        <p:spPr>
          <a:xfrm>
            <a:off x="4171744" y="3669534"/>
            <a:ext cx="438133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40"/>
          <p:cNvSpPr/>
          <p:nvPr/>
        </p:nvSpPr>
        <p:spPr>
          <a:xfrm>
            <a:off x="4743174" y="3477902"/>
            <a:ext cx="3014549" cy="800628"/>
          </a:xfrm>
          <a:prstGeom prst="roundRect">
            <a:avLst>
              <a:gd fmla="val 16656" name="adj"/>
            </a:avLst>
          </a:prstGeom>
          <a:solidFill>
            <a:srgbClr val="F7585C">
              <a:alpha val="18039"/>
            </a:srgbClr>
          </a:solidFill>
          <a:ln cap="flat" cmpd="sng" w="17375">
            <a:solidFill>
              <a:srgbClr val="F75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40"/>
          <p:cNvSpPr/>
          <p:nvPr/>
        </p:nvSpPr>
        <p:spPr>
          <a:xfrm>
            <a:off x="5046315" y="3723892"/>
            <a:ext cx="2498705" cy="3467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@data-ingestion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40"/>
          <p:cNvSpPr/>
          <p:nvPr/>
        </p:nvSpPr>
        <p:spPr>
          <a:xfrm>
            <a:off x="7967221" y="3669534"/>
            <a:ext cx="438133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40"/>
          <p:cNvSpPr/>
          <p:nvPr/>
        </p:nvSpPr>
        <p:spPr>
          <a:xfrm>
            <a:off x="8538651" y="3495292"/>
            <a:ext cx="3943090" cy="765848"/>
          </a:xfrm>
          <a:prstGeom prst="roundRect">
            <a:avLst>
              <a:gd fmla="val 17412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40"/>
          <p:cNvSpPr/>
          <p:nvPr/>
        </p:nvSpPr>
        <p:spPr>
          <a:xfrm>
            <a:off x="8824401" y="3723892"/>
            <a:ext cx="3489883" cy="3467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01_dataset_profile.md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40"/>
          <p:cNvSpPr/>
          <p:nvPr/>
        </p:nvSpPr>
        <p:spPr>
          <a:xfrm>
            <a:off x="12691238" y="3669534"/>
            <a:ext cx="438133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40"/>
          <p:cNvSpPr/>
          <p:nvPr/>
        </p:nvSpPr>
        <p:spPr>
          <a:xfrm>
            <a:off x="13262670" y="3477902"/>
            <a:ext cx="1248493" cy="800628"/>
          </a:xfrm>
          <a:prstGeom prst="roundRect">
            <a:avLst>
              <a:gd fmla="val 16656" name="adj"/>
            </a:avLst>
          </a:prstGeom>
          <a:solidFill>
            <a:srgbClr val="F7585C">
              <a:alpha val="18039"/>
            </a:srgbClr>
          </a:solidFill>
          <a:ln cap="flat" cmpd="sng" w="17375">
            <a:solidFill>
              <a:srgbClr val="F75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40"/>
          <p:cNvSpPr/>
          <p:nvPr/>
        </p:nvSpPr>
        <p:spPr>
          <a:xfrm>
            <a:off x="13565810" y="3723892"/>
            <a:ext cx="718413" cy="3467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@eda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40"/>
          <p:cNvSpPr/>
          <p:nvPr/>
        </p:nvSpPr>
        <p:spPr>
          <a:xfrm>
            <a:off x="14720661" y="3669534"/>
            <a:ext cx="438133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40"/>
          <p:cNvSpPr/>
          <p:nvPr/>
        </p:nvSpPr>
        <p:spPr>
          <a:xfrm>
            <a:off x="1142997" y="4488028"/>
            <a:ext cx="3140356" cy="765848"/>
          </a:xfrm>
          <a:prstGeom prst="roundRect">
            <a:avLst>
              <a:gd fmla="val 17412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40"/>
          <p:cNvSpPr/>
          <p:nvPr/>
        </p:nvSpPr>
        <p:spPr>
          <a:xfrm>
            <a:off x="1428747" y="4716628"/>
            <a:ext cx="2663067" cy="3467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02_eda_report.md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40"/>
          <p:cNvSpPr/>
          <p:nvPr/>
        </p:nvSpPr>
        <p:spPr>
          <a:xfrm>
            <a:off x="4492851" y="4662269"/>
            <a:ext cx="900672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…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40"/>
          <p:cNvSpPr/>
          <p:nvPr/>
        </p:nvSpPr>
        <p:spPr>
          <a:xfrm>
            <a:off x="1142997" y="5787265"/>
            <a:ext cx="5156192" cy="2049937"/>
          </a:xfrm>
          <a:prstGeom prst="roundRect">
            <a:avLst>
              <a:gd fmla="val 8364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40"/>
          <p:cNvSpPr/>
          <p:nvPr/>
        </p:nvSpPr>
        <p:spPr>
          <a:xfrm>
            <a:off x="1466822" y="6130110"/>
            <a:ext cx="4959397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40"/>
          <p:cNvSpPr/>
          <p:nvPr/>
        </p:nvSpPr>
        <p:spPr>
          <a:xfrm>
            <a:off x="1466822" y="6608544"/>
            <a:ext cx="4643799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전달 범위가 명확하다.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뒤 단계는 중간 대화가 아니라 합의된 산출물만 읽는다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40"/>
          <p:cNvSpPr/>
          <p:nvPr/>
        </p:nvSpPr>
        <p:spPr>
          <a:xfrm>
            <a:off x="6565884" y="5787265"/>
            <a:ext cx="5156192" cy="2049937"/>
          </a:xfrm>
          <a:prstGeom prst="roundRect">
            <a:avLst>
              <a:gd fmla="val 8364" name="adj"/>
            </a:avLst>
          </a:prstGeom>
          <a:solidFill>
            <a:srgbClr val="F7585C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40"/>
          <p:cNvSpPr/>
          <p:nvPr/>
        </p:nvSpPr>
        <p:spPr>
          <a:xfrm>
            <a:off x="6889708" y="6130110"/>
            <a:ext cx="4959397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40"/>
          <p:cNvSpPr/>
          <p:nvPr/>
        </p:nvSpPr>
        <p:spPr>
          <a:xfrm>
            <a:off x="6889708" y="6608544"/>
            <a:ext cx="4643799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사람이 중간에 열어볼 수 있다.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부산물이 아니라 설계 목표다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40"/>
          <p:cNvSpPr/>
          <p:nvPr/>
        </p:nvSpPr>
        <p:spPr>
          <a:xfrm>
            <a:off x="11988771" y="5787265"/>
            <a:ext cx="5156192" cy="2049937"/>
          </a:xfrm>
          <a:prstGeom prst="roundRect">
            <a:avLst>
              <a:gd fmla="val 8364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40"/>
          <p:cNvSpPr/>
          <p:nvPr/>
        </p:nvSpPr>
        <p:spPr>
          <a:xfrm>
            <a:off x="12312595" y="6130110"/>
            <a:ext cx="4959397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40"/>
          <p:cNvSpPr/>
          <p:nvPr/>
        </p:nvSpPr>
        <p:spPr>
          <a:xfrm>
            <a:off x="12312595" y="6608544"/>
            <a:ext cx="4643799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체크포인트가 된다.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@eda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가 실패해도 앞 산출물은 그대로다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F2"/>
        </a:solidFill>
      </p:bgPr>
    </p:bg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41"/>
          <p:cNvSpPr/>
          <p:nvPr/>
        </p:nvSpPr>
        <p:spPr>
          <a:xfrm>
            <a:off x="1142997" y="351689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비유 주의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41"/>
          <p:cNvSpPr/>
          <p:nvPr/>
        </p:nvSpPr>
        <p:spPr>
          <a:xfrm>
            <a:off x="1142997" y="4049809"/>
            <a:ext cx="15716214" cy="10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98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"회사 조직도"가 아니라 </a:t>
            </a:r>
            <a:r>
              <a:rPr b="1" i="0" lang="en-US" sz="60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공정 라인 + 작업 지시서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41"/>
          <p:cNvSpPr/>
          <p:nvPr/>
        </p:nvSpPr>
        <p:spPr>
          <a:xfrm>
            <a:off x="1142997" y="5497542"/>
            <a:ext cx="14668442" cy="5695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34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조직에서는 사람끼리 대화하지만, 우리 킷의 단계는 공식 산출물로 인수인계한다.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41"/>
          <p:cNvSpPr/>
          <p:nvPr/>
        </p:nvSpPr>
        <p:spPr>
          <a:xfrm>
            <a:off x="1142997" y="6238527"/>
            <a:ext cx="14668442" cy="5695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34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각 공정은 앞 공정의 산출물만 받고 옆 공정과 말하지 않는다.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42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3 · 가장 중요한 절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42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프롬프트에 쓴 말은 어디로 가는가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42"/>
          <p:cNvSpPr/>
          <p:nvPr/>
        </p:nvSpPr>
        <p:spPr>
          <a:xfrm>
            <a:off x="1142997" y="2571099"/>
            <a:ext cx="16001964" cy="1246659"/>
          </a:xfrm>
          <a:custGeom>
            <a:rect b="b" l="l" r="r" t="t"/>
            <a:pathLst>
              <a:path extrusionOk="0" h="1246659" w="16001964">
                <a:moveTo>
                  <a:pt x="0" y="0"/>
                </a:moveTo>
                <a:lnTo>
                  <a:pt x="15849564" y="0"/>
                </a:lnTo>
                <a:cubicBezTo>
                  <a:pt x="15889983" y="0"/>
                  <a:pt x="15928747" y="16056"/>
                  <a:pt x="15957327" y="44637"/>
                </a:cubicBezTo>
                <a:cubicBezTo>
                  <a:pt x="15985908" y="73217"/>
                  <a:pt x="16001964" y="111981"/>
                  <a:pt x="16001964" y="152400"/>
                </a:cubicBezTo>
                <a:lnTo>
                  <a:pt x="16001964" y="1094259"/>
                </a:lnTo>
                <a:cubicBezTo>
                  <a:pt x="16001964" y="1178427"/>
                  <a:pt x="15933732" y="1246659"/>
                  <a:pt x="15849564" y="1246659"/>
                </a:cubicBezTo>
                <a:lnTo>
                  <a:pt x="0" y="12466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42"/>
          <p:cNvSpPr/>
          <p:nvPr/>
        </p:nvSpPr>
        <p:spPr>
          <a:xfrm>
            <a:off x="1142997" y="2571099"/>
            <a:ext cx="56518" cy="1246659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42"/>
          <p:cNvSpPr/>
          <p:nvPr/>
        </p:nvSpPr>
        <p:spPr>
          <a:xfrm>
            <a:off x="1599566" y="2913999"/>
            <a:ext cx="15625405" cy="598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42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"우리 지금 마케팅 예산을 채널 간에 재배분할지 결정해야 해. 이 데이터 분석해줘."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42"/>
          <p:cNvSpPr/>
          <p:nvPr/>
        </p:nvSpPr>
        <p:spPr>
          <a:xfrm>
            <a:off x="1142997" y="4313039"/>
            <a:ext cx="17602160" cy="7815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그 말은 어디 있습니까?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42"/>
          <p:cNvSpPr/>
          <p:nvPr/>
        </p:nvSpPr>
        <p:spPr>
          <a:xfrm>
            <a:off x="1142997" y="5342185"/>
            <a:ext cx="17602160" cy="645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0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대화에는 있지만, </a:t>
            </a:r>
            <a:r>
              <a:rPr b="1" i="0" lang="en-US" sz="33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공식 입력 파일에는 없다.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42"/>
          <p:cNvSpPr/>
          <p:nvPr/>
        </p:nvSpPr>
        <p:spPr>
          <a:xfrm>
            <a:off x="1142997" y="6235606"/>
            <a:ext cx="16482023" cy="9828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오케스트레이터가 위임 메시지에 요약해 전달할 수는 있지만, 그 방식만으로는 재실행·공유·검증 때 같은 의도가 전달되었다는 것을 확인하기 어렵다.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43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43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못 보면 어떻게 되는가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43"/>
          <p:cNvSpPr/>
          <p:nvPr/>
        </p:nvSpPr>
        <p:spPr>
          <a:xfrm>
            <a:off x="1142997" y="2553709"/>
            <a:ext cx="16482023" cy="1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8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0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없다면 </a:t>
            </a:r>
            <a:r>
              <a:rPr b="0" i="0" lang="en-US" sz="28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@problem </a:t>
            </a:r>
            <a:r>
              <a:rPr b="0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은 앞둔 결정을 확인할 수 없는 채로 "우리가 해결해야 할 비즈니스 문제"를 정의한다.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43"/>
          <p:cNvSpPr/>
          <p:nvPr/>
        </p:nvSpPr>
        <p:spPr>
          <a:xfrm>
            <a:off x="1142997" y="3906203"/>
            <a:ext cx="17602160" cy="6424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그래서 만들어낸다.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43"/>
          <p:cNvSpPr/>
          <p:nvPr/>
        </p:nvSpPr>
        <p:spPr>
          <a:xfrm>
            <a:off x="1142997" y="4777208"/>
            <a:ext cx="16001964" cy="1276277"/>
          </a:xfrm>
          <a:prstGeom prst="roundRect">
            <a:avLst>
              <a:gd fmla="val 1343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43"/>
          <p:cNvSpPr/>
          <p:nvPr/>
        </p:nvSpPr>
        <p:spPr>
          <a:xfrm>
            <a:off x="1562097" y="5158208"/>
            <a:ext cx="15643823" cy="552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"지난 분기 대비 마진이 12% 감소했다" — 데이터에 실제로 그런 패턴이 있으니까.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43"/>
          <p:cNvSpPr/>
          <p:nvPr/>
        </p:nvSpPr>
        <p:spPr>
          <a:xfrm>
            <a:off x="1142997" y="6320179"/>
            <a:ext cx="17602160" cy="5524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그런데 그게 지금 여러분이 결정하려는 것과 관계가 있습니까?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43"/>
          <p:cNvSpPr/>
          <p:nvPr/>
        </p:nvSpPr>
        <p:spPr>
          <a:xfrm>
            <a:off x="1142997" y="8315500"/>
            <a:ext cx="16001964" cy="1247610"/>
          </a:xfrm>
          <a:prstGeom prst="roundRect">
            <a:avLst>
              <a:gd fmla="val 13742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43"/>
          <p:cNvSpPr/>
          <p:nvPr/>
        </p:nvSpPr>
        <p:spPr>
          <a:xfrm>
            <a:off x="1581081" y="8696454"/>
            <a:ext cx="16638377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이것이 이 과정이 가장 경계하는 실패다 —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내부적으로는 완벽하게 일관되고, 외부적으로는 아무 쓸모가 없는 분석.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44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3 · 해법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44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공식 인수인계가 파일이라면, 분석 의도도 파일이어야 한다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44"/>
          <p:cNvSpPr/>
          <p:nvPr/>
        </p:nvSpPr>
        <p:spPr>
          <a:xfrm>
            <a:off x="1142997" y="2571099"/>
            <a:ext cx="16001964" cy="2529593"/>
          </a:xfrm>
          <a:prstGeom prst="roundRect">
            <a:avLst>
              <a:gd fmla="val 7531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44"/>
          <p:cNvSpPr/>
          <p:nvPr/>
        </p:nvSpPr>
        <p:spPr>
          <a:xfrm>
            <a:off x="1600169" y="2990162"/>
            <a:ext cx="15540250" cy="601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41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runs/latest/input/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44"/>
          <p:cNvSpPr/>
          <p:nvPr/>
        </p:nvSpPr>
        <p:spPr>
          <a:xfrm>
            <a:off x="1600169" y="3553984"/>
            <a:ext cx="15540250" cy="601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41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online_retail.csv 데이터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44"/>
          <p:cNvSpPr/>
          <p:nvPr/>
        </p:nvSpPr>
        <p:spPr>
          <a:xfrm>
            <a:off x="1600169" y="4117807"/>
            <a:ext cx="15540250" cy="601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41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└── </a:t>
            </a:r>
            <a:r>
              <a:rPr b="0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사람이 쓴 분석 의도 ← 이것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44"/>
          <p:cNvSpPr/>
          <p:nvPr/>
        </p:nvSpPr>
        <p:spPr>
          <a:xfrm>
            <a:off x="1142997" y="5595973"/>
            <a:ext cx="17602160" cy="546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여러분이 씁니다. 에이전트가 읽습니다.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44"/>
          <p:cNvSpPr/>
          <p:nvPr/>
        </p:nvSpPr>
        <p:spPr>
          <a:xfrm>
            <a:off x="1142997" y="6314134"/>
            <a:ext cx="17602160" cy="5399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Part 2 Ch2에서 여러분이 만드는 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첫 번째 파일이 이것</a:t>
            </a:r>
            <a:r>
              <a:rPr b="0" i="0" lang="en-US" sz="25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이다. </a:t>
            </a:r>
            <a:r>
              <a:rPr b="0" i="0" lang="en-US" sz="25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5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보다 먼저다.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45"/>
          <p:cNvSpPr/>
          <p:nvPr/>
        </p:nvSpPr>
        <p:spPr>
          <a:xfrm>
            <a:off x="1142997" y="2396857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3 · 3 · 논리 체인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45"/>
          <p:cNvSpPr/>
          <p:nvPr/>
        </p:nvSpPr>
        <p:spPr>
          <a:xfrm>
            <a:off x="1142997" y="2929771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네 줄을 기억해 두세요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45"/>
          <p:cNvSpPr/>
          <p:nvPr/>
        </p:nvSpPr>
        <p:spPr>
          <a:xfrm>
            <a:off x="1142997" y="4334845"/>
            <a:ext cx="1362059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설계 규칙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45"/>
          <p:cNvSpPr/>
          <p:nvPr/>
        </p:nvSpPr>
        <p:spPr>
          <a:xfrm>
            <a:off x="2647928" y="4187028"/>
            <a:ext cx="6019649" cy="57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단계 간 공식 인수인계는 파일로 한다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45"/>
          <p:cNvSpPr/>
          <p:nvPr/>
        </p:nvSpPr>
        <p:spPr>
          <a:xfrm>
            <a:off x="1142997" y="5115841"/>
            <a:ext cx="1362059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귀결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45"/>
          <p:cNvSpPr/>
          <p:nvPr/>
        </p:nvSpPr>
        <p:spPr>
          <a:xfrm>
            <a:off x="2647928" y="4968024"/>
            <a:ext cx="8427538" cy="57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공식 입력에 없는 의도는 재실행 때 보장되지 않는다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45"/>
          <p:cNvSpPr/>
          <p:nvPr/>
        </p:nvSpPr>
        <p:spPr>
          <a:xfrm>
            <a:off x="1142997" y="5896837"/>
            <a:ext cx="1362059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구체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45"/>
          <p:cNvSpPr/>
          <p:nvPr/>
        </p:nvSpPr>
        <p:spPr>
          <a:xfrm>
            <a:off x="2647928" y="5749020"/>
            <a:ext cx="8427538" cy="57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분석 목적과 앞둔 결정도 확인 가능한 형태로 남긴다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45"/>
          <p:cNvSpPr/>
          <p:nvPr/>
        </p:nvSpPr>
        <p:spPr>
          <a:xfrm>
            <a:off x="1142997" y="6677833"/>
            <a:ext cx="1362059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해법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45"/>
          <p:cNvSpPr/>
          <p:nvPr/>
        </p:nvSpPr>
        <p:spPr>
          <a:xfrm>
            <a:off x="2647928" y="6530017"/>
            <a:ext cx="6723244" cy="57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분석 의도를 00_context.md에 기록한다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45"/>
          <p:cNvSpPr/>
          <p:nvPr/>
        </p:nvSpPr>
        <p:spPr>
          <a:xfrm>
            <a:off x="1142997" y="7520578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2와 Part 3의 설계가 이 논리에서 이어진다.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46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46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언제 쓰고 언제 과한가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46"/>
          <p:cNvSpPr/>
          <p:nvPr/>
        </p:nvSpPr>
        <p:spPr>
          <a:xfrm>
            <a:off x="1142997" y="3170857"/>
            <a:ext cx="7791417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46"/>
          <p:cNvSpPr/>
          <p:nvPr/>
        </p:nvSpPr>
        <p:spPr>
          <a:xfrm>
            <a:off x="1142997" y="2629927"/>
            <a:ext cx="8025159" cy="40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쓰면 좋을 때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46"/>
          <p:cNvSpPr/>
          <p:nvPr/>
        </p:nvSpPr>
        <p:spPr>
          <a:xfrm>
            <a:off x="1142997" y="3406439"/>
            <a:ext cx="8570559" cy="5095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25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작업이 쪼개질 때 </a:t>
            </a:r>
            <a:r>
              <a:rPr b="0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수집·분석·시각화처럼 역할이 나뉘는 작업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46"/>
          <p:cNvSpPr/>
          <p:nvPr/>
        </p:nvSpPr>
        <p:spPr>
          <a:xfrm>
            <a:off x="1142997" y="4087374"/>
            <a:ext cx="8570559" cy="5095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25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반복 실행이 잦을 때 </a:t>
            </a:r>
            <a:r>
              <a:rPr b="0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같은 파이프라인을 매주 돌려야 할 때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46"/>
          <p:cNvSpPr/>
          <p:nvPr/>
        </p:nvSpPr>
        <p:spPr>
          <a:xfrm>
            <a:off x="1142997" y="4768309"/>
            <a:ext cx="8570559" cy="5095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25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팀과 공유할 때 </a:t>
            </a:r>
            <a:r>
              <a:rPr b="0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폴더를 넘기면 절차가 넘어간다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46"/>
          <p:cNvSpPr/>
          <p:nvPr/>
        </p:nvSpPr>
        <p:spPr>
          <a:xfrm>
            <a:off x="1142997" y="5449244"/>
            <a:ext cx="8570559" cy="5095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25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검증이 필요할 때 </a:t>
            </a:r>
            <a:r>
              <a:rPr b="0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단계마다 확인할 파일이 남는다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46"/>
          <p:cNvSpPr/>
          <p:nvPr/>
        </p:nvSpPr>
        <p:spPr>
          <a:xfrm>
            <a:off x="9353477" y="3170857"/>
            <a:ext cx="779148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46"/>
          <p:cNvSpPr/>
          <p:nvPr/>
        </p:nvSpPr>
        <p:spPr>
          <a:xfrm>
            <a:off x="9353477" y="2629927"/>
            <a:ext cx="8025229" cy="40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과할 때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46"/>
          <p:cNvSpPr/>
          <p:nvPr/>
        </p:nvSpPr>
        <p:spPr>
          <a:xfrm>
            <a:off x="9353477" y="3406439"/>
            <a:ext cx="8025229" cy="9809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25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비용이 올라간다 </a:t>
            </a:r>
            <a:r>
              <a:rPr b="0" i="0" lang="en-US" sz="24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에이전트 수만큼 컨텍스트 창이 따로 생긴다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46"/>
          <p:cNvSpPr/>
          <p:nvPr/>
        </p:nvSpPr>
        <p:spPr>
          <a:xfrm>
            <a:off x="9353477" y="4558811"/>
            <a:ext cx="8570633" cy="5095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25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초기 설정이 필요하다 </a:t>
            </a:r>
            <a:r>
              <a:rPr b="0" i="0" lang="en-US" sz="24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파일 구성·역할 정의에 시간이 든다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46"/>
          <p:cNvSpPr/>
          <p:nvPr/>
        </p:nvSpPr>
        <p:spPr>
          <a:xfrm>
            <a:off x="9353477" y="5239746"/>
            <a:ext cx="8025229" cy="9809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25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간단한 작업엔 과하다 </a:t>
            </a:r>
            <a:r>
              <a:rPr b="0" i="0" lang="en-US" sz="24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"이 컬럼 평균 좀"에 7단계를 돌리지 않는다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46"/>
          <p:cNvSpPr/>
          <p:nvPr/>
        </p:nvSpPr>
        <p:spPr>
          <a:xfrm>
            <a:off x="1142997" y="8752768"/>
            <a:ext cx="1600196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46"/>
          <p:cNvSpPr/>
          <p:nvPr/>
        </p:nvSpPr>
        <p:spPr>
          <a:xfrm>
            <a:off x="1142997" y="9197953"/>
            <a:ext cx="16482023" cy="40325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파이프라인은 </a:t>
            </a: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비용과 설정 시간을 대가로 검증 가능성을 얻는 거래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47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47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에이전트 파일의 구조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47"/>
          <p:cNvSpPr/>
          <p:nvPr/>
        </p:nvSpPr>
        <p:spPr>
          <a:xfrm>
            <a:off x="1142997" y="2287014"/>
            <a:ext cx="17602160" cy="390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파일 하나에 에이전트 하나. 호출 이름은 프론트매터의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에서 온다.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47"/>
          <p:cNvSpPr/>
          <p:nvPr/>
        </p:nvSpPr>
        <p:spPr>
          <a:xfrm>
            <a:off x="1142997" y="3058228"/>
            <a:ext cx="9190912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위쪽 — YAML 프론트매터 (선언)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47"/>
          <p:cNvSpPr/>
          <p:nvPr/>
        </p:nvSpPr>
        <p:spPr>
          <a:xfrm>
            <a:off x="1142997" y="3577420"/>
            <a:ext cx="8355375" cy="3442578"/>
          </a:xfrm>
          <a:prstGeom prst="roundRect">
            <a:avLst>
              <a:gd fmla="val 4427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47"/>
          <p:cNvSpPr/>
          <p:nvPr/>
        </p:nvSpPr>
        <p:spPr>
          <a:xfrm>
            <a:off x="1466822" y="3882156"/>
            <a:ext cx="7938958" cy="442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1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name: data-ingestion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47"/>
          <p:cNvSpPr/>
          <p:nvPr/>
        </p:nvSpPr>
        <p:spPr>
          <a:xfrm>
            <a:off x="1466822" y="4286886"/>
            <a:ext cx="7938958" cy="12522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1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description: 데이터 파일을 받아 구조를 파악하고 품질을 진단한 뒤, 다음 단계가 쓸 프로파일과 확인 목록을 만든다. 분석이나 결론은 내지 않는다.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47"/>
          <p:cNvSpPr/>
          <p:nvPr/>
        </p:nvSpPr>
        <p:spPr>
          <a:xfrm>
            <a:off x="1466822" y="5501074"/>
            <a:ext cx="7938958" cy="442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1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tools: Read, Write, Bash, Glob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47"/>
          <p:cNvSpPr/>
          <p:nvPr/>
        </p:nvSpPr>
        <p:spPr>
          <a:xfrm>
            <a:off x="1466822" y="5905803"/>
            <a:ext cx="7938958" cy="442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1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model: claude-haiku-4-5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47"/>
          <p:cNvSpPr/>
          <p:nvPr/>
        </p:nvSpPr>
        <p:spPr>
          <a:xfrm>
            <a:off x="1466822" y="6310533"/>
            <a:ext cx="7938958" cy="442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1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permissionMode: auto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47"/>
          <p:cNvSpPr/>
          <p:nvPr/>
        </p:nvSpPr>
        <p:spPr>
          <a:xfrm>
            <a:off x="1142997" y="7191387"/>
            <a:ext cx="8606036" cy="86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9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가장 중요하다 — 한 줄로 쓰면 엉뚱한 때 호출된다. </a:t>
            </a: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tools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는 좁혀야 역할이 지켜진다.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47"/>
          <p:cNvSpPr/>
          <p:nvPr/>
        </p:nvSpPr>
        <p:spPr>
          <a:xfrm>
            <a:off x="9879326" y="3058228"/>
            <a:ext cx="7992124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아래쪽 — 마크다운 본문 (지침)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47"/>
          <p:cNvSpPr/>
          <p:nvPr/>
        </p:nvSpPr>
        <p:spPr>
          <a:xfrm>
            <a:off x="9879326" y="3577420"/>
            <a:ext cx="7265567" cy="3541213"/>
          </a:xfrm>
          <a:prstGeom prst="roundRect">
            <a:avLst>
              <a:gd fmla="val 4304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47"/>
          <p:cNvSpPr/>
          <p:nvPr/>
        </p:nvSpPr>
        <p:spPr>
          <a:xfrm>
            <a:off x="10203150" y="3882156"/>
            <a:ext cx="6816456" cy="5267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@data-ingestion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47"/>
          <p:cNvSpPr/>
          <p:nvPr/>
        </p:nvSpPr>
        <p:spPr>
          <a:xfrm>
            <a:off x="10203150" y="4370780"/>
            <a:ext cx="6816456" cy="5267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## 목적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47"/>
          <p:cNvSpPr/>
          <p:nvPr/>
        </p:nvSpPr>
        <p:spPr>
          <a:xfrm>
            <a:off x="10203150" y="4859403"/>
            <a:ext cx="6816456" cy="5267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## 인풋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47"/>
          <p:cNvSpPr/>
          <p:nvPr/>
        </p:nvSpPr>
        <p:spPr>
          <a:xfrm>
            <a:off x="10203150" y="5348027"/>
            <a:ext cx="6816456" cy="5267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## 작업 순서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47"/>
          <p:cNvSpPr/>
          <p:nvPr/>
        </p:nvSpPr>
        <p:spPr>
          <a:xfrm>
            <a:off x="10203150" y="5836651"/>
            <a:ext cx="6816456" cy="5267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## 아웃풋 형식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47"/>
          <p:cNvSpPr/>
          <p:nvPr/>
        </p:nvSpPr>
        <p:spPr>
          <a:xfrm>
            <a:off x="10203150" y="6325274"/>
            <a:ext cx="6816456" cy="5267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750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## 하지 않을 것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47"/>
          <p:cNvSpPr/>
          <p:nvPr/>
        </p:nvSpPr>
        <p:spPr>
          <a:xfrm>
            <a:off x="9879326" y="7290022"/>
            <a:ext cx="7992124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코드를 한 줄도 쓰지 않는다. 자연어로 지시한다.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48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48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"하지 않을 것"이 왜 필요한가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48"/>
          <p:cNvSpPr/>
          <p:nvPr/>
        </p:nvSpPr>
        <p:spPr>
          <a:xfrm>
            <a:off x="1142997" y="228701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초보자가 가장 자주 빠뜨리는 섹션이다. 없으면 이런 일이 생긴다.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48"/>
          <p:cNvSpPr/>
          <p:nvPr/>
        </p:nvSpPr>
        <p:spPr>
          <a:xfrm>
            <a:off x="1142997" y="3478514"/>
            <a:ext cx="7772396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48"/>
          <p:cNvSpPr/>
          <p:nvPr/>
        </p:nvSpPr>
        <p:spPr>
          <a:xfrm>
            <a:off x="1142997" y="3053880"/>
            <a:ext cx="8005568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시킨 것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48"/>
          <p:cNvSpPr/>
          <p:nvPr/>
        </p:nvSpPr>
        <p:spPr>
          <a:xfrm>
            <a:off x="9372565" y="3478514"/>
            <a:ext cx="7772396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48"/>
          <p:cNvSpPr/>
          <p:nvPr/>
        </p:nvSpPr>
        <p:spPr>
          <a:xfrm>
            <a:off x="9372565" y="3053880"/>
            <a:ext cx="8005568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실제로 하는 것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48"/>
          <p:cNvSpPr/>
          <p:nvPr/>
        </p:nvSpPr>
        <p:spPr>
          <a:xfrm>
            <a:off x="1142997" y="4280093"/>
            <a:ext cx="77723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48"/>
          <p:cNvSpPr/>
          <p:nvPr/>
        </p:nvSpPr>
        <p:spPr>
          <a:xfrm>
            <a:off x="1142997" y="3714149"/>
            <a:ext cx="8005568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구조 파악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48"/>
          <p:cNvSpPr/>
          <p:nvPr/>
        </p:nvSpPr>
        <p:spPr>
          <a:xfrm>
            <a:off x="9372565" y="4280093"/>
            <a:ext cx="77723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48"/>
          <p:cNvSpPr/>
          <p:nvPr/>
        </p:nvSpPr>
        <p:spPr>
          <a:xfrm>
            <a:off x="9372565" y="3714149"/>
            <a:ext cx="8005568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결론까지 낸다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48"/>
          <p:cNvSpPr/>
          <p:nvPr/>
        </p:nvSpPr>
        <p:spPr>
          <a:xfrm>
            <a:off x="1142997" y="5064281"/>
            <a:ext cx="77723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48"/>
          <p:cNvSpPr/>
          <p:nvPr/>
        </p:nvSpPr>
        <p:spPr>
          <a:xfrm>
            <a:off x="1142997" y="4498338"/>
            <a:ext cx="8005568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품질 진단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48"/>
          <p:cNvSpPr/>
          <p:nvPr/>
        </p:nvSpPr>
        <p:spPr>
          <a:xfrm>
            <a:off x="9372565" y="5064281"/>
            <a:ext cx="77723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48"/>
          <p:cNvSpPr/>
          <p:nvPr/>
        </p:nvSpPr>
        <p:spPr>
          <a:xfrm>
            <a:off x="9372565" y="4498338"/>
            <a:ext cx="8005568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차트를 만들려 한다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48"/>
          <p:cNvSpPr/>
          <p:nvPr/>
        </p:nvSpPr>
        <p:spPr>
          <a:xfrm>
            <a:off x="1142997" y="5848470"/>
            <a:ext cx="77723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48"/>
          <p:cNvSpPr/>
          <p:nvPr/>
        </p:nvSpPr>
        <p:spPr>
          <a:xfrm>
            <a:off x="1142997" y="5282526"/>
            <a:ext cx="8005568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결측 보고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48"/>
          <p:cNvSpPr/>
          <p:nvPr/>
        </p:nvSpPr>
        <p:spPr>
          <a:xfrm>
            <a:off x="9372565" y="5848470"/>
            <a:ext cx="77723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48"/>
          <p:cNvSpPr/>
          <p:nvPr/>
        </p:nvSpPr>
        <p:spPr>
          <a:xfrm>
            <a:off x="9372565" y="5282526"/>
            <a:ext cx="8005568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결측을 조용히 채운다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48"/>
          <p:cNvSpPr/>
          <p:nvPr/>
        </p:nvSpPr>
        <p:spPr>
          <a:xfrm>
            <a:off x="1142997" y="6989158"/>
            <a:ext cx="77723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48"/>
          <p:cNvSpPr/>
          <p:nvPr/>
        </p:nvSpPr>
        <p:spPr>
          <a:xfrm>
            <a:off x="1142997" y="6066716"/>
            <a:ext cx="8005568" cy="7509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컬럼 확인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48"/>
          <p:cNvSpPr/>
          <p:nvPr/>
        </p:nvSpPr>
        <p:spPr>
          <a:xfrm>
            <a:off x="9372565" y="6989158"/>
            <a:ext cx="77723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48"/>
          <p:cNvSpPr/>
          <p:nvPr/>
        </p:nvSpPr>
        <p:spPr>
          <a:xfrm>
            <a:off x="9372565" y="6066716"/>
            <a:ext cx="8005568" cy="7509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컬럼명을 깔끔하게 고쳐 놓는다 — 다음 단계가 원본 컬럼명을 알아야 하는데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48"/>
          <p:cNvSpPr/>
          <p:nvPr/>
        </p:nvSpPr>
        <p:spPr>
          <a:xfrm>
            <a:off x="1142997" y="7870012"/>
            <a:ext cx="933414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약함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48"/>
          <p:cNvSpPr/>
          <p:nvPr/>
        </p:nvSpPr>
        <p:spPr>
          <a:xfrm>
            <a:off x="2343056" y="7822189"/>
            <a:ext cx="1991605" cy="4293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"결론 내지 마"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48"/>
          <p:cNvSpPr/>
          <p:nvPr/>
        </p:nvSpPr>
        <p:spPr>
          <a:xfrm>
            <a:off x="1142997" y="8464811"/>
            <a:ext cx="933414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강함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48"/>
          <p:cNvSpPr/>
          <p:nvPr/>
        </p:nvSpPr>
        <p:spPr>
          <a:xfrm>
            <a:off x="2343056" y="8403945"/>
            <a:ext cx="8127298" cy="425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"관찰과 해석을 구분해 쓰고, 해석은 '…로 보인다'로만 쓴다"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48"/>
          <p:cNvSpPr/>
          <p:nvPr/>
        </p:nvSpPr>
        <p:spPr>
          <a:xfrm>
            <a:off x="1142997" y="9171854"/>
            <a:ext cx="16482023" cy="4293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자율성이 아니라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제약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품질을 만든다.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49"/>
          <p:cNvSpPr/>
          <p:nvPr/>
        </p:nvSpPr>
        <p:spPr>
          <a:xfrm>
            <a:off x="1142997" y="3072561"/>
            <a:ext cx="1760216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1을 마치며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49"/>
          <p:cNvSpPr/>
          <p:nvPr/>
        </p:nvSpPr>
        <p:spPr>
          <a:xfrm>
            <a:off x="1142997" y="3779581"/>
            <a:ext cx="15716214" cy="10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파일에 없는 것은 전달되지 않는다.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49"/>
          <p:cNvSpPr/>
          <p:nvPr/>
        </p:nvSpPr>
        <p:spPr>
          <a:xfrm>
            <a:off x="1142997" y="5227315"/>
            <a:ext cx="1523951" cy="57129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49"/>
          <p:cNvSpPr/>
          <p:nvPr/>
        </p:nvSpPr>
        <p:spPr>
          <a:xfrm>
            <a:off x="1142997" y="5741616"/>
            <a:ext cx="8465796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여기까지 배운 것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49"/>
          <p:cNvSpPr/>
          <p:nvPr/>
        </p:nvSpPr>
        <p:spPr>
          <a:xfrm>
            <a:off x="1142997" y="6239070"/>
            <a:ext cx="7927063" cy="10134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2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도구와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CLAUDE.md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MCP와 Skills · 서브에이전트 협업 구조와 파일 인수인계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49"/>
          <p:cNvSpPr/>
          <p:nvPr/>
        </p:nvSpPr>
        <p:spPr>
          <a:xfrm>
            <a:off x="9448715" y="5741616"/>
            <a:ext cx="8465871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2로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49"/>
          <p:cNvSpPr/>
          <p:nvPr/>
        </p:nvSpPr>
        <p:spPr>
          <a:xfrm>
            <a:off x="9448715" y="6239070"/>
            <a:ext cx="7927133" cy="10134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2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킷을 실제로 돌린다. 첫 번째로 만드는 파일이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