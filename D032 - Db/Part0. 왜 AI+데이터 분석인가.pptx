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" name="Google Shape;85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3" name="Google Shape;87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2997" y="2610702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AI 에이전트 활용 데이터 분석 파이프라인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2997" y="3470158"/>
            <a:ext cx="17602160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2997" y="4045529"/>
            <a:ext cx="17602160" cy="1379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8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왜 AI+데이터 분석인가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2997" y="5805674"/>
            <a:ext cx="1523951" cy="5712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142997" y="6358085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1. 왜 AI 기반 데이터 분석·시각화인가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2997" y="6879994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2. 좋은 분석 · 좋은 지표 · 좋은 시각화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42997" y="740190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3. 작업 환경 세팅 — Claude Code + VS Code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142997" y="952453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42997" y="1429868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분석가의 하루는 어디에 쓰이는가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142997" y="3519544"/>
            <a:ext cx="7658069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42997" y="2801383"/>
            <a:ext cx="438745" cy="546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손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676931" y="2936157"/>
            <a:ext cx="2446745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시간이 여기에 쓰인다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42997" y="3793235"/>
            <a:ext cx="8423876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 받아서 형태 확인하고 정리하기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42997" y="4526544"/>
            <a:ext cx="8423876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집계 쿼리 쓰고 고치기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142997" y="5259853"/>
            <a:ext cx="8423876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차트 그리고 색·축·레이블 맞추기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142997" y="5993162"/>
            <a:ext cx="8423876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문서·슬라이드로 옮기기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486824" y="3519544"/>
            <a:ext cx="7658137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9486824" y="2801383"/>
            <a:ext cx="801222" cy="546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판단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383235" y="2936157"/>
            <a:ext cx="2446745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가치가 여기서 나온다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486824" y="3793235"/>
            <a:ext cx="8423951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무엇을 물을지 정하기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486824" y="4526544"/>
            <a:ext cx="8423951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어떤 지표로 볼지 정하기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486824" y="5259853"/>
            <a:ext cx="8423951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숫자를 믿을지 정하기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486824" y="5993162"/>
            <a:ext cx="8423951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그래서 무엇을 할지 정하기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142997" y="9177243"/>
            <a:ext cx="16482023" cy="385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반복 실행이 분석 시간의 상당 부분을 가져가고, 판단은 남는 시간으로 밀린다.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1142997" y="952453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142997" y="1429868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AI가 바꾸는 것과 바꾸지 않는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142997" y="2763342"/>
            <a:ext cx="7810505" cy="5955665"/>
          </a:xfrm>
          <a:prstGeom prst="roundRect">
            <a:avLst>
              <a:gd fmla="val 319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1638278" y="3296732"/>
            <a:ext cx="750193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바꾸는 것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638278" y="3873121"/>
            <a:ext cx="7501938" cy="68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05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손 — 정리 · 쿼리 · 차트 · 문서화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638278" y="4821702"/>
            <a:ext cx="7501938" cy="525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반복적인 실행 업무의 부담을 크게 줄일 수 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334456" y="2763342"/>
            <a:ext cx="7810505" cy="5955665"/>
          </a:xfrm>
          <a:prstGeom prst="roundRect">
            <a:avLst>
              <a:gd fmla="val 3199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9829737" y="3296732"/>
            <a:ext cx="750193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바꾸지 않는 것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829737" y="3873121"/>
            <a:ext cx="7501938" cy="68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판단 — 오히려 더 중요해진다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9829737" y="4821702"/>
            <a:ext cx="7024542" cy="1013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손이 빨라지면 산출물이 많아지고, 틀린 산출물도 같이 많아진다.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142997" y="9138107"/>
            <a:ext cx="16482023" cy="4249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하나하나 검증할 사람은 여전히 여러분이다.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F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같은 질문, 다른 답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142997" y="232512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각자 Claude를 띄워 같은 CSV 조각에 같은 질문을 넣어 봅니다.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142997" y="3113727"/>
            <a:ext cx="16001964" cy="1081317"/>
          </a:xfrm>
          <a:prstGeom prst="roundRect">
            <a:avLst>
              <a:gd fmla="val 14094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1562097" y="3456627"/>
            <a:ext cx="15643823" cy="4336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이 데이터에서 문제가 있어 보이는 지점을 찾아줘.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142997" y="4614107"/>
            <a:ext cx="5156192" cy="1513966"/>
          </a:xfrm>
          <a:prstGeom prst="roundRect">
            <a:avLst>
              <a:gd fmla="val 100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447733" y="4937931"/>
            <a:ext cx="5001392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A의 결과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1447733" y="5375607"/>
            <a:ext cx="5001392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결측 · 중복을 지적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565884" y="4614107"/>
            <a:ext cx="5156192" cy="1513966"/>
          </a:xfrm>
          <a:prstGeom prst="roundRect">
            <a:avLst>
              <a:gd fmla="val 100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6870620" y="4937931"/>
            <a:ext cx="5001392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B의 결과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870620" y="5375607"/>
            <a:ext cx="5001392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이상치 · 단가 0을 지적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1988771" y="4614107"/>
            <a:ext cx="5156192" cy="1513966"/>
          </a:xfrm>
          <a:prstGeom prst="roundRect">
            <a:avLst>
              <a:gd fmla="val 100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12293505" y="4937931"/>
            <a:ext cx="5001392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C의 결과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2293505" y="5375607"/>
            <a:ext cx="5001392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취소 송장 구조를 지적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142997" y="6547135"/>
            <a:ext cx="17602160" cy="6424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누구 것이 맞았습니까?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142997" y="7341921"/>
            <a:ext cx="17602160" cy="510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2E333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E3339"/>
                </a:solidFill>
                <a:latin typeface="Arial"/>
                <a:ea typeface="Arial"/>
                <a:cs typeface="Arial"/>
                <a:sym typeface="Arial"/>
              </a:rPr>
              <a:t>성능이 낮아서가 아니다. 어느 답이 맞는지 확인할 </a:t>
            </a:r>
            <a:r>
              <a:rPr b="1" i="0" lang="en-US" sz="2400" u="none" cap="none" strike="noStrike">
                <a:solidFill>
                  <a:srgbClr val="2E3339"/>
                </a:solidFill>
                <a:latin typeface="Arial"/>
                <a:ea typeface="Arial"/>
                <a:cs typeface="Arial"/>
                <a:sym typeface="Arial"/>
              </a:rPr>
              <a:t>기준과 계산 근거가 없다</a:t>
            </a:r>
            <a:r>
              <a:rPr b="0" i="0" lang="en-US" sz="2400" u="none" cap="none" strike="noStrike">
                <a:solidFill>
                  <a:srgbClr val="2E3339"/>
                </a:solidFill>
                <a:latin typeface="Arial"/>
                <a:ea typeface="Arial"/>
                <a:cs typeface="Arial"/>
                <a:sym typeface="Arial"/>
              </a:rPr>
              <a:t>는 것이 문제다.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1142997" y="952453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142997" y="1429868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채팅과 Claude Code — 결과가 남는 곳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142997" y="2382320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차이는 성능이 아니라 구조다.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142997" y="3703839"/>
            <a:ext cx="5407738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6931689" y="3703839"/>
            <a:ext cx="491612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6931689" y="3209033"/>
            <a:ext cx="5063609" cy="3424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채팅 (웹 · 앱)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2228769" y="3703839"/>
            <a:ext cx="4916193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12228769" y="3209033"/>
            <a:ext cx="5063679" cy="3424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142997" y="4572941"/>
            <a:ext cx="5407738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142997" y="3977574"/>
            <a:ext cx="5569970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결과가 남는 곳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931689" y="4572941"/>
            <a:ext cx="4916126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6931689" y="3977574"/>
            <a:ext cx="5063609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주로 대화 기록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2228769" y="4572941"/>
            <a:ext cx="4916193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2228769" y="3977574"/>
            <a:ext cx="5063679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프로젝트 파일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142997" y="5424652"/>
            <a:ext cx="5407738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1142997" y="4829286"/>
            <a:ext cx="5569970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동료에게 넘기려면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931689" y="5424652"/>
            <a:ext cx="4916126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931689" y="4829286"/>
            <a:ext cx="5063609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대화 공유만으로는 재현이 어렵다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2228769" y="5424652"/>
            <a:ext cx="4916193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2228769" y="4829286"/>
            <a:ext cx="5063679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폴더 단위로 입력·절차·산출물 전달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142997" y="6276364"/>
            <a:ext cx="5407738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142997" y="5680997"/>
            <a:ext cx="5569970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중간 판단을 확인하려면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931689" y="6276364"/>
            <a:ext cx="4916126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931689" y="5680997"/>
            <a:ext cx="5063609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대화 기록을 추적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2228769" y="6276364"/>
            <a:ext cx="4916193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2228769" y="5680997"/>
            <a:ext cx="5063679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단계별 파일을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142997" y="6532709"/>
            <a:ext cx="5569970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일부만 다시 하려면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931689" y="6532709"/>
            <a:ext cx="5063609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작업을 다시 설명해야 할 수 있다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228769" y="6532709"/>
            <a:ext cx="5063679" cy="385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해당 단계만 재실행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142997" y="9138084"/>
            <a:ext cx="16482023" cy="4250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파일로 남으면 검증할 대상이 생긴다.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/>
          <p:nvPr/>
        </p:nvSpPr>
        <p:spPr>
          <a:xfrm>
            <a:off x="1142997" y="952453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142997" y="1429868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정직하게 — AI를 쓰면 나빠지는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142997" y="2382320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좋아지는 것만 말하면 기준이 서지 않는다.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142997" y="3971960"/>
            <a:ext cx="16001964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1142997" y="3354812"/>
            <a:ext cx="57148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943014" y="3285252"/>
            <a:ext cx="3562292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비용이 오른다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486198" y="3354812"/>
            <a:ext cx="6881509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에이전트 수와 문맥·실행 시간이 늘수록 사용량도 커진다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142997" y="4934059"/>
            <a:ext cx="16001964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1142997" y="4316911"/>
            <a:ext cx="57148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943014" y="4247350"/>
            <a:ext cx="3562292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초기 설정 시간이 든다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486198" y="4316911"/>
            <a:ext cx="333984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과정이 바로 그 비용이다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142997" y="5896158"/>
            <a:ext cx="16001964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1142997" y="5279010"/>
            <a:ext cx="57148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943014" y="5209449"/>
            <a:ext cx="3562292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간단한 일에는 과하다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486198" y="5279010"/>
            <a:ext cx="5271741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"이 컬럼 평균 좀"에 7단계를 돌리지 않는다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142997" y="6858256"/>
            <a:ext cx="16001964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1142997" y="6241109"/>
            <a:ext cx="57148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943014" y="6171548"/>
            <a:ext cx="4009438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그럴싸한 오답이 늘어난다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892693" y="6241109"/>
            <a:ext cx="5330175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형식이 완벽한 틀린 보고서가 가장 위험하다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142997" y="9138125"/>
            <a:ext cx="16482023" cy="4249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마지막 항목이 이 과정이 존재하는 이유다.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문장으로 남는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142997" y="2647317"/>
            <a:ext cx="7829526" cy="2287965"/>
          </a:xfrm>
          <a:prstGeom prst="roundRect">
            <a:avLst>
              <a:gd fmla="val 7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1543040" y="3066380"/>
            <a:ext cx="7732385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543040" y="3544814"/>
            <a:ext cx="7240325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분석 시간의 상당 부분은 반복 실행에 쓰이고, 가치는 판단에서 나온다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9315368" y="2647317"/>
            <a:ext cx="7829594" cy="2287965"/>
          </a:xfrm>
          <a:prstGeom prst="roundRect">
            <a:avLst>
              <a:gd fmla="val 7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9715410" y="3066380"/>
            <a:ext cx="77324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9715410" y="3544814"/>
            <a:ext cx="773246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AI는 반복 실행의 부담을 줄이고 판단의 비중을 키운다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142997" y="5278127"/>
            <a:ext cx="7829526" cy="2287965"/>
          </a:xfrm>
          <a:prstGeom prst="roundRect">
            <a:avLst>
              <a:gd fmla="val 74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1543040" y="5697189"/>
            <a:ext cx="7732385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543040" y="6175624"/>
            <a:ext cx="7240325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채팅과 Claude Code의 차이는 성능이 아니라 결과가 파일로 남는지다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9315368" y="5278127"/>
            <a:ext cx="7829594" cy="2287965"/>
          </a:xfrm>
          <a:prstGeom prst="roundRect">
            <a:avLst>
              <a:gd fmla="val 7494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9715410" y="5697189"/>
            <a:ext cx="77324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9715410" y="6175624"/>
            <a:ext cx="773246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파일로 남으면 검증할 대상이 생긴다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142997" y="7911246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1142997" y="8356394"/>
            <a:ext cx="1790696" cy="1244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3276556" y="8356394"/>
            <a:ext cx="7865468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1. AI를 쓰면 판단의 중요도가 왜 올라가는가?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3276556" y="8796719"/>
            <a:ext cx="7865468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2. "이 숫자 어디서 나왔습니까"에 채팅으로는 답하기 어려운 이유는?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276556" y="9237044"/>
            <a:ext cx="7865468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3. AI를 써서 나빠지는 것 두 가지를 말해 보세요.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1142997" y="3564242"/>
            <a:ext cx="17602160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1142997" y="4139612"/>
            <a:ext cx="17602160" cy="1177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좋은 분석 · 좋은 지표 · 좋은 시각화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142997" y="5659760"/>
            <a:ext cx="11772874" cy="110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과정 내내 여러분의 산출물을 채점할 기준. 그리고 킷의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.claude/rules/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 그 기준이 어떻게 코드처럼 박혀 있는지.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분석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좋은 분석의 네 조건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142997" y="2685426"/>
            <a:ext cx="3800436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1142997" y="3046680"/>
            <a:ext cx="4180479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1142997" y="3584961"/>
            <a:ext cx="3914449" cy="10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13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앞둔 결정에서 시작한다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1142997" y="4804176"/>
            <a:ext cx="3914449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데이터에서 시작하면 데이터가 답할 수 있는 것만 문제가 된다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210128" y="2685426"/>
            <a:ext cx="3800504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5210128" y="3046680"/>
            <a:ext cx="418055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210128" y="3584961"/>
            <a:ext cx="3914519" cy="10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13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답이 행동으로 이어진다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210128" y="4804176"/>
            <a:ext cx="3914519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실행할 수 없는 해결책은 해결책이 아니다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9277327" y="2685426"/>
            <a:ext cx="3800436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9277327" y="3046680"/>
            <a:ext cx="4180479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9277327" y="3584961"/>
            <a:ext cx="3914449" cy="10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13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반증 조건이 있다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9277327" y="4804176"/>
            <a:ext cx="3914449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채울 수 없는 결론은 아직 결론이 아니다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3344458" y="2685426"/>
            <a:ext cx="3800504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13344458" y="3046680"/>
            <a:ext cx="418055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3344458" y="3584961"/>
            <a:ext cx="4180554" cy="552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13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재현된다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3344458" y="4651807"/>
            <a:ext cx="39144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숫자를 만든 계산이 파일로 남아 있어야 한다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142997" y="9211005"/>
            <a:ext cx="16482023" cy="390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기준은 킷의 </a:t>
            </a:r>
            <a:r>
              <a:rPr b="0" i="0" lang="en-US" sz="2250" u="none" cap="none" strike="noStrike">
                <a:solidFill>
                  <a:srgbClr val="5F656C"/>
                </a:solidFill>
                <a:highlight>
                  <a:srgbClr val="F4F6F8"/>
                </a:highlight>
                <a:latin typeface="Courier New"/>
                <a:ea typeface="Courier New"/>
                <a:cs typeface="Courier New"/>
                <a:sym typeface="Courier New"/>
              </a:rPr>
              <a:t>.claude/rules/analysis-principles.md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그대로 들어 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분석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목표 · 활동 · 질문 · 결정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결정은 고르는 것이다. 무엇을 할지 / 얼마로 할지 / 어느 대안을 택할지.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1142997" y="3606834"/>
            <a:ext cx="1904973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1142997" y="3131117"/>
            <a:ext cx="1981173" cy="342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구분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3428924" y="3606834"/>
            <a:ext cx="11620587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3428924" y="3131117"/>
            <a:ext cx="11969205" cy="342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15430465" y="3606834"/>
            <a:ext cx="171449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15430465" y="3131117"/>
            <a:ext cx="1790696" cy="342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판정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1142997" y="4829174"/>
            <a:ext cx="19049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1142997" y="3861520"/>
            <a:ext cx="1981173" cy="7771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목표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3428924" y="4829174"/>
            <a:ext cx="1162058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3428924" y="3861520"/>
            <a:ext cx="11969205" cy="7771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"매출을 늘리고 싶다"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15430465" y="4829174"/>
            <a:ext cx="17144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15430465" y="3861520"/>
            <a:ext cx="1790696" cy="7771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✕ 결정이 아니다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142997" y="6403666"/>
            <a:ext cx="19049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1142997" y="5066470"/>
            <a:ext cx="1981173" cy="1146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활동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3428924" y="6403666"/>
            <a:ext cx="1162058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3428924" y="5066470"/>
            <a:ext cx="11969205" cy="1146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"데이터를 분석해 인사이트를 얻고 싶다"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5430465" y="6403666"/>
            <a:ext cx="17144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15430465" y="5066470"/>
            <a:ext cx="1790696" cy="1146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✕ 분석이 목적일 수 없다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142997" y="7608616"/>
            <a:ext cx="19049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1142997" y="6640961"/>
            <a:ext cx="1981173" cy="7771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질문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3428924" y="7608616"/>
            <a:ext cx="1162058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3428924" y="6640961"/>
            <a:ext cx="11969205" cy="7771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"고객이 왜 이탈하는지 알고 싶다"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15430465" y="7608616"/>
            <a:ext cx="17144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15430465" y="6640961"/>
            <a:ext cx="1790696" cy="7771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✕ 결정은 아니다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1142997" y="8444025"/>
            <a:ext cx="190497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1142997" y="7845911"/>
            <a:ext cx="1981173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3428924" y="8444025"/>
            <a:ext cx="1162058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3428924" y="7845911"/>
            <a:ext cx="1196920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"다음 시즌 구색에서 어떤 상품군을 뺄지 정해야 한다"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5430465" y="8444025"/>
            <a:ext cx="17144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15430465" y="7845911"/>
            <a:ext cx="1790696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142997" y="8681320"/>
            <a:ext cx="1981173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3428924" y="8681320"/>
            <a:ext cx="11969205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"재구매 유도와 신규 획득 중 어디에 예산을 쓸지"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15430465" y="8681320"/>
            <a:ext cx="1790696" cy="407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분석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목표를 결정으로 바꾸는 한 문장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방법은 하나다 — "그래서 무엇을 고르려는가"를 묻는 것.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142997" y="5467313"/>
            <a:ext cx="5791273" cy="1950079"/>
          </a:xfrm>
          <a:prstGeom prst="roundRect">
            <a:avLst>
              <a:gd fmla="val 9769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1562060" y="5924485"/>
            <a:ext cx="5448462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목표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1562060" y="6400201"/>
            <a:ext cx="5448462" cy="59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"매출을 늘리고 싶다"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7881501" y="5744809"/>
            <a:ext cx="1534395" cy="690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그래서 무엇을 고르려는가?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8343895" y="6530288"/>
            <a:ext cx="685808" cy="647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54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10363127" y="5187304"/>
            <a:ext cx="6781834" cy="2510097"/>
          </a:xfrm>
          <a:prstGeom prst="roundRect">
            <a:avLst>
              <a:gd fmla="val 7589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10782190" y="5644475"/>
            <a:ext cx="653808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10782190" y="6120192"/>
            <a:ext cx="6122020" cy="11581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"저효율 상품군을 뺄지, 프로모션으로 살릴지 고르려 한다"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분석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답이 행동으로 이어진다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1142997" y="2685426"/>
            <a:ext cx="17602160" cy="645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07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답을 알아도 할 일이 없는 질문은 분석 질문이 아니다.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1142997" y="3635976"/>
            <a:ext cx="17602160" cy="645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072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실행할 수 없는 해결책은 해결책이 아니다.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1142997" y="4777004"/>
            <a:ext cx="16001964" cy="1872774"/>
          </a:xfrm>
          <a:prstGeom prst="roundRect">
            <a:avLst>
              <a:gd fmla="val 101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1543040" y="5196067"/>
            <a:ext cx="16722067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1543040" y="5712609"/>
            <a:ext cx="16722067" cy="556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원가 데이터가 없는데 "마진이 낮은 상품을 빼라"는 결론은 쓸 수 없다.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1142997" y="8769139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1142997" y="9176224"/>
            <a:ext cx="16482023" cy="424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그래서 분석을 시작할 때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답이 나와도 할 수 없는 것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을 먼저 적어 둔다.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분석 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반증 조건이 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1142997" y="2342513"/>
            <a:ext cx="17602160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"이 결론이 틀렸다면 어디서 드러날까?"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1142997" y="3238787"/>
            <a:ext cx="5156192" cy="2088793"/>
          </a:xfrm>
          <a:prstGeom prst="roundRect">
            <a:avLst>
              <a:gd fmla="val 820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1485842" y="3619741"/>
            <a:ext cx="491755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반증 조건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1485842" y="4119913"/>
            <a:ext cx="4917552" cy="4514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무엇이 관찰되면 이 결론이 무너지는가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565884" y="3238787"/>
            <a:ext cx="5156192" cy="2088793"/>
          </a:xfrm>
          <a:prstGeom prst="roundRect">
            <a:avLst>
              <a:gd fmla="val 820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6908729" y="3619741"/>
            <a:ext cx="491755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확인 방법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6908729" y="4119913"/>
            <a:ext cx="4604617" cy="86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지금 데이터로 확인 가능한가, 무엇이 더 필요한가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11988771" y="3238787"/>
            <a:ext cx="5156192" cy="2088793"/>
          </a:xfrm>
          <a:prstGeom prst="roundRect">
            <a:avLst>
              <a:gd fmla="val 820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12331615" y="3619741"/>
            <a:ext cx="491755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대안 설명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12331615" y="4119913"/>
            <a:ext cx="4917552" cy="4514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같은 데이터를 설명하는 다른 가설 하나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1142997" y="5784752"/>
            <a:ext cx="16001964" cy="1782902"/>
          </a:xfrm>
          <a:prstGeom prst="roundRect">
            <a:avLst>
              <a:gd fmla="val 10685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1600169" y="6371399"/>
            <a:ext cx="609540" cy="609540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1562069" y="6371399"/>
            <a:ext cx="685740" cy="64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2343056" y="6478321"/>
            <a:ext cx="419113" cy="433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2819317" y="6371399"/>
            <a:ext cx="609540" cy="6095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2781217" y="6371399"/>
            <a:ext cx="685740" cy="64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3562204" y="6478321"/>
            <a:ext cx="419113" cy="433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038464" y="6371399"/>
            <a:ext cx="609540" cy="6095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4000364" y="6371399"/>
            <a:ext cx="685740" cy="64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4781351" y="6478321"/>
            <a:ext cx="419113" cy="433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5257612" y="6371399"/>
            <a:ext cx="609540" cy="6095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5219512" y="6371399"/>
            <a:ext cx="685740" cy="64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6324323" y="6203814"/>
            <a:ext cx="10674370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파이프라인이 앞으로만 가면 3단계에서 잘못 잡은 문제 정의가 7단계까지 그대로 정교해진다.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정교해진 오답이 거친 오답보다 위험하다.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분석 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재현된다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같은 데이터로 다시 돌리면 같은 숫자가 나와야 한다. 그러려면 숫자를 만든 계산이 남아 있어야 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1142997" y="3245444"/>
            <a:ext cx="4572058" cy="2480819"/>
          </a:xfrm>
          <a:prstGeom prst="roundRect">
            <a:avLst>
              <a:gd fmla="val 69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1504931" y="3626398"/>
            <a:ext cx="423301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계산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1504931" y="4064074"/>
            <a:ext cx="4233010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runs/latest/queries/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1504931" y="4527835"/>
            <a:ext cx="4233010" cy="438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수치를 만든 스크립트와 그 출력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6019791" y="3245444"/>
            <a:ext cx="609590" cy="2518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6857917" y="3245444"/>
            <a:ext cx="4572126" cy="2480819"/>
          </a:xfrm>
          <a:prstGeom prst="roundRect">
            <a:avLst>
              <a:gd fmla="val 69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7219850" y="3626398"/>
            <a:ext cx="4233085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문서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7219850" y="4064074"/>
            <a:ext cx="4233085" cy="3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05_analysis_report.md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7219850" y="4527835"/>
            <a:ext cx="3963707" cy="838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문서에 적힌 수치는 저장된 출력에서 온다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11734778" y="3245444"/>
            <a:ext cx="609590" cy="2518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12572903" y="3245444"/>
            <a:ext cx="4572058" cy="2480819"/>
          </a:xfrm>
          <a:prstGeom prst="roundRect">
            <a:avLst>
              <a:gd fmla="val 6911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12934837" y="3626398"/>
            <a:ext cx="423301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12934837" y="4064074"/>
            <a:ext cx="423301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"맞습니까?"에 답할 수 있다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12934837" y="4545225"/>
            <a:ext cx="3963637" cy="838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스크립트 없이 적은 수치는 "추정"으로 표시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1142997" y="6221545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1142997" y="6628630"/>
            <a:ext cx="16482023" cy="4554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위치를 아는 것과 검증하는 것은 다르다.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지표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요소가 다 있어야 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하나라도 빠지면 같은 이름의 지표가 사람마다 다른 숫자가 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142997" y="3644943"/>
            <a:ext cx="2666949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1142997" y="3169226"/>
            <a:ext cx="2746957" cy="342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요소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4267118" y="3644943"/>
            <a:ext cx="12877843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4267118" y="3169226"/>
            <a:ext cx="13264178" cy="342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없으면 생기는 일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1142997" y="4621783"/>
            <a:ext cx="26669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7"/>
          <p:cNvSpPr/>
          <p:nvPr/>
        </p:nvSpPr>
        <p:spPr>
          <a:xfrm>
            <a:off x="1142997" y="3937729"/>
            <a:ext cx="2746957" cy="4554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4267118" y="4621783"/>
            <a:ext cx="128778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4267118" y="3937729"/>
            <a:ext cx="13264178" cy="4554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1142997" y="5581232"/>
            <a:ext cx="26669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1142997" y="4897178"/>
            <a:ext cx="2746957" cy="4554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계산식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4267118" y="5581232"/>
            <a:ext cx="128778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4267118" y="4897178"/>
            <a:ext cx="13264178" cy="4554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"전환율"이 사람마다 다른 숫자가 된다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1142997" y="6540682"/>
            <a:ext cx="26669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1142997" y="5856627"/>
            <a:ext cx="2746957" cy="4554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단위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4267118" y="6540682"/>
            <a:ext cx="1287784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4267118" y="5856627"/>
            <a:ext cx="13264178" cy="4554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%, %p, 원, 건, 명 — 3%와 3%p를 섞는다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1142997" y="7500131"/>
            <a:ext cx="2666949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1142997" y="6816076"/>
            <a:ext cx="2746957" cy="4554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제외조건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4267118" y="7500131"/>
            <a:ext cx="12877843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4267118" y="6816076"/>
            <a:ext cx="13264178" cy="4554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표본이 조용히 달라진다. 같은 계산식으로 다른 값이 나온다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1142997" y="9145792"/>
            <a:ext cx="16482023" cy="4554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번째가 가장 자주 빠지고 가장 비싸다.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지표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제외조건에 적는 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계산에서 뺀 행과 그 이유. 그리고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빼지 않기로 한 것</a:t>
            </a: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도 적는다.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1142997" y="3169226"/>
            <a:ext cx="16001964" cy="5643389"/>
          </a:xfrm>
          <a:prstGeom prst="roundRect">
            <a:avLst>
              <a:gd fmla="val 3376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"/>
          <p:cNvSpPr/>
          <p:nvPr/>
        </p:nvSpPr>
        <p:spPr>
          <a:xfrm>
            <a:off x="1638278" y="3626398"/>
            <a:ext cx="16512543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- 제외: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취소 송장(Invoice가 C로 시작) 664행 — 매출 집계를 왜곡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1638278" y="4302646"/>
            <a:ext cx="16512543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- 제외: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단가 0 이하 222행 — 사은품인지 오류인지 불명. 확인 필요로 넘김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1638278" y="4978893"/>
            <a:ext cx="15461744" cy="8953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7DD3A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7DD3A0"/>
                </a:solidFill>
                <a:latin typeface="Courier New"/>
                <a:ea typeface="Courier New"/>
                <a:cs typeface="Courier New"/>
                <a:sym typeface="Courier New"/>
              </a:rPr>
              <a:t>- 유지: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고객 ID 결측 10,908행 — 매출 집계에는 영향 없음. 단, 고객 단위 지표에서는 제외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1142997" y="9193615"/>
            <a:ext cx="16482023" cy="4075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같은 데이터에서 지표마다 제외조건이 다를 수 있다.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지표별로 적는다.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지표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계산식은 실제 컬럼명으로, 분모를 먼저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1142997" y="2647317"/>
            <a:ext cx="8273858" cy="1399299"/>
          </a:xfrm>
          <a:prstGeom prst="roundRect">
            <a:avLst>
              <a:gd fmla="val 1089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1466822" y="2952053"/>
            <a:ext cx="8388831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나쁨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1466822" y="3389729"/>
            <a:ext cx="8388831" cy="390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Courier New"/>
                <a:ea typeface="Courier New"/>
                <a:cs typeface="Courier New"/>
                <a:sym typeface="Courier New"/>
              </a:rPr>
              <a:t>전환율 = 전환수 / 방문수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1142997" y="4275202"/>
            <a:ext cx="8273858" cy="1729713"/>
          </a:xfrm>
          <a:prstGeom prst="roundRect">
            <a:avLst>
              <a:gd fmla="val 881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1142997" y="4275202"/>
            <a:ext cx="56518" cy="1729713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1523340" y="4579938"/>
            <a:ext cx="8326661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좋음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1523340" y="5017613"/>
            <a:ext cx="7796782" cy="720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전환율 = SUM(conversions) / COUNT(DISTINCT session_id)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1142997" y="6233500"/>
            <a:ext cx="8522074" cy="9525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컬럼명을 쓰면 그 컬럼이 없을 때 바로 드러난다. 추상적으로 쓰면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없는 데이터를 가정한 지표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남는다.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9950246" y="2647317"/>
            <a:ext cx="7914113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비율 지표는 분자보다 분모가 어렵다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9950246" y="3397608"/>
            <a:ext cx="372852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10418286" y="3315005"/>
            <a:ext cx="5895831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어느 집계 단위인가 — 행 / 거래 / 고객 / 세션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9950246" y="4083366"/>
            <a:ext cx="372852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10418286" y="4000763"/>
            <a:ext cx="4246087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제외조건이 분모에도 적용되는가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9950246" y="4769124"/>
            <a:ext cx="372852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10418286" y="4686520"/>
            <a:ext cx="4038804" cy="49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분모가 0이 되는 경우가 있는가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지표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지표가 속일 수 있는 경우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각 지표에 한 줄. </a:t>
            </a: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개선 없이도 이 지표가 좋아지는 방법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있는가.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1142997" y="3207335"/>
            <a:ext cx="56518" cy="66666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0"/>
          <p:cNvSpPr/>
          <p:nvPr/>
        </p:nvSpPr>
        <p:spPr>
          <a:xfrm>
            <a:off x="1504316" y="3283535"/>
            <a:ext cx="16120705" cy="5523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저효율 채널을 집행 중단하면 평균 ROAS는 오르지만 총 매출은 줄어든다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1142997" y="4178741"/>
            <a:ext cx="56518" cy="66666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1504316" y="4254941"/>
            <a:ext cx="16120705" cy="5523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기준일을 요청일에서 확약일로 바꾸면 정시율이 저절로 오른다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1142997" y="5150146"/>
            <a:ext cx="56518" cy="66666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1504316" y="5226346"/>
            <a:ext cx="16120705" cy="5523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분모에서 신규 고객을 빼면 유지율이 올라간다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1142997" y="9171877"/>
            <a:ext cx="16482023" cy="429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이 칸을 채울 수 없는 지표는 대개 정의가 덜 된 지표다.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1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지표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선행 지표를 하나는 포함한다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결과 지표만 있으면 문제를 너무 늦게 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1142997" y="3207335"/>
            <a:ext cx="3814769" cy="2754783"/>
          </a:xfrm>
          <a:prstGeom prst="roundRect">
            <a:avLst>
              <a:gd fmla="val 622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1466822" y="3588289"/>
            <a:ext cx="348383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결과 지표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1466822" y="4107482"/>
            <a:ext cx="3262134" cy="14552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매출 이익률 고객 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5205373" y="3207335"/>
            <a:ext cx="3814769" cy="2754783"/>
          </a:xfrm>
          <a:prstGeom prst="roundRect">
            <a:avLst>
              <a:gd fmla="val 6224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1"/>
          <p:cNvSpPr/>
          <p:nvPr/>
        </p:nvSpPr>
        <p:spPr>
          <a:xfrm>
            <a:off x="5205373" y="3207335"/>
            <a:ext cx="3814769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"/>
          <p:cNvSpPr/>
          <p:nvPr/>
        </p:nvSpPr>
        <p:spPr>
          <a:xfrm>
            <a:off x="5529197" y="3644807"/>
            <a:ext cx="348383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선행 지표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5529197" y="4164000"/>
            <a:ext cx="3262134" cy="14552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클릭률 장바구니 추가율 반품률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9267749" y="3207335"/>
            <a:ext cx="3814769" cy="2754783"/>
          </a:xfrm>
          <a:prstGeom prst="roundRect">
            <a:avLst>
              <a:gd fmla="val 622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1"/>
          <p:cNvSpPr/>
          <p:nvPr/>
        </p:nvSpPr>
        <p:spPr>
          <a:xfrm>
            <a:off x="9591573" y="3588289"/>
            <a:ext cx="3483832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진단 지표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9591573" y="4107482"/>
            <a:ext cx="3262134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카테고리별 마진 할인 집중도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13330125" y="3207335"/>
            <a:ext cx="3814837" cy="2754783"/>
          </a:xfrm>
          <a:prstGeom prst="roundRect">
            <a:avLst>
              <a:gd fmla="val 622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13653949" y="3588289"/>
            <a:ext cx="3483907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파생 지표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13653949" y="4107482"/>
            <a:ext cx="3262204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매출 대비 할인액 비율 고객당 평균 구매액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2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시각화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좋은 시각화의 여섯 규칙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1142997" y="2647317"/>
            <a:ext cx="5156192" cy="1658318"/>
          </a:xfrm>
          <a:prstGeom prst="roundRect">
            <a:avLst>
              <a:gd fmla="val 103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1466822" y="3009250"/>
            <a:ext cx="4959397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1466822" y="3490401"/>
            <a:ext cx="4959397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차트는 질문에 답한다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6565884" y="2647317"/>
            <a:ext cx="5156192" cy="1658318"/>
          </a:xfrm>
          <a:prstGeom prst="roundRect">
            <a:avLst>
              <a:gd fmla="val 103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2"/>
          <p:cNvSpPr/>
          <p:nvPr/>
        </p:nvSpPr>
        <p:spPr>
          <a:xfrm>
            <a:off x="6889708" y="3009250"/>
            <a:ext cx="4959397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6889708" y="3490401"/>
            <a:ext cx="4959397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제목이 결론이거나 질문이다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11988771" y="2647317"/>
            <a:ext cx="5156192" cy="1658318"/>
          </a:xfrm>
          <a:prstGeom prst="roundRect">
            <a:avLst>
              <a:gd fmla="val 103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12312595" y="3009250"/>
            <a:ext cx="4959397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12312595" y="3490401"/>
            <a:ext cx="4959397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강조는 하나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1142997" y="4572329"/>
            <a:ext cx="5156192" cy="1658318"/>
          </a:xfrm>
          <a:prstGeom prst="roundRect">
            <a:avLst>
              <a:gd fmla="val 103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1466822" y="4934263"/>
            <a:ext cx="4959397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1466822" y="5415414"/>
            <a:ext cx="4959397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색은 마지막에 정한다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6565884" y="4572329"/>
            <a:ext cx="5156192" cy="1658318"/>
          </a:xfrm>
          <a:prstGeom prst="roundRect">
            <a:avLst>
              <a:gd fmla="val 103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6889708" y="4934263"/>
            <a:ext cx="4959397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6889708" y="5415414"/>
            <a:ext cx="4959397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이중 축을 만들지 않는다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11988771" y="4572329"/>
            <a:ext cx="5156192" cy="1658318"/>
          </a:xfrm>
          <a:prstGeom prst="roundRect">
            <a:avLst>
              <a:gd fmla="val 103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2"/>
          <p:cNvSpPr/>
          <p:nvPr/>
        </p:nvSpPr>
        <p:spPr>
          <a:xfrm>
            <a:off x="12312595" y="4934263"/>
            <a:ext cx="4959397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⑥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12312595" y="5415414"/>
            <a:ext cx="4959397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단위와 제외조건을 화면에 남긴다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1142997" y="9211005"/>
            <a:ext cx="16482023" cy="390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킷의 색상·타이포·여백 규칙은 </a:t>
            </a:r>
            <a:r>
              <a:rPr b="0" i="0" lang="en-US" sz="2250" u="none" cap="none" strike="noStrike">
                <a:solidFill>
                  <a:srgbClr val="5F656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.claude/rules/design-system.md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 단일 출처다.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3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시각화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차트는 질문에 답한다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차트를 고르기 전에 질문을 쓴다. 순서가 반대면 예쁜 장식이 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1142997" y="3207335"/>
            <a:ext cx="5130786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3"/>
          <p:cNvSpPr/>
          <p:nvPr/>
        </p:nvSpPr>
        <p:spPr>
          <a:xfrm>
            <a:off x="1142997" y="3568589"/>
            <a:ext cx="564386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현황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1142997" y="4125891"/>
            <a:ext cx="5643864" cy="5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1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지금 어디 있는가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1142997" y="4842081"/>
            <a:ext cx="5130786" cy="1142997"/>
          </a:xfrm>
          <a:prstGeom prst="roundRect">
            <a:avLst>
              <a:gd fmla="val 833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3"/>
          <p:cNvSpPr/>
          <p:nvPr/>
        </p:nvSpPr>
        <p:spPr>
          <a:xfrm>
            <a:off x="1066036" y="4842081"/>
            <a:ext cx="5284709" cy="1181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2,209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1142997" y="6194576"/>
            <a:ext cx="564386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KPI 카드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6578519" y="3207335"/>
            <a:ext cx="5130853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3"/>
          <p:cNvSpPr/>
          <p:nvPr/>
        </p:nvSpPr>
        <p:spPr>
          <a:xfrm>
            <a:off x="6578519" y="3568589"/>
            <a:ext cx="564393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추세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6578519" y="4125891"/>
            <a:ext cx="5643938" cy="5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1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흐름이 계속되는가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6578519" y="4842081"/>
            <a:ext cx="5130853" cy="1142997"/>
          </a:xfrm>
          <a:prstGeom prst="roundRect">
            <a:avLst>
              <a:gd fmla="val 833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3"/>
          <p:cNvSpPr/>
          <p:nvPr/>
        </p:nvSpPr>
        <p:spPr>
          <a:xfrm rot="-840000">
            <a:off x="6638064" y="5244323"/>
            <a:ext cx="4867276" cy="190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3"/>
          <p:cNvSpPr/>
          <p:nvPr/>
        </p:nvSpPr>
        <p:spPr>
          <a:xfrm>
            <a:off x="6578519" y="6194576"/>
            <a:ext cx="564393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라인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12014109" y="3207335"/>
            <a:ext cx="5130786" cy="5651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3"/>
          <p:cNvSpPr/>
          <p:nvPr/>
        </p:nvSpPr>
        <p:spPr>
          <a:xfrm>
            <a:off x="12014109" y="3568589"/>
            <a:ext cx="564386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구조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12014109" y="4125891"/>
            <a:ext cx="5643864" cy="5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1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누가 이 차이를 만들었는가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12014109" y="4842081"/>
            <a:ext cx="5130786" cy="1142997"/>
          </a:xfrm>
          <a:prstGeom prst="roundRect">
            <a:avLst>
              <a:gd fmla="val 833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3"/>
          <p:cNvSpPr/>
          <p:nvPr/>
        </p:nvSpPr>
        <p:spPr>
          <a:xfrm>
            <a:off x="12147455" y="4975496"/>
            <a:ext cx="896614" cy="876235"/>
          </a:xfrm>
          <a:prstGeom prst="roundRect">
            <a:avLst>
              <a:gd fmla="val 4348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3"/>
          <p:cNvSpPr/>
          <p:nvPr/>
        </p:nvSpPr>
        <p:spPr>
          <a:xfrm>
            <a:off x="13139307" y="5261212"/>
            <a:ext cx="896682" cy="590519"/>
          </a:xfrm>
          <a:prstGeom prst="roundRect">
            <a:avLst>
              <a:gd fmla="val 6452" name="adj"/>
            </a:avLst>
          </a:prstGeom>
          <a:solidFill>
            <a:srgbClr val="C9CE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3"/>
          <p:cNvSpPr/>
          <p:nvPr/>
        </p:nvSpPr>
        <p:spPr>
          <a:xfrm>
            <a:off x="14131228" y="5432668"/>
            <a:ext cx="896614" cy="419063"/>
          </a:xfrm>
          <a:prstGeom prst="roundRect">
            <a:avLst>
              <a:gd fmla="val 9092" name="adj"/>
            </a:avLst>
          </a:prstGeom>
          <a:solidFill>
            <a:srgbClr val="C9CE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3"/>
          <p:cNvSpPr/>
          <p:nvPr/>
        </p:nvSpPr>
        <p:spPr>
          <a:xfrm>
            <a:off x="15123080" y="5585036"/>
            <a:ext cx="896614" cy="266695"/>
          </a:xfrm>
          <a:prstGeom prst="roundRect">
            <a:avLst>
              <a:gd fmla="val 14286" name="adj"/>
            </a:avLst>
          </a:prstGeom>
          <a:solidFill>
            <a:srgbClr val="C9CE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3"/>
          <p:cNvSpPr/>
          <p:nvPr/>
        </p:nvSpPr>
        <p:spPr>
          <a:xfrm>
            <a:off x="16114933" y="5680343"/>
            <a:ext cx="896614" cy="171388"/>
          </a:xfrm>
          <a:prstGeom prst="roundRect">
            <a:avLst>
              <a:gd fmla="val 22230" name="adj"/>
            </a:avLst>
          </a:prstGeom>
          <a:solidFill>
            <a:srgbClr val="C9CE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12014109" y="6194576"/>
            <a:ext cx="5643864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정렬 막대 · 산점도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1142997" y="9171877"/>
            <a:ext cx="16482023" cy="429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답하는 질문이 없는 차트는 넣지 않는다.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시각화 ② 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제목이 결론이거나 질문이다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1142997" y="2647317"/>
            <a:ext cx="16001964" cy="1048574"/>
          </a:xfrm>
          <a:prstGeom prst="roundRect">
            <a:avLst>
              <a:gd fmla="val 1453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4"/>
          <p:cNvSpPr/>
          <p:nvPr/>
        </p:nvSpPr>
        <p:spPr>
          <a:xfrm>
            <a:off x="1485842" y="3019440"/>
            <a:ext cx="933414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나쁨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2685901" y="2952053"/>
            <a:ext cx="1770797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"매출 현황"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1142997" y="3905388"/>
            <a:ext cx="16001964" cy="1039879"/>
          </a:xfrm>
          <a:prstGeom prst="roundRect">
            <a:avLst>
              <a:gd fmla="val 146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4"/>
          <p:cNvSpPr/>
          <p:nvPr/>
        </p:nvSpPr>
        <p:spPr>
          <a:xfrm>
            <a:off x="1142997" y="3905388"/>
            <a:ext cx="56518" cy="103987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4"/>
          <p:cNvSpPr/>
          <p:nvPr/>
        </p:nvSpPr>
        <p:spPr>
          <a:xfrm>
            <a:off x="1542361" y="4273164"/>
            <a:ext cx="933414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좋음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4"/>
          <p:cNvSpPr/>
          <p:nvPr/>
        </p:nvSpPr>
        <p:spPr>
          <a:xfrm>
            <a:off x="2742420" y="4210124"/>
            <a:ext cx="5560024" cy="4685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"왜 Furniture 마진이 4배 낮은가?"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1142997" y="5154765"/>
            <a:ext cx="16001964" cy="1039879"/>
          </a:xfrm>
          <a:prstGeom prst="roundRect">
            <a:avLst>
              <a:gd fmla="val 146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4"/>
          <p:cNvSpPr/>
          <p:nvPr/>
        </p:nvSpPr>
        <p:spPr>
          <a:xfrm>
            <a:off x="1142997" y="5154765"/>
            <a:ext cx="56518" cy="103987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4"/>
          <p:cNvSpPr/>
          <p:nvPr/>
        </p:nvSpPr>
        <p:spPr>
          <a:xfrm>
            <a:off x="1542361" y="5522540"/>
            <a:ext cx="933414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좋음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4"/>
          <p:cNvSpPr/>
          <p:nvPr/>
        </p:nvSpPr>
        <p:spPr>
          <a:xfrm>
            <a:off x="2742420" y="5459501"/>
            <a:ext cx="6527544" cy="4685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"예산이 효율과 역방향으로 배분되어 있다"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1142997" y="6728034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4"/>
          <p:cNvSpPr/>
          <p:nvPr/>
        </p:nvSpPr>
        <p:spPr>
          <a:xfrm>
            <a:off x="1142997" y="7173182"/>
            <a:ext cx="8507716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"현황"은 제목이 아니다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1142997" y="7716829"/>
            <a:ext cx="7966316" cy="49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무엇을 봐야 하는지 알려주지 않는다.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9410674" y="7173182"/>
            <a:ext cx="8507716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강조는 하나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9410674" y="7716829"/>
            <a:ext cx="7966316" cy="49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모든 것을 강조하면 아무것도 강조되지 않는다.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5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시각화 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색은 마지막에 정한다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형태가 먼저다. 대부분의 나쁜 차트는 색을 먼저 고른다.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1142997" y="3207335"/>
            <a:ext cx="7848614" cy="1810482"/>
          </a:xfrm>
          <a:prstGeom prst="roundRect">
            <a:avLst>
              <a:gd fmla="val 947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5"/>
          <p:cNvSpPr/>
          <p:nvPr/>
        </p:nvSpPr>
        <p:spPr>
          <a:xfrm>
            <a:off x="1504931" y="3588289"/>
            <a:ext cx="7837222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계열색은 순서대로 배정하고 순환시키지 않는다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5"/>
          <p:cNvSpPr/>
          <p:nvPr/>
        </p:nvSpPr>
        <p:spPr>
          <a:xfrm>
            <a:off x="1504931" y="4193957"/>
            <a:ext cx="7837222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색은 항목에 붙고, 순위에 붙지 않는다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9296348" y="3207335"/>
            <a:ext cx="7848614" cy="1810482"/>
          </a:xfrm>
          <a:prstGeom prst="roundRect">
            <a:avLst>
              <a:gd fmla="val 947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9658281" y="3588289"/>
            <a:ext cx="7837222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KPI 수치에 색을 쓰지 않는다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9658281" y="4193957"/>
            <a:ext cx="7837222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증감은 부호와 화살표로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1142997" y="5322553"/>
            <a:ext cx="7848614" cy="1810482"/>
          </a:xfrm>
          <a:prstGeom prst="roundRect">
            <a:avLst>
              <a:gd fmla="val 947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5"/>
          <p:cNvSpPr/>
          <p:nvPr/>
        </p:nvSpPr>
        <p:spPr>
          <a:xfrm>
            <a:off x="1504931" y="5703507"/>
            <a:ext cx="7837222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색만으로 의미를 전달하지 않는다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1504931" y="6309175"/>
            <a:ext cx="7837222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범례 + 직접 레이블을 함께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9296348" y="5322553"/>
            <a:ext cx="7848614" cy="1810482"/>
          </a:xfrm>
          <a:prstGeom prst="roundRect">
            <a:avLst>
              <a:gd fmla="val 947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5"/>
          <p:cNvSpPr/>
          <p:nvPr/>
        </p:nvSpPr>
        <p:spPr>
          <a:xfrm>
            <a:off x="9658281" y="5703507"/>
            <a:ext cx="7837222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6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상태색을 계열색으로 재사용하지 않는다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9658281" y="6309175"/>
            <a:ext cx="7837222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좋음 · 경고 · 위험은 항상 레이블과 함께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6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좋은 시각화 ⑤ ⑥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6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이중 축을 만들지 않는다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6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차트 실수 1위. 축의 스케일을 조절하면 어떤 관계든 만들어낼 수 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6"/>
          <p:cNvSpPr/>
          <p:nvPr/>
        </p:nvSpPr>
        <p:spPr>
          <a:xfrm>
            <a:off x="1142997" y="3169226"/>
            <a:ext cx="7810505" cy="2478442"/>
          </a:xfrm>
          <a:prstGeom prst="roundRect">
            <a:avLst>
              <a:gd fmla="val 6918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6"/>
          <p:cNvSpPr/>
          <p:nvPr/>
        </p:nvSpPr>
        <p:spPr>
          <a:xfrm>
            <a:off x="1504931" y="3550180"/>
            <a:ext cx="7795302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대신 이렇게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/>
          <p:nvPr/>
        </p:nvSpPr>
        <p:spPr>
          <a:xfrm>
            <a:off x="1504931" y="4104832"/>
            <a:ext cx="7795302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스케일이 다른 두 지표는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차트를 나눈다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/>
          <p:nvPr/>
        </p:nvSpPr>
        <p:spPr>
          <a:xfrm>
            <a:off x="1504931" y="4781012"/>
            <a:ext cx="7795302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또는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공통 기준으로 지수화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6"/>
          <p:cNvSpPr/>
          <p:nvPr/>
        </p:nvSpPr>
        <p:spPr>
          <a:xfrm>
            <a:off x="9334456" y="3169226"/>
            <a:ext cx="7810505" cy="2478442"/>
          </a:xfrm>
          <a:prstGeom prst="roundRect">
            <a:avLst>
              <a:gd fmla="val 6918" name="adj"/>
            </a:avLst>
          </a:prstGeom>
          <a:solidFill>
            <a:srgbClr val="F7585C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6"/>
          <p:cNvSpPr/>
          <p:nvPr/>
        </p:nvSpPr>
        <p:spPr>
          <a:xfrm>
            <a:off x="9334456" y="3169226"/>
            <a:ext cx="56518" cy="247844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6"/>
          <p:cNvSpPr/>
          <p:nvPr/>
        </p:nvSpPr>
        <p:spPr>
          <a:xfrm>
            <a:off x="9752908" y="3550180"/>
            <a:ext cx="7733132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화면에 남길 한 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6"/>
          <p:cNvSpPr/>
          <p:nvPr/>
        </p:nvSpPr>
        <p:spPr>
          <a:xfrm>
            <a:off x="9752908" y="4104832"/>
            <a:ext cx="7241024" cy="9525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거래 단위 집계 · 취소 송장 제외 · 2010-12 ~ 2011-11 · n=2,209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6"/>
          <p:cNvSpPr/>
          <p:nvPr/>
        </p:nvSpPr>
        <p:spPr>
          <a:xfrm>
            <a:off x="1142997" y="9171877"/>
            <a:ext cx="16482023" cy="429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한 줄이 없으면 보는 사람이 다른 숫자를 기대한다.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F2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7"/>
          <p:cNvSpPr/>
          <p:nvPr/>
        </p:nvSpPr>
        <p:spPr>
          <a:xfrm>
            <a:off x="1142997" y="3314462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공통 함정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1142997" y="3907223"/>
            <a:ext cx="17602160" cy="108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948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다섯 개의 함정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7"/>
          <p:cNvSpPr/>
          <p:nvPr/>
        </p:nvSpPr>
        <p:spPr>
          <a:xfrm>
            <a:off x="1142997" y="5377848"/>
            <a:ext cx="2238240" cy="76788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1523997" y="5568348"/>
            <a:ext cx="1552440" cy="424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평균의 함정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7"/>
          <p:cNvSpPr/>
          <p:nvPr/>
        </p:nvSpPr>
        <p:spPr>
          <a:xfrm>
            <a:off x="3571714" y="5377848"/>
            <a:ext cx="2238240" cy="76788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3952714" y="5568348"/>
            <a:ext cx="1552440" cy="424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평균의 평균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7"/>
          <p:cNvSpPr/>
          <p:nvPr/>
        </p:nvSpPr>
        <p:spPr>
          <a:xfrm>
            <a:off x="6000431" y="5377848"/>
            <a:ext cx="2594942" cy="76788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7"/>
          <p:cNvSpPr/>
          <p:nvPr/>
        </p:nvSpPr>
        <p:spPr>
          <a:xfrm>
            <a:off x="6381431" y="5568348"/>
            <a:ext cx="1910791" cy="424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집계 단위 혼동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7"/>
          <p:cNvSpPr/>
          <p:nvPr/>
        </p:nvSpPr>
        <p:spPr>
          <a:xfrm>
            <a:off x="8785850" y="5377848"/>
            <a:ext cx="1958366" cy="76788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7"/>
          <p:cNvSpPr/>
          <p:nvPr/>
        </p:nvSpPr>
        <p:spPr>
          <a:xfrm>
            <a:off x="9166850" y="5568348"/>
            <a:ext cx="1272566" cy="424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표본 크기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7"/>
          <p:cNvSpPr/>
          <p:nvPr/>
        </p:nvSpPr>
        <p:spPr>
          <a:xfrm>
            <a:off x="10934693" y="5377848"/>
            <a:ext cx="2243946" cy="76788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11315693" y="5568348"/>
            <a:ext cx="1558146" cy="424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상관 ≠ 인과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1142997" y="6602906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세 영역에 걸치는 함정이다. 과정 내내 계속 나온다.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8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함정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평균의 함정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치우친 분포에서 평균은 대표값이 아니다.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1142997" y="3207335"/>
            <a:ext cx="16001964" cy="1201010"/>
          </a:xfrm>
          <a:prstGeom prst="roundRect">
            <a:avLst>
              <a:gd fmla="val 1427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8"/>
          <p:cNvSpPr/>
          <p:nvPr/>
        </p:nvSpPr>
        <p:spPr>
          <a:xfrm>
            <a:off x="1543040" y="3655676"/>
            <a:ext cx="209547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발견이 아니다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3790858" y="3588289"/>
            <a:ext cx="4033797" cy="477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"평균 구매액은 18.7이다"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1142997" y="4655952"/>
            <a:ext cx="16001964" cy="1286670"/>
          </a:xfrm>
          <a:prstGeom prst="roundRect">
            <a:avLst>
              <a:gd fmla="val 13325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8"/>
          <p:cNvSpPr/>
          <p:nvPr/>
        </p:nvSpPr>
        <p:spPr>
          <a:xfrm>
            <a:off x="1543040" y="5147089"/>
            <a:ext cx="209547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발견이다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3790858" y="5036905"/>
            <a:ext cx="10451647" cy="562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7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"중위수 9.9인데 평균 18.7 — 소수 대형 거래가 평균을 끌어올린다"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1142997" y="8731030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/>
          <p:nvPr/>
        </p:nvSpPr>
        <p:spPr>
          <a:xfrm>
            <a:off x="1142997" y="9176216"/>
            <a:ext cx="16482023" cy="4249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분포가 치우쳤다면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평균과 중위수를 함께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적는다. 두 값의 차이가 크면 그 원인이 다음 단서다.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9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함정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9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평균의 평균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9"/>
          <p:cNvSpPr/>
          <p:nvPr/>
        </p:nvSpPr>
        <p:spPr>
          <a:xfrm>
            <a:off x="1142997" y="2685426"/>
            <a:ext cx="16001964" cy="1390604"/>
          </a:xfrm>
          <a:prstGeom prst="roundRect">
            <a:avLst>
              <a:gd fmla="val 123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9"/>
          <p:cNvSpPr/>
          <p:nvPr/>
        </p:nvSpPr>
        <p:spPr>
          <a:xfrm>
            <a:off x="1581081" y="3185054"/>
            <a:ext cx="1219197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틀림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9"/>
          <p:cNvSpPr/>
          <p:nvPr/>
        </p:nvSpPr>
        <p:spPr>
          <a:xfrm>
            <a:off x="3105032" y="3104489"/>
            <a:ext cx="7478250" cy="590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14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일별 전환율을 단순 평균해서 월 전환율로 쓴다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9"/>
          <p:cNvSpPr/>
          <p:nvPr/>
        </p:nvSpPr>
        <p:spPr>
          <a:xfrm>
            <a:off x="1142997" y="4418874"/>
            <a:ext cx="16001964" cy="1390604"/>
          </a:xfrm>
          <a:prstGeom prst="roundRect">
            <a:avLst>
              <a:gd fmla="val 123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9"/>
          <p:cNvSpPr/>
          <p:nvPr/>
        </p:nvSpPr>
        <p:spPr>
          <a:xfrm>
            <a:off x="1142997" y="4418874"/>
            <a:ext cx="56518" cy="1390604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9"/>
          <p:cNvSpPr/>
          <p:nvPr/>
        </p:nvSpPr>
        <p:spPr>
          <a:xfrm>
            <a:off x="1637599" y="4918503"/>
            <a:ext cx="1219197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맞음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9"/>
          <p:cNvSpPr/>
          <p:nvPr/>
        </p:nvSpPr>
        <p:spPr>
          <a:xfrm>
            <a:off x="3161550" y="4837937"/>
            <a:ext cx="6505874" cy="590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1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월 전환율 = 월간 분자 합 ÷ 월간 분모 합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1142997" y="9176215"/>
            <a:ext cx="16482023" cy="4249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일별 전환율의 단순 평균은 일반적으로 월 전환율과 같지 않다.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0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함정 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0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집계 단위 혼동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0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행 수 / 거래 수 / 고객 수는 다른 숫자다. 실습 데이터로 보면: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0"/>
          <p:cNvSpPr/>
          <p:nvPr/>
        </p:nvSpPr>
        <p:spPr>
          <a:xfrm>
            <a:off x="1142997" y="3245444"/>
            <a:ext cx="5615918" cy="8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846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45,004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0"/>
          <p:cNvSpPr/>
          <p:nvPr/>
        </p:nvSpPr>
        <p:spPr>
          <a:xfrm>
            <a:off x="1142997" y="4197897"/>
            <a:ext cx="5615918" cy="425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행 수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/>
          <p:nvPr/>
        </p:nvSpPr>
        <p:spPr>
          <a:xfrm>
            <a:off x="6591222" y="3245444"/>
            <a:ext cx="5615992" cy="8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8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2,209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0"/>
          <p:cNvSpPr/>
          <p:nvPr/>
        </p:nvSpPr>
        <p:spPr>
          <a:xfrm>
            <a:off x="6591222" y="4197897"/>
            <a:ext cx="5615992" cy="425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거래(Invoice) 수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0"/>
          <p:cNvSpPr/>
          <p:nvPr/>
        </p:nvSpPr>
        <p:spPr>
          <a:xfrm>
            <a:off x="12039514" y="3245444"/>
            <a:ext cx="5615918" cy="8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8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1,233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12039514" y="4197897"/>
            <a:ext cx="5615918" cy="425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고객 수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(결측 10,908 제외)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1142997" y="5118218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0"/>
          <p:cNvSpPr/>
          <p:nvPr/>
        </p:nvSpPr>
        <p:spPr>
          <a:xfrm>
            <a:off x="1142997" y="5545976"/>
            <a:ext cx="1760216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"거래가 몇 건입니까"의 답은 45,004가 아니다. 그런데 "평균 구매액"을 계산하면 세 단위에서 값이 다 다르다.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0"/>
          <p:cNvSpPr/>
          <p:nvPr/>
        </p:nvSpPr>
        <p:spPr>
          <a:xfrm>
            <a:off x="1142997" y="6222156"/>
            <a:ext cx="17602160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1:N 관계가 있는 데이터에서 금액을 합산하기 전에 조인으로 행이 늘어났는지 확인한다 — 실무 최다 버그.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1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함정 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1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표본 크기 — 이 과정의 운영 기준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1"/>
          <p:cNvSpPr/>
          <p:nvPr/>
        </p:nvSpPr>
        <p:spPr>
          <a:xfrm>
            <a:off x="1142997" y="2342513"/>
            <a:ext cx="14716091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아래 수치는 보편적인 통계 법칙이 아니라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과정의 실습 산출물에 적용하는 보수적인 기준 </a:t>
            </a: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이다. 실무에서는 분석 목적·분포·검정 방법·개인정보 보호 정책에 맞게 다시 정한다.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1"/>
          <p:cNvSpPr/>
          <p:nvPr/>
        </p:nvSpPr>
        <p:spPr>
          <a:xfrm>
            <a:off x="1142997" y="3723606"/>
            <a:ext cx="5130786" cy="2586383"/>
          </a:xfrm>
          <a:prstGeom prst="roundRect">
            <a:avLst>
              <a:gd fmla="val 662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1"/>
          <p:cNvSpPr/>
          <p:nvPr/>
        </p:nvSpPr>
        <p:spPr>
          <a:xfrm>
            <a:off x="1523951" y="4142670"/>
            <a:ext cx="4805766" cy="6511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n &lt; 30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1"/>
          <p:cNvSpPr/>
          <p:nvPr/>
        </p:nvSpPr>
        <p:spPr>
          <a:xfrm>
            <a:off x="1523951" y="4946150"/>
            <a:ext cx="4499944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"표본 부족" 경고를 붙이고 순위표에 올리지 않는다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/>
          <p:nvPr/>
        </p:nvSpPr>
        <p:spPr>
          <a:xfrm>
            <a:off x="6578519" y="3723606"/>
            <a:ext cx="5130853" cy="2586383"/>
          </a:xfrm>
          <a:prstGeom prst="roundRect">
            <a:avLst>
              <a:gd fmla="val 662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1"/>
          <p:cNvSpPr/>
          <p:nvPr/>
        </p:nvSpPr>
        <p:spPr>
          <a:xfrm>
            <a:off x="6959473" y="4142670"/>
            <a:ext cx="4805840" cy="6511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n &lt; 5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1"/>
          <p:cNvSpPr/>
          <p:nvPr/>
        </p:nvSpPr>
        <p:spPr>
          <a:xfrm>
            <a:off x="6959473" y="4946150"/>
            <a:ext cx="4805840" cy="510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값을 표시하지 않는다 (마스킹)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1"/>
          <p:cNvSpPr/>
          <p:nvPr/>
        </p:nvSpPr>
        <p:spPr>
          <a:xfrm>
            <a:off x="12014109" y="3723606"/>
            <a:ext cx="5130786" cy="2586383"/>
          </a:xfrm>
          <a:prstGeom prst="roundRect">
            <a:avLst>
              <a:gd fmla="val 6629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1"/>
          <p:cNvSpPr/>
          <p:nvPr/>
        </p:nvSpPr>
        <p:spPr>
          <a:xfrm>
            <a:off x="12395062" y="4142670"/>
            <a:ext cx="4805766" cy="690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항상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1"/>
          <p:cNvSpPr/>
          <p:nvPr/>
        </p:nvSpPr>
        <p:spPr>
          <a:xfrm>
            <a:off x="12395062" y="4985278"/>
            <a:ext cx="4805766" cy="510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그룹 비교 시 각 그룹의 n을 병기한다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1"/>
          <p:cNvSpPr/>
          <p:nvPr/>
        </p:nvSpPr>
        <p:spPr>
          <a:xfrm>
            <a:off x="1142997" y="9176215"/>
            <a:ext cx="16482023" cy="4249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팀 인원 8명에서 1명 퇴사 = 12.5%. 이 숫자로 부서 랭킹을 만들면 노이즈다.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2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함정 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2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상관은 인과가 아니다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2"/>
          <p:cNvSpPr/>
          <p:nvPr/>
        </p:nvSpPr>
        <p:spPr>
          <a:xfrm>
            <a:off x="1142997" y="2685426"/>
            <a:ext cx="16001964" cy="1390604"/>
          </a:xfrm>
          <a:prstGeom prst="roundRect">
            <a:avLst>
              <a:gd fmla="val 123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2"/>
          <p:cNvSpPr/>
          <p:nvPr/>
        </p:nvSpPr>
        <p:spPr>
          <a:xfrm>
            <a:off x="1581081" y="3104489"/>
            <a:ext cx="16638377" cy="590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1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시점이 다른 두 변화를 원인과 결과로 연결하기 전에 </a:t>
            </a:r>
            <a:r>
              <a:rPr b="1" i="0" lang="en-US" sz="30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다른 설명이 없는지 </a:t>
            </a: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적는다.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2"/>
          <p:cNvSpPr/>
          <p:nvPr/>
        </p:nvSpPr>
        <p:spPr>
          <a:xfrm>
            <a:off x="1142997" y="4361745"/>
            <a:ext cx="16001964" cy="2072489"/>
          </a:xfrm>
          <a:prstGeom prst="roundRect">
            <a:avLst>
              <a:gd fmla="val 8273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2"/>
          <p:cNvSpPr/>
          <p:nvPr/>
        </p:nvSpPr>
        <p:spPr>
          <a:xfrm>
            <a:off x="1581081" y="4780808"/>
            <a:ext cx="16638377" cy="590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"…로 보인다"와 "…이다"를 섞지 않는다.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2"/>
          <p:cNvSpPr/>
          <p:nvPr/>
        </p:nvSpPr>
        <p:spPr>
          <a:xfrm>
            <a:off x="1581081" y="5542784"/>
            <a:ext cx="16638377" cy="510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데이터로 확인한 것과 추론한 것을 구분해 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3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3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채점 기준 한 장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3"/>
          <p:cNvSpPr/>
          <p:nvPr/>
        </p:nvSpPr>
        <p:spPr>
          <a:xfrm>
            <a:off x="1142997" y="3084925"/>
            <a:ext cx="2476472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3"/>
          <p:cNvSpPr/>
          <p:nvPr/>
        </p:nvSpPr>
        <p:spPr>
          <a:xfrm>
            <a:off x="1142997" y="2609208"/>
            <a:ext cx="2552672" cy="342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영역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3"/>
          <p:cNvSpPr/>
          <p:nvPr/>
        </p:nvSpPr>
        <p:spPr>
          <a:xfrm>
            <a:off x="4076641" y="3084925"/>
            <a:ext cx="13068321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3"/>
          <p:cNvSpPr/>
          <p:nvPr/>
        </p:nvSpPr>
        <p:spPr>
          <a:xfrm>
            <a:off x="4076641" y="2609208"/>
            <a:ext cx="13460371" cy="342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핵심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3"/>
          <p:cNvSpPr/>
          <p:nvPr/>
        </p:nvSpPr>
        <p:spPr>
          <a:xfrm>
            <a:off x="1142997" y="4063394"/>
            <a:ext cx="24764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3"/>
          <p:cNvSpPr/>
          <p:nvPr/>
        </p:nvSpPr>
        <p:spPr>
          <a:xfrm>
            <a:off x="1142997" y="3358660"/>
            <a:ext cx="2552672" cy="495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좋은 분석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3"/>
          <p:cNvSpPr/>
          <p:nvPr/>
        </p:nvSpPr>
        <p:spPr>
          <a:xfrm>
            <a:off x="4076641" y="4063394"/>
            <a:ext cx="1306832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3"/>
          <p:cNvSpPr/>
          <p:nvPr/>
        </p:nvSpPr>
        <p:spPr>
          <a:xfrm>
            <a:off x="4076641" y="3358660"/>
            <a:ext cx="13460371" cy="495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앞둔 결정에서 시작 · 행동으로 이어짐 · 반증 조건 · 재현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3"/>
          <p:cNvSpPr/>
          <p:nvPr/>
        </p:nvSpPr>
        <p:spPr>
          <a:xfrm>
            <a:off x="1142997" y="5024474"/>
            <a:ext cx="24764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3"/>
          <p:cNvSpPr/>
          <p:nvPr/>
        </p:nvSpPr>
        <p:spPr>
          <a:xfrm>
            <a:off x="1142997" y="4319740"/>
            <a:ext cx="2552672" cy="495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좋은 지표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3"/>
          <p:cNvSpPr/>
          <p:nvPr/>
        </p:nvSpPr>
        <p:spPr>
          <a:xfrm>
            <a:off x="4076641" y="5024474"/>
            <a:ext cx="1306832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3"/>
          <p:cNvSpPr/>
          <p:nvPr/>
        </p:nvSpPr>
        <p:spPr>
          <a:xfrm>
            <a:off x="4076641" y="4319740"/>
            <a:ext cx="13460371" cy="495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이름 · 계산식 · 단위 ·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제외조건 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분모를 먼저 · 속일 수 있는 경우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3"/>
          <p:cNvSpPr/>
          <p:nvPr/>
        </p:nvSpPr>
        <p:spPr>
          <a:xfrm>
            <a:off x="1142997" y="5985554"/>
            <a:ext cx="24764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3"/>
          <p:cNvSpPr/>
          <p:nvPr/>
        </p:nvSpPr>
        <p:spPr>
          <a:xfrm>
            <a:off x="1142997" y="5280820"/>
            <a:ext cx="2552672" cy="495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좋은 시각화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3"/>
          <p:cNvSpPr/>
          <p:nvPr/>
        </p:nvSpPr>
        <p:spPr>
          <a:xfrm>
            <a:off x="4076641" y="5985554"/>
            <a:ext cx="1306832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3"/>
          <p:cNvSpPr/>
          <p:nvPr/>
        </p:nvSpPr>
        <p:spPr>
          <a:xfrm>
            <a:off x="4076641" y="5280820"/>
            <a:ext cx="13460371" cy="495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질문에 답함 · 제목이 결론 · 강조 하나 ·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색은 마지막 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이중 축 금지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3"/>
          <p:cNvSpPr/>
          <p:nvPr/>
        </p:nvSpPr>
        <p:spPr>
          <a:xfrm>
            <a:off x="1142997" y="6241899"/>
            <a:ext cx="2552672" cy="495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공통 함정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3"/>
          <p:cNvSpPr/>
          <p:nvPr/>
        </p:nvSpPr>
        <p:spPr>
          <a:xfrm>
            <a:off x="4076641" y="6241899"/>
            <a:ext cx="13460371" cy="4951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평균 · 평균의 평균 · 집계 단위 · 표본 크기 · 상관≠인과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3"/>
          <p:cNvSpPr/>
          <p:nvPr/>
        </p:nvSpPr>
        <p:spPr>
          <a:xfrm>
            <a:off x="1142997" y="7144787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3"/>
          <p:cNvSpPr/>
          <p:nvPr/>
        </p:nvSpPr>
        <p:spPr>
          <a:xfrm>
            <a:off x="1142997" y="7551826"/>
            <a:ext cx="1790696" cy="2049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3"/>
          <p:cNvSpPr/>
          <p:nvPr/>
        </p:nvSpPr>
        <p:spPr>
          <a:xfrm>
            <a:off x="3276556" y="7551826"/>
            <a:ext cx="9585228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1. "매출을 늘리고 싶다"를 결정으로 바꿔 보세요.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3"/>
          <p:cNvSpPr/>
          <p:nvPr/>
        </p:nvSpPr>
        <p:spPr>
          <a:xfrm>
            <a:off x="3276556" y="7973131"/>
            <a:ext cx="9585228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2. 지표 네 요소 중 가장 자주 빠지는 것은? 빠지면 무슨 일이 생기는가?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3"/>
          <p:cNvSpPr/>
          <p:nvPr/>
        </p:nvSpPr>
        <p:spPr>
          <a:xfrm>
            <a:off x="3276556" y="8394435"/>
            <a:ext cx="9585228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3. 일별 전환율의 월 평균을 쓰면 안 되는 이유는?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3"/>
          <p:cNvSpPr/>
          <p:nvPr/>
        </p:nvSpPr>
        <p:spPr>
          <a:xfrm>
            <a:off x="3276556" y="8815740"/>
            <a:ext cx="9585228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4. 이중 축 차트를 만들지 않는 이유는?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3276556" y="9237044"/>
            <a:ext cx="9585228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5. 행 45,004 · 거래 2,209인 데이터에서 "평균 구매액"은 무엇으로 나눠야 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4"/>
          <p:cNvSpPr/>
          <p:nvPr/>
        </p:nvSpPr>
        <p:spPr>
          <a:xfrm>
            <a:off x="1142997" y="2994645"/>
            <a:ext cx="17602160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4"/>
          <p:cNvSpPr/>
          <p:nvPr/>
        </p:nvSpPr>
        <p:spPr>
          <a:xfrm>
            <a:off x="1142997" y="3570016"/>
            <a:ext cx="16482023" cy="231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3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작업 환경 세팅 — Claude Code + VS Code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4"/>
          <p:cNvSpPr/>
          <p:nvPr/>
        </p:nvSpPr>
        <p:spPr>
          <a:xfrm>
            <a:off x="1142997" y="6229356"/>
            <a:ext cx="11772874" cy="110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3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실습 전에 미리 확인해 두세요. 설치에 걸리는 시간이 그대로 실습 시간을 먹습니다. 막히면 미리 퍼실에게 알려 주세요.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5"/>
          <p:cNvSpPr/>
          <p:nvPr/>
        </p:nvSpPr>
        <p:spPr>
          <a:xfrm>
            <a:off x="1142997" y="914344"/>
            <a:ext cx="17602160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5"/>
          <p:cNvSpPr/>
          <p:nvPr/>
        </p:nvSpPr>
        <p:spPr>
          <a:xfrm>
            <a:off x="1142997" y="137267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무엇을 설치하는가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1142997" y="2668036"/>
            <a:ext cx="5130786" cy="3557653"/>
          </a:xfrm>
          <a:prstGeom prst="roundRect">
            <a:avLst>
              <a:gd fmla="val 53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5"/>
          <p:cNvSpPr/>
          <p:nvPr/>
        </p:nvSpPr>
        <p:spPr>
          <a:xfrm>
            <a:off x="1543040" y="3125207"/>
            <a:ext cx="4763771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5"/>
          <p:cNvSpPr/>
          <p:nvPr/>
        </p:nvSpPr>
        <p:spPr>
          <a:xfrm>
            <a:off x="1543040" y="3663488"/>
            <a:ext cx="4763771" cy="552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13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Claude Code CLI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1543040" y="4368334"/>
            <a:ext cx="4763771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실습 명령과 플러그인 메뉴 실행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6578519" y="2668036"/>
            <a:ext cx="5130853" cy="3557653"/>
          </a:xfrm>
          <a:prstGeom prst="roundRect">
            <a:avLst>
              <a:gd fmla="val 53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5"/>
          <p:cNvSpPr/>
          <p:nvPr/>
        </p:nvSpPr>
        <p:spPr>
          <a:xfrm>
            <a:off x="6978561" y="3125207"/>
            <a:ext cx="4763846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6978561" y="3663488"/>
            <a:ext cx="4460692" cy="10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13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VS Code + Claude Code 확장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6978561" y="4882704"/>
            <a:ext cx="4460692" cy="9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파일 · 변경 사항 · 대화를 한 화면에서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12014109" y="2668036"/>
            <a:ext cx="5130786" cy="3557653"/>
          </a:xfrm>
          <a:prstGeom prst="roundRect">
            <a:avLst>
              <a:gd fmla="val 53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5"/>
          <p:cNvSpPr/>
          <p:nvPr/>
        </p:nvSpPr>
        <p:spPr>
          <a:xfrm>
            <a:off x="12414150" y="3125207"/>
            <a:ext cx="4763771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12414150" y="3663488"/>
            <a:ext cx="4763771" cy="552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13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Python 3 + pandas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12414150" y="4368334"/>
            <a:ext cx="4763771" cy="48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 준비 스크립트 실행용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1142997" y="7713772"/>
            <a:ext cx="1600196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5"/>
          <p:cNvSpPr/>
          <p:nvPr/>
        </p:nvSpPr>
        <p:spPr>
          <a:xfrm>
            <a:off x="1142997" y="8158920"/>
            <a:ext cx="16482023" cy="982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레퍼런스 강의는 Antigravity를 쓰지만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우리는 VS Code 확장으로 진행한다. </a:t>
            </a:r>
            <a:r>
              <a:rPr b="0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편집기·터미널·파일 트리를 한 화면에서 보는 것이 파이프라인 실습에 맞다.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1142997" y="9237044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준비물 — Claude 계정(모두의연구소에서 안내한 팀 플랜 계정) · macOS 13+ / Windows 10+ / Ubuntu 20.04+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6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1. 설치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6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 Code 설치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6"/>
          <p:cNvSpPr/>
          <p:nvPr/>
        </p:nvSpPr>
        <p:spPr>
          <a:xfrm>
            <a:off x="1142997" y="2609208"/>
            <a:ext cx="859155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macOS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6"/>
          <p:cNvSpPr/>
          <p:nvPr/>
        </p:nvSpPr>
        <p:spPr>
          <a:xfrm>
            <a:off x="1142997" y="3169226"/>
            <a:ext cx="7810505" cy="2581017"/>
          </a:xfrm>
          <a:prstGeom prst="roundRect">
            <a:avLst>
              <a:gd fmla="val 5905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6"/>
          <p:cNvSpPr/>
          <p:nvPr/>
        </p:nvSpPr>
        <p:spPr>
          <a:xfrm>
            <a:off x="1466822" y="3473962"/>
            <a:ext cx="7377742" cy="488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5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방법 A — 공식 설치 스크립트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6"/>
          <p:cNvSpPr/>
          <p:nvPr/>
        </p:nvSpPr>
        <p:spPr>
          <a:xfrm>
            <a:off x="1466822" y="3924001"/>
            <a:ext cx="7377742" cy="488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5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curl -fsSL https://claude.ai/install.sh | bash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6"/>
          <p:cNvSpPr/>
          <p:nvPr/>
        </p:nvSpPr>
        <p:spPr>
          <a:xfrm>
            <a:off x="1466822" y="4545429"/>
            <a:ext cx="7377742" cy="488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5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방법 B — Homebrew가 있으면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6"/>
          <p:cNvSpPr/>
          <p:nvPr/>
        </p:nvSpPr>
        <p:spPr>
          <a:xfrm>
            <a:off x="1466822" y="4995468"/>
            <a:ext cx="7377742" cy="488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5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brew install --cask claude-code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6"/>
          <p:cNvSpPr/>
          <p:nvPr/>
        </p:nvSpPr>
        <p:spPr>
          <a:xfrm>
            <a:off x="9334456" y="2609208"/>
            <a:ext cx="8591556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Windows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일반 권한 PowerShell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6"/>
          <p:cNvSpPr/>
          <p:nvPr/>
        </p:nvSpPr>
        <p:spPr>
          <a:xfrm>
            <a:off x="9334456" y="3169226"/>
            <a:ext cx="7810505" cy="2130978"/>
          </a:xfrm>
          <a:prstGeom prst="roundRect">
            <a:avLst>
              <a:gd fmla="val 7152" name="adj"/>
            </a:avLst>
          </a:prstGeom>
          <a:solidFill>
            <a:srgbClr val="FFFFFF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6"/>
          <p:cNvSpPr/>
          <p:nvPr/>
        </p:nvSpPr>
        <p:spPr>
          <a:xfrm>
            <a:off x="9658281" y="3473962"/>
            <a:ext cx="7377742" cy="488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5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irm https://claude.ai/install.ps1 | iex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6"/>
          <p:cNvSpPr/>
          <p:nvPr/>
        </p:nvSpPr>
        <p:spPr>
          <a:xfrm>
            <a:off x="9658281" y="4095390"/>
            <a:ext cx="7377742" cy="488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5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winget이 있으면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6"/>
          <p:cNvSpPr/>
          <p:nvPr/>
        </p:nvSpPr>
        <p:spPr>
          <a:xfrm>
            <a:off x="9658281" y="4545429"/>
            <a:ext cx="7377742" cy="488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45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winget install Anthropic.ClaudeCode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6"/>
          <p:cNvSpPr/>
          <p:nvPr/>
        </p:nvSpPr>
        <p:spPr>
          <a:xfrm>
            <a:off x="9334456" y="5490681"/>
            <a:ext cx="8591556" cy="4514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9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킷이 Bash 명령을 쓰므로 Windows에서는 Git for Windows도 설치한다.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6"/>
          <p:cNvSpPr/>
          <p:nvPr/>
        </p:nvSpPr>
        <p:spPr>
          <a:xfrm>
            <a:off x="1142997" y="8757115"/>
            <a:ext cx="16001964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6"/>
          <p:cNvSpPr/>
          <p:nvPr/>
        </p:nvSpPr>
        <p:spPr>
          <a:xfrm>
            <a:off x="1142997" y="9210959"/>
            <a:ext cx="188594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설치 확인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6"/>
          <p:cNvSpPr/>
          <p:nvPr/>
        </p:nvSpPr>
        <p:spPr>
          <a:xfrm>
            <a:off x="3200338" y="9184874"/>
            <a:ext cx="3431601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 --version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6"/>
          <p:cNvSpPr/>
          <p:nvPr/>
        </p:nvSpPr>
        <p:spPr>
          <a:xfrm>
            <a:off x="6662821" y="9200090"/>
            <a:ext cx="2980645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버전 숫자가 나오면 완료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7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2–3. 로그인 · 확장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7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로그인과 VS Code 확장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7"/>
          <p:cNvSpPr/>
          <p:nvPr/>
        </p:nvSpPr>
        <p:spPr>
          <a:xfrm>
            <a:off x="1142997" y="2609208"/>
            <a:ext cx="7247837" cy="5472136"/>
          </a:xfrm>
          <a:prstGeom prst="roundRect">
            <a:avLst>
              <a:gd fmla="val 34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7"/>
          <p:cNvSpPr/>
          <p:nvPr/>
        </p:nvSpPr>
        <p:spPr>
          <a:xfrm>
            <a:off x="1543040" y="3028271"/>
            <a:ext cx="7092528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7"/>
          <p:cNvSpPr/>
          <p:nvPr/>
        </p:nvSpPr>
        <p:spPr>
          <a:xfrm>
            <a:off x="1543040" y="3629047"/>
            <a:ext cx="6447753" cy="749409"/>
          </a:xfrm>
          <a:prstGeom prst="roundRect">
            <a:avLst>
              <a:gd fmla="val 15252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7"/>
          <p:cNvSpPr/>
          <p:nvPr/>
        </p:nvSpPr>
        <p:spPr>
          <a:xfrm>
            <a:off x="1790690" y="3838597"/>
            <a:ext cx="6145886" cy="3684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7"/>
          <p:cNvSpPr/>
          <p:nvPr/>
        </p:nvSpPr>
        <p:spPr>
          <a:xfrm>
            <a:off x="1543040" y="4587953"/>
            <a:ext cx="6641186" cy="9525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브라우저가 열린다.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팀 계정으로 로그인 </a:t>
            </a: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하세요. 개인 계정으로 로그인하면 사용량이 개인 요금으로 청구된다.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7"/>
          <p:cNvSpPr/>
          <p:nvPr/>
        </p:nvSpPr>
        <p:spPr>
          <a:xfrm>
            <a:off x="1543040" y="5711930"/>
            <a:ext cx="6447753" cy="745061"/>
          </a:xfrm>
          <a:prstGeom prst="roundRect">
            <a:avLst>
              <a:gd fmla="val 1534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7"/>
          <p:cNvSpPr/>
          <p:nvPr/>
        </p:nvSpPr>
        <p:spPr>
          <a:xfrm>
            <a:off x="1790690" y="5921480"/>
            <a:ext cx="6145886" cy="364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첫 명령으로 확인 — "현재 폴더 경로를 알려줘."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7"/>
          <p:cNvSpPr/>
          <p:nvPr/>
        </p:nvSpPr>
        <p:spPr>
          <a:xfrm>
            <a:off x="8809898" y="2609208"/>
            <a:ext cx="8334996" cy="5472136"/>
          </a:xfrm>
          <a:prstGeom prst="roundRect">
            <a:avLst>
              <a:gd fmla="val 34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7"/>
          <p:cNvSpPr/>
          <p:nvPr/>
        </p:nvSpPr>
        <p:spPr>
          <a:xfrm>
            <a:off x="9209940" y="3028271"/>
            <a:ext cx="8288403" cy="4293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VS Code 확장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7"/>
          <p:cNvSpPr/>
          <p:nvPr/>
        </p:nvSpPr>
        <p:spPr>
          <a:xfrm>
            <a:off x="9209940" y="3707303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7"/>
          <p:cNvSpPr/>
          <p:nvPr/>
        </p:nvSpPr>
        <p:spPr>
          <a:xfrm>
            <a:off x="9656786" y="3629047"/>
            <a:ext cx="1889009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VS Code 설치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7"/>
          <p:cNvSpPr/>
          <p:nvPr/>
        </p:nvSpPr>
        <p:spPr>
          <a:xfrm>
            <a:off x="9209940" y="4288312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7"/>
          <p:cNvSpPr/>
          <p:nvPr/>
        </p:nvSpPr>
        <p:spPr>
          <a:xfrm>
            <a:off x="9656786" y="4210056"/>
            <a:ext cx="7300707" cy="8953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확장 탭(⇧⌘X / Ctrl+Shift+X) → "Claude Code" 검색 → 설치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7"/>
          <p:cNvSpPr/>
          <p:nvPr/>
        </p:nvSpPr>
        <p:spPr>
          <a:xfrm>
            <a:off x="9209940" y="5297962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7"/>
          <p:cNvSpPr/>
          <p:nvPr/>
        </p:nvSpPr>
        <p:spPr>
          <a:xfrm>
            <a:off x="9656786" y="5219706"/>
            <a:ext cx="4054047" cy="4667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VS Code에서 실습 킷 폴더 열기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7"/>
          <p:cNvSpPr/>
          <p:nvPr/>
        </p:nvSpPr>
        <p:spPr>
          <a:xfrm>
            <a:off x="9209940" y="5883319"/>
            <a:ext cx="351658" cy="325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7"/>
          <p:cNvSpPr/>
          <p:nvPr/>
        </p:nvSpPr>
        <p:spPr>
          <a:xfrm>
            <a:off x="9656786" y="5800715"/>
            <a:ext cx="5935884" cy="4710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통합 터미널 열기(⌃` / Ctrl+`) → </a:t>
            </a:r>
            <a:r>
              <a:rPr b="0" i="0" lang="en-US" sz="22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 </a:t>
            </a: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7"/>
          <p:cNvSpPr/>
          <p:nvPr/>
        </p:nvSpPr>
        <p:spPr>
          <a:xfrm>
            <a:off x="9209940" y="6443201"/>
            <a:ext cx="7534912" cy="1219080"/>
          </a:xfrm>
          <a:prstGeom prst="roundRect">
            <a:avLst>
              <a:gd fmla="val 9376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7"/>
          <p:cNvSpPr/>
          <p:nvPr/>
        </p:nvSpPr>
        <p:spPr>
          <a:xfrm>
            <a:off x="9457590" y="6652751"/>
            <a:ext cx="7265659" cy="83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60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확인 — 패널이 열리고 현재 파일을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@파일명 </a:t>
            </a:r>
            <a:r>
              <a:rPr b="0" i="0" lang="en-US" sz="210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으로 첨부할 수 있으면 정상 연결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8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4. 실행 모드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8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실행 모드 — ⇧ + Tab으로 순환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8"/>
          <p:cNvSpPr/>
          <p:nvPr/>
        </p:nvSpPr>
        <p:spPr>
          <a:xfrm>
            <a:off x="1142997" y="2304404"/>
            <a:ext cx="1760216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기본 순환은 Manual → Edit automatically → Plan. Auto와 Bypass permissions는 계정·모델·조직 정책에 따라 추가로 나타난다.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8"/>
          <p:cNvSpPr/>
          <p:nvPr/>
        </p:nvSpPr>
        <p:spPr>
          <a:xfrm>
            <a:off x="1142997" y="3489858"/>
            <a:ext cx="3809946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8"/>
          <p:cNvSpPr/>
          <p:nvPr/>
        </p:nvSpPr>
        <p:spPr>
          <a:xfrm>
            <a:off x="1142997" y="3033162"/>
            <a:ext cx="3924245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모드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8"/>
          <p:cNvSpPr/>
          <p:nvPr/>
        </p:nvSpPr>
        <p:spPr>
          <a:xfrm>
            <a:off x="5333898" y="3489858"/>
            <a:ext cx="571505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8"/>
          <p:cNvSpPr/>
          <p:nvPr/>
        </p:nvSpPr>
        <p:spPr>
          <a:xfrm>
            <a:off x="5333898" y="3033162"/>
            <a:ext cx="5886507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8"/>
          <p:cNvSpPr/>
          <p:nvPr/>
        </p:nvSpPr>
        <p:spPr>
          <a:xfrm>
            <a:off x="11429906" y="3489858"/>
            <a:ext cx="5715055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8"/>
          <p:cNvSpPr/>
          <p:nvPr/>
        </p:nvSpPr>
        <p:spPr>
          <a:xfrm>
            <a:off x="11429906" y="3033162"/>
            <a:ext cx="5886507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언제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8"/>
          <p:cNvSpPr/>
          <p:nvPr/>
        </p:nvSpPr>
        <p:spPr>
          <a:xfrm>
            <a:off x="1142997" y="4282742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8"/>
          <p:cNvSpPr/>
          <p:nvPr/>
        </p:nvSpPr>
        <p:spPr>
          <a:xfrm>
            <a:off x="1142997" y="3725493"/>
            <a:ext cx="3924245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Manual </a:t>
            </a:r>
            <a:r>
              <a:rPr b="0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8"/>
          <p:cNvSpPr/>
          <p:nvPr/>
        </p:nvSpPr>
        <p:spPr>
          <a:xfrm>
            <a:off x="5333898" y="4282742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8"/>
          <p:cNvSpPr/>
          <p:nvPr/>
        </p:nvSpPr>
        <p:spPr>
          <a:xfrm>
            <a:off x="5333898" y="3725493"/>
            <a:ext cx="5886507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작업별 승인 요청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8"/>
          <p:cNvSpPr/>
          <p:nvPr/>
        </p:nvSpPr>
        <p:spPr>
          <a:xfrm>
            <a:off x="11429906" y="4282742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8"/>
          <p:cNvSpPr/>
          <p:nvPr/>
        </p:nvSpPr>
        <p:spPr>
          <a:xfrm>
            <a:off x="11429906" y="3725493"/>
            <a:ext cx="5886507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처음 배울 때. 무엇이 바뀌는지 확인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8"/>
          <p:cNvSpPr/>
          <p:nvPr/>
        </p:nvSpPr>
        <p:spPr>
          <a:xfrm>
            <a:off x="1142997" y="5058236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8"/>
          <p:cNvSpPr/>
          <p:nvPr/>
        </p:nvSpPr>
        <p:spPr>
          <a:xfrm>
            <a:off x="1142997" y="4500987"/>
            <a:ext cx="3924245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Edit automatically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8"/>
          <p:cNvSpPr/>
          <p:nvPr/>
        </p:nvSpPr>
        <p:spPr>
          <a:xfrm>
            <a:off x="5333898" y="5058236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8"/>
          <p:cNvSpPr/>
          <p:nvPr/>
        </p:nvSpPr>
        <p:spPr>
          <a:xfrm>
            <a:off x="5333898" y="4500987"/>
            <a:ext cx="5886507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자동 수정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8"/>
          <p:cNvSpPr/>
          <p:nvPr/>
        </p:nvSpPr>
        <p:spPr>
          <a:xfrm>
            <a:off x="11429906" y="5058236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8"/>
          <p:cNvSpPr/>
          <p:nvPr/>
        </p:nvSpPr>
        <p:spPr>
          <a:xfrm>
            <a:off x="11429906" y="4500987"/>
            <a:ext cx="5886507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익숙해진 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8"/>
          <p:cNvSpPr/>
          <p:nvPr/>
        </p:nvSpPr>
        <p:spPr>
          <a:xfrm>
            <a:off x="1142997" y="5833730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8"/>
          <p:cNvSpPr/>
          <p:nvPr/>
        </p:nvSpPr>
        <p:spPr>
          <a:xfrm>
            <a:off x="1142997" y="5276481"/>
            <a:ext cx="3924245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Plan mode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8"/>
          <p:cNvSpPr/>
          <p:nvPr/>
        </p:nvSpPr>
        <p:spPr>
          <a:xfrm>
            <a:off x="5333898" y="5833730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8"/>
          <p:cNvSpPr/>
          <p:nvPr/>
        </p:nvSpPr>
        <p:spPr>
          <a:xfrm>
            <a:off x="5333898" y="5276481"/>
            <a:ext cx="5886507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탐색 후 계획만 제시, 파일 수정 없음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8"/>
          <p:cNvSpPr/>
          <p:nvPr/>
        </p:nvSpPr>
        <p:spPr>
          <a:xfrm>
            <a:off x="11429906" y="5833730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8"/>
          <p:cNvSpPr/>
          <p:nvPr/>
        </p:nvSpPr>
        <p:spPr>
          <a:xfrm>
            <a:off x="11429906" y="5276481"/>
            <a:ext cx="5886507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큰 변경 전에 계획을 먼저 볼 때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8"/>
          <p:cNvSpPr/>
          <p:nvPr/>
        </p:nvSpPr>
        <p:spPr>
          <a:xfrm>
            <a:off x="1142997" y="6609223"/>
            <a:ext cx="380994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8"/>
          <p:cNvSpPr/>
          <p:nvPr/>
        </p:nvSpPr>
        <p:spPr>
          <a:xfrm>
            <a:off x="1142997" y="6051975"/>
            <a:ext cx="3924245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Auto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8"/>
          <p:cNvSpPr/>
          <p:nvPr/>
        </p:nvSpPr>
        <p:spPr>
          <a:xfrm>
            <a:off x="5333898" y="6609223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8"/>
          <p:cNvSpPr/>
          <p:nvPr/>
        </p:nvSpPr>
        <p:spPr>
          <a:xfrm>
            <a:off x="5333898" y="6051975"/>
            <a:ext cx="5886507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안전 분류기가 자동 승인 여부 판단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8"/>
          <p:cNvSpPr/>
          <p:nvPr/>
        </p:nvSpPr>
        <p:spPr>
          <a:xfrm>
            <a:off x="11429906" y="6609223"/>
            <a:ext cx="571505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8"/>
          <p:cNvSpPr/>
          <p:nvPr/>
        </p:nvSpPr>
        <p:spPr>
          <a:xfrm>
            <a:off x="11429906" y="6051975"/>
            <a:ext cx="5886507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지원 계정·모델에서 긴 작업을 맡길 때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8"/>
          <p:cNvSpPr/>
          <p:nvPr/>
        </p:nvSpPr>
        <p:spPr>
          <a:xfrm>
            <a:off x="1142997" y="6827469"/>
            <a:ext cx="3924245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Bypass permissions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8"/>
          <p:cNvSpPr/>
          <p:nvPr/>
        </p:nvSpPr>
        <p:spPr>
          <a:xfrm>
            <a:off x="5333898" y="6827469"/>
            <a:ext cx="5886507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대부분의 권한 확인을 건너뜀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8"/>
          <p:cNvSpPr/>
          <p:nvPr/>
        </p:nvSpPr>
        <p:spPr>
          <a:xfrm>
            <a:off x="11429906" y="6827469"/>
            <a:ext cx="5886507" cy="3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격리된 환경 전용. 실습에서는 사용하지 않음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8"/>
          <p:cNvSpPr/>
          <p:nvPr/>
        </p:nvSpPr>
        <p:spPr>
          <a:xfrm>
            <a:off x="1142997" y="7689517"/>
            <a:ext cx="16482023" cy="403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실습은 Manual로 시작한다. 에이전트가 무슨 파일을 만드는지 눈으로 봐야 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9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5. Python · 트러블슈팅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9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Python 준비와 자주 막히는 곳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9"/>
          <p:cNvSpPr/>
          <p:nvPr/>
        </p:nvSpPr>
        <p:spPr>
          <a:xfrm>
            <a:off x="1142997" y="2571099"/>
            <a:ext cx="16001964" cy="1531424"/>
          </a:xfrm>
          <a:prstGeom prst="roundRect">
            <a:avLst>
              <a:gd fmla="val 9952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9"/>
          <p:cNvSpPr/>
          <p:nvPr/>
        </p:nvSpPr>
        <p:spPr>
          <a:xfrm>
            <a:off x="1466822" y="2856814"/>
            <a:ext cx="15814945" cy="5180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3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python3 --version # 교육 환경은 3.10 이상 권장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9"/>
          <p:cNvSpPr/>
          <p:nvPr/>
        </p:nvSpPr>
        <p:spPr>
          <a:xfrm>
            <a:off x="1466822" y="3336811"/>
            <a:ext cx="15814945" cy="5180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3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python3 -m pip install pandas openpyxl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9"/>
          <p:cNvSpPr/>
          <p:nvPr/>
        </p:nvSpPr>
        <p:spPr>
          <a:xfrm>
            <a:off x="1142997" y="4978282"/>
            <a:ext cx="5079974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9"/>
          <p:cNvSpPr/>
          <p:nvPr/>
        </p:nvSpPr>
        <p:spPr>
          <a:xfrm>
            <a:off x="1142997" y="4521585"/>
            <a:ext cx="5232373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증상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9"/>
          <p:cNvSpPr/>
          <p:nvPr/>
        </p:nvSpPr>
        <p:spPr>
          <a:xfrm>
            <a:off x="6603925" y="4978282"/>
            <a:ext cx="5080042" cy="2608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9"/>
          <p:cNvSpPr/>
          <p:nvPr/>
        </p:nvSpPr>
        <p:spPr>
          <a:xfrm>
            <a:off x="6603925" y="4521585"/>
            <a:ext cx="5232443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원인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9"/>
          <p:cNvSpPr/>
          <p:nvPr/>
        </p:nvSpPr>
        <p:spPr>
          <a:xfrm>
            <a:off x="12064921" y="4978282"/>
            <a:ext cx="5079974" cy="2608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9"/>
          <p:cNvSpPr/>
          <p:nvPr/>
        </p:nvSpPr>
        <p:spPr>
          <a:xfrm>
            <a:off x="12064921" y="4521585"/>
            <a:ext cx="5232373" cy="342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9"/>
          <p:cNvSpPr/>
          <p:nvPr/>
        </p:nvSpPr>
        <p:spPr>
          <a:xfrm>
            <a:off x="1142997" y="5724429"/>
            <a:ext cx="50799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9"/>
          <p:cNvSpPr/>
          <p:nvPr/>
        </p:nvSpPr>
        <p:spPr>
          <a:xfrm>
            <a:off x="1142997" y="5194867"/>
            <a:ext cx="523237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Courier New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command not found: claude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9"/>
          <p:cNvSpPr/>
          <p:nvPr/>
        </p:nvSpPr>
        <p:spPr>
          <a:xfrm>
            <a:off x="6603925" y="5724429"/>
            <a:ext cx="508004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9"/>
          <p:cNvSpPr/>
          <p:nvPr/>
        </p:nvSpPr>
        <p:spPr>
          <a:xfrm>
            <a:off x="6603925" y="5194867"/>
            <a:ext cx="523244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PATH 미설정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9"/>
          <p:cNvSpPr/>
          <p:nvPr/>
        </p:nvSpPr>
        <p:spPr>
          <a:xfrm>
            <a:off x="12064921" y="5724429"/>
            <a:ext cx="50799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9"/>
          <p:cNvSpPr/>
          <p:nvPr/>
        </p:nvSpPr>
        <p:spPr>
          <a:xfrm>
            <a:off x="12064921" y="5194867"/>
            <a:ext cx="523237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터미널 재시작 또는 source ~/.zshrc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9"/>
          <p:cNvSpPr/>
          <p:nvPr/>
        </p:nvSpPr>
        <p:spPr>
          <a:xfrm>
            <a:off x="1142997" y="6453187"/>
            <a:ext cx="50799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9"/>
          <p:cNvSpPr/>
          <p:nvPr/>
        </p:nvSpPr>
        <p:spPr>
          <a:xfrm>
            <a:off x="1142997" y="5923624"/>
            <a:ext cx="523237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로그인이 안 된다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9"/>
          <p:cNvSpPr/>
          <p:nvPr/>
        </p:nvSpPr>
        <p:spPr>
          <a:xfrm>
            <a:off x="6603925" y="6453187"/>
            <a:ext cx="508004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9"/>
          <p:cNvSpPr/>
          <p:nvPr/>
        </p:nvSpPr>
        <p:spPr>
          <a:xfrm>
            <a:off x="6603925" y="5923624"/>
            <a:ext cx="523244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네트워크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9"/>
          <p:cNvSpPr/>
          <p:nvPr/>
        </p:nvSpPr>
        <p:spPr>
          <a:xfrm>
            <a:off x="12064921" y="6453187"/>
            <a:ext cx="50799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9"/>
          <p:cNvSpPr/>
          <p:nvPr/>
        </p:nvSpPr>
        <p:spPr>
          <a:xfrm>
            <a:off x="12064921" y="5923624"/>
            <a:ext cx="523237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claude doctor로 진단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9"/>
          <p:cNvSpPr/>
          <p:nvPr/>
        </p:nvSpPr>
        <p:spPr>
          <a:xfrm>
            <a:off x="1142997" y="7181945"/>
            <a:ext cx="50799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9"/>
          <p:cNvSpPr/>
          <p:nvPr/>
        </p:nvSpPr>
        <p:spPr>
          <a:xfrm>
            <a:off x="1142997" y="6652382"/>
            <a:ext cx="523237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Windows에서 Bash 명령이 안 된다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9"/>
          <p:cNvSpPr/>
          <p:nvPr/>
        </p:nvSpPr>
        <p:spPr>
          <a:xfrm>
            <a:off x="6603925" y="7181945"/>
            <a:ext cx="508004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9"/>
          <p:cNvSpPr/>
          <p:nvPr/>
        </p:nvSpPr>
        <p:spPr>
          <a:xfrm>
            <a:off x="6603925" y="6652382"/>
            <a:ext cx="523244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Git for Windows 미설치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9"/>
          <p:cNvSpPr/>
          <p:nvPr/>
        </p:nvSpPr>
        <p:spPr>
          <a:xfrm>
            <a:off x="12064921" y="7181945"/>
            <a:ext cx="50799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9"/>
          <p:cNvSpPr/>
          <p:nvPr/>
        </p:nvSpPr>
        <p:spPr>
          <a:xfrm>
            <a:off x="12064921" y="6652382"/>
            <a:ext cx="523237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설치 후 터미널 재시작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9"/>
          <p:cNvSpPr/>
          <p:nvPr/>
        </p:nvSpPr>
        <p:spPr>
          <a:xfrm>
            <a:off x="1142997" y="7910703"/>
            <a:ext cx="50799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9"/>
          <p:cNvSpPr/>
          <p:nvPr/>
        </p:nvSpPr>
        <p:spPr>
          <a:xfrm>
            <a:off x="1142997" y="7381140"/>
            <a:ext cx="523237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VS Code에서 claude가 안 먹는다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9"/>
          <p:cNvSpPr/>
          <p:nvPr/>
        </p:nvSpPr>
        <p:spPr>
          <a:xfrm>
            <a:off x="6603925" y="7910703"/>
            <a:ext cx="508004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9"/>
          <p:cNvSpPr/>
          <p:nvPr/>
        </p:nvSpPr>
        <p:spPr>
          <a:xfrm>
            <a:off x="6603925" y="7381140"/>
            <a:ext cx="523244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통합 터미널이 다른 셸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9"/>
          <p:cNvSpPr/>
          <p:nvPr/>
        </p:nvSpPr>
        <p:spPr>
          <a:xfrm>
            <a:off x="12064921" y="7910703"/>
            <a:ext cx="50799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9"/>
          <p:cNvSpPr/>
          <p:nvPr/>
        </p:nvSpPr>
        <p:spPr>
          <a:xfrm>
            <a:off x="12064921" y="7381140"/>
            <a:ext cx="523237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터미널 드롭다운에서 기본 셸 변경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9"/>
          <p:cNvSpPr/>
          <p:nvPr/>
        </p:nvSpPr>
        <p:spPr>
          <a:xfrm>
            <a:off x="1142997" y="8109897"/>
            <a:ext cx="523237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사용 한도에 걸렸다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9"/>
          <p:cNvSpPr/>
          <p:nvPr/>
        </p:nvSpPr>
        <p:spPr>
          <a:xfrm>
            <a:off x="6603925" y="8109897"/>
            <a:ext cx="523244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계정의 사용 한도 도달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9"/>
          <p:cNvSpPr/>
          <p:nvPr/>
        </p:nvSpPr>
        <p:spPr>
          <a:xfrm>
            <a:off x="12064921" y="8109897"/>
            <a:ext cx="5232373" cy="3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손을 들고, 실습 순서를 바꿔 진행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0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사용량 · 보안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0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실습 규칙 셋과 보안 기초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0"/>
          <p:cNvSpPr/>
          <p:nvPr/>
        </p:nvSpPr>
        <p:spPr>
          <a:xfrm>
            <a:off x="1142997" y="2609208"/>
            <a:ext cx="9326835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사용량 — 이 셋만 지키면 대부분 문제없다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0"/>
          <p:cNvSpPr/>
          <p:nvPr/>
        </p:nvSpPr>
        <p:spPr>
          <a:xfrm>
            <a:off x="1142997" y="3308959"/>
            <a:ext cx="372852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0"/>
          <p:cNvSpPr/>
          <p:nvPr/>
        </p:nvSpPr>
        <p:spPr>
          <a:xfrm>
            <a:off x="1687256" y="3204618"/>
            <a:ext cx="7978076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전체 재실행 금지.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결과가 이상하면 그 단계만 다시 돌린다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0"/>
          <p:cNvSpPr/>
          <p:nvPr/>
        </p:nvSpPr>
        <p:spPr>
          <a:xfrm>
            <a:off x="1142997" y="4042268"/>
            <a:ext cx="372852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0"/>
          <p:cNvSpPr/>
          <p:nvPr/>
        </p:nvSpPr>
        <p:spPr>
          <a:xfrm>
            <a:off x="1687256" y="3937927"/>
            <a:ext cx="8172722" cy="1009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runs/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를 지우지 않는다.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앞 단계 산출물이 남아 있으면 다음 단계가 원본을 다시 읽지 않는다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0"/>
          <p:cNvSpPr/>
          <p:nvPr/>
        </p:nvSpPr>
        <p:spPr>
          <a:xfrm>
            <a:off x="1142997" y="5261280"/>
            <a:ext cx="372852" cy="3467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0"/>
          <p:cNvSpPr/>
          <p:nvPr/>
        </p:nvSpPr>
        <p:spPr>
          <a:xfrm>
            <a:off x="1687256" y="5156939"/>
            <a:ext cx="8303497" cy="5238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4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데이터를 임의로 늘리지 않는다.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배포된 CSV를 그대로 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0"/>
          <p:cNvSpPr/>
          <p:nvPr/>
        </p:nvSpPr>
        <p:spPr>
          <a:xfrm>
            <a:off x="10079109" y="2609208"/>
            <a:ext cx="7065852" cy="4159924"/>
          </a:xfrm>
          <a:prstGeom prst="roundRect">
            <a:avLst>
              <a:gd fmla="val 4579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0"/>
          <p:cNvSpPr/>
          <p:nvPr/>
        </p:nvSpPr>
        <p:spPr>
          <a:xfrm>
            <a:off x="10460064" y="3028271"/>
            <a:ext cx="6934339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보안 기초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0"/>
          <p:cNvSpPr/>
          <p:nvPr/>
        </p:nvSpPr>
        <p:spPr>
          <a:xfrm>
            <a:off x="10460064" y="3604660"/>
            <a:ext cx="6493063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Courier New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.env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API 키 · 토큰이 든 파일을 작업 폴더에 두지 않는다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0"/>
          <p:cNvSpPr/>
          <p:nvPr/>
        </p:nvSpPr>
        <p:spPr>
          <a:xfrm>
            <a:off x="10460064" y="4748541"/>
            <a:ext cx="6934339" cy="4957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실습 데이터 외에 회사·개인 데이터를 넣지 않는다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0"/>
          <p:cNvSpPr/>
          <p:nvPr/>
        </p:nvSpPr>
        <p:spPr>
          <a:xfrm>
            <a:off x="10460064" y="5434774"/>
            <a:ext cx="6493063" cy="9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Bypass permissions 모드로 처음 보는 스크립트를 실행하지 않는다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F2"/>
        </a:solidFill>
      </p:bgPr>
    </p:bg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1"/>
          <p:cNvSpPr/>
          <p:nvPr/>
        </p:nvSpPr>
        <p:spPr>
          <a:xfrm>
            <a:off x="1142997" y="914344"/>
            <a:ext cx="17602160" cy="3424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1"/>
          <p:cNvSpPr/>
          <p:nvPr/>
        </p:nvSpPr>
        <p:spPr>
          <a:xfrm>
            <a:off x="1142997" y="1390060"/>
            <a:ext cx="17602160" cy="8000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9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실습 전 환경 점검 네 가지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1"/>
          <p:cNvSpPr/>
          <p:nvPr/>
        </p:nvSpPr>
        <p:spPr>
          <a:xfrm>
            <a:off x="1142997" y="2342513"/>
            <a:ext cx="17602160" cy="4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넷 다 "예"가 아니면 실습 전에 퍼실에게 알려 주세요.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1"/>
          <p:cNvSpPr/>
          <p:nvPr/>
        </p:nvSpPr>
        <p:spPr>
          <a:xfrm>
            <a:off x="1142997" y="3207335"/>
            <a:ext cx="16001964" cy="1066712"/>
          </a:xfrm>
          <a:prstGeom prst="roundRect">
            <a:avLst>
              <a:gd fmla="val 1428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1"/>
          <p:cNvSpPr/>
          <p:nvPr/>
        </p:nvSpPr>
        <p:spPr>
          <a:xfrm>
            <a:off x="1523951" y="3531160"/>
            <a:ext cx="419063" cy="419063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1"/>
          <p:cNvSpPr/>
          <p:nvPr/>
        </p:nvSpPr>
        <p:spPr>
          <a:xfrm>
            <a:off x="2228730" y="3536323"/>
            <a:ext cx="6941811" cy="4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 --version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버전을 출력합니까?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1"/>
          <p:cNvSpPr/>
          <p:nvPr/>
        </p:nvSpPr>
        <p:spPr>
          <a:xfrm>
            <a:off x="1142997" y="4502633"/>
            <a:ext cx="16001964" cy="1066712"/>
          </a:xfrm>
          <a:prstGeom prst="roundRect">
            <a:avLst>
              <a:gd fmla="val 1428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1"/>
          <p:cNvSpPr/>
          <p:nvPr/>
        </p:nvSpPr>
        <p:spPr>
          <a:xfrm>
            <a:off x="1523951" y="4826457"/>
            <a:ext cx="419063" cy="419063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1"/>
          <p:cNvSpPr/>
          <p:nvPr/>
        </p:nvSpPr>
        <p:spPr>
          <a:xfrm>
            <a:off x="2228730" y="4831620"/>
            <a:ext cx="7670439" cy="4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VS Code 통합 터미널에서 </a:t>
            </a: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실행됩니까?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1"/>
          <p:cNvSpPr/>
          <p:nvPr/>
        </p:nvSpPr>
        <p:spPr>
          <a:xfrm>
            <a:off x="1142997" y="5797930"/>
            <a:ext cx="16001964" cy="1066712"/>
          </a:xfrm>
          <a:prstGeom prst="roundRect">
            <a:avLst>
              <a:gd fmla="val 1428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1"/>
          <p:cNvSpPr/>
          <p:nvPr/>
        </p:nvSpPr>
        <p:spPr>
          <a:xfrm>
            <a:off x="1523951" y="6121755"/>
            <a:ext cx="419063" cy="419063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1"/>
          <p:cNvSpPr/>
          <p:nvPr/>
        </p:nvSpPr>
        <p:spPr>
          <a:xfrm>
            <a:off x="2228730" y="6126917"/>
            <a:ext cx="5977430" cy="4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현재 모드가 Manual인지 확인했습니까?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1"/>
          <p:cNvSpPr/>
          <p:nvPr/>
        </p:nvSpPr>
        <p:spPr>
          <a:xfrm>
            <a:off x="1142997" y="7093228"/>
            <a:ext cx="16001964" cy="1066712"/>
          </a:xfrm>
          <a:prstGeom prst="roundRect">
            <a:avLst>
              <a:gd fmla="val 1428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1"/>
          <p:cNvSpPr/>
          <p:nvPr/>
        </p:nvSpPr>
        <p:spPr>
          <a:xfrm>
            <a:off x="1523951" y="7417052"/>
            <a:ext cx="419063" cy="419063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1"/>
          <p:cNvSpPr/>
          <p:nvPr/>
        </p:nvSpPr>
        <p:spPr>
          <a:xfrm>
            <a:off x="2228730" y="7422215"/>
            <a:ext cx="11196117" cy="4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python3 -m pip install pandas openpyxl</a:t>
            </a: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성공했습니까?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2"/>
          <p:cNvSpPr/>
          <p:nvPr/>
        </p:nvSpPr>
        <p:spPr>
          <a:xfrm>
            <a:off x="1142997" y="3072561"/>
            <a:ext cx="17602160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0을 마치며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2"/>
          <p:cNvSpPr/>
          <p:nvPr/>
        </p:nvSpPr>
        <p:spPr>
          <a:xfrm>
            <a:off x="1142997" y="3779581"/>
            <a:ext cx="15716214" cy="10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기법을 배우지 않았다. 판단의 기준을 세웠다.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2"/>
          <p:cNvSpPr/>
          <p:nvPr/>
        </p:nvSpPr>
        <p:spPr>
          <a:xfrm>
            <a:off x="1142997" y="5227315"/>
            <a:ext cx="1523951" cy="57129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2"/>
          <p:cNvSpPr/>
          <p:nvPr/>
        </p:nvSpPr>
        <p:spPr>
          <a:xfrm>
            <a:off x="1142997" y="5741616"/>
            <a:ext cx="8465796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여기까지 만든 것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2"/>
          <p:cNvSpPr/>
          <p:nvPr/>
        </p:nvSpPr>
        <p:spPr>
          <a:xfrm>
            <a:off x="1142997" y="6239070"/>
            <a:ext cx="8465796" cy="525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채점 기준 · 함정 목록 · 돌아가는 실습 환경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2"/>
          <p:cNvSpPr/>
          <p:nvPr/>
        </p:nvSpPr>
        <p:spPr>
          <a:xfrm>
            <a:off x="9448715" y="5741616"/>
            <a:ext cx="8465871" cy="364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1로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2"/>
          <p:cNvSpPr/>
          <p:nvPr/>
        </p:nvSpPr>
        <p:spPr>
          <a:xfrm>
            <a:off x="9448715" y="6239070"/>
            <a:ext cx="7927133" cy="1013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2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 Code 핵심 — 도구 · 명령어 ·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그리고 서브에이전트 협업 구조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