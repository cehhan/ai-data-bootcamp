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2997" y="2944852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AI 에이전트 활용 데이터 분석 파이프라인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2997" y="3804308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2997" y="4379679"/>
            <a:ext cx="17602160" cy="1232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 파이프라인 설계와 실행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2997" y="5993502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142997" y="6545912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1. di-pipeline-kit 구조 — 네 층 · 7단계 · 두 개의 입력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2997" y="7067821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2. 파이프라인 실전 실행 </a:t>
            </a:r>
            <a:r>
              <a:rPr b="0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— 손으로 하는 챕터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킷은 네 층이다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규칙·원칙·절차·역할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42997" y="3478514"/>
            <a:ext cx="152395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42997" y="3053880"/>
            <a:ext cx="1600151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층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009794" y="3478514"/>
            <a:ext cx="380994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009794" y="3053880"/>
            <a:ext cx="392424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파일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162585" y="3478514"/>
            <a:ext cx="6591562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162585" y="3053880"/>
            <a:ext cx="6789308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무엇인가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4096991" y="3478514"/>
            <a:ext cx="3047971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4096991" y="3053880"/>
            <a:ext cx="3139410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언제 읽히는가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42997" y="4331312"/>
            <a:ext cx="152395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142997" y="3733199"/>
            <a:ext cx="1600151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009794" y="4331312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009794" y="3733199"/>
            <a:ext cx="392424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162585" y="4331312"/>
            <a:ext cx="659156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162585" y="3733199"/>
            <a:ext cx="6789308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프로젝트의 실행 규칙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4096991" y="4331312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4096991" y="3733199"/>
            <a:ext cx="31394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항상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42997" y="5166721"/>
            <a:ext cx="152395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142997" y="4568607"/>
            <a:ext cx="1600151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원칙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009794" y="5166721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009794" y="4568607"/>
            <a:ext cx="392424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.claude/rules/*.md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162585" y="5166721"/>
            <a:ext cx="659156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162585" y="4568607"/>
            <a:ext cx="6789308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모든 에이전트에 공통인 품질·디자인 기준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4096991" y="5166721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4096991" y="4568607"/>
            <a:ext cx="31394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항상 (임포트)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142997" y="6002129"/>
            <a:ext cx="152395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142997" y="5404015"/>
            <a:ext cx="1600151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009794" y="6002129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009794" y="5404015"/>
            <a:ext cx="392424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.claude/skills/*/SKILL.md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162585" y="6002129"/>
            <a:ext cx="659156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162585" y="5404015"/>
            <a:ext cx="6789308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"이 순서로 해라"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4096991" y="6002129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14096991" y="5404015"/>
            <a:ext cx="31394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 명령어를 부를 때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142997" y="6837538"/>
            <a:ext cx="152395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1142997" y="6239424"/>
            <a:ext cx="1600151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역할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009794" y="6837538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009794" y="6239424"/>
            <a:ext cx="392424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.claude/agents/*.md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162585" y="6837538"/>
            <a:ext cx="659156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162585" y="6239424"/>
            <a:ext cx="6789308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"너는 이것만 한다"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4096991" y="6837538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14096991" y="6239424"/>
            <a:ext cx="31394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 에이전트를 부를 때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142997" y="7144787"/>
            <a:ext cx="16001964" cy="2418323"/>
          </a:xfrm>
          <a:prstGeom prst="roundRect">
            <a:avLst>
              <a:gd fmla="val 630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485842" y="7430502"/>
            <a:ext cx="15775763" cy="4591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7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CLAUDE.md 최상단 — 파일 임포트 세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485842" y="7965794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@.claude/rules/analysis-principles.md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485842" y="8402994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@.claude/rules/metric-definition.md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485842" y="8840195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@.claude/rules/design-system.md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버리지 않는다. 옮긴다.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Part 1 Ch1에서 남겨 둔 질문 — "짧게 쓰라면서 지킬 게 많은데 뭘 버리냐".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142997" y="3478514"/>
            <a:ext cx="7402243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142997" y="3053880"/>
            <a:ext cx="7624310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문장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002413" y="3478514"/>
            <a:ext cx="8142549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9002413" y="3053880"/>
            <a:ext cx="838682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어느 층인가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42997" y="4318270"/>
            <a:ext cx="74022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142997" y="3733199"/>
            <a:ext cx="7624310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"모든 산출물은 한국어로 쓴다"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002413" y="4318270"/>
            <a:ext cx="81425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9002413" y="3733199"/>
            <a:ext cx="8386825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이 프로젝트의 결정. 다른 프로젝트는 영어일 수 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142997" y="5153678"/>
            <a:ext cx="74022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142997" y="4555565"/>
            <a:ext cx="76243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"비율에는 표본 크기를 함께 적는다"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002413" y="5153678"/>
            <a:ext cx="81425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9002413" y="4555565"/>
            <a:ext cx="838682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원칙 — 분석이라는 일 자체의 기준. 프로젝트가 바뀌어도 안 바뀐다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142997" y="5976044"/>
            <a:ext cx="74022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1142997" y="5390973"/>
            <a:ext cx="7624310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"1단계 후 산출물을 확인하고 2단계로"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002413" y="5976044"/>
            <a:ext cx="81425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9002413" y="5390973"/>
            <a:ext cx="8386825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절차 </a:t>
            </a: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파이프라인 돌릴 때만 필요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42997" y="6798409"/>
            <a:ext cx="74022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142997" y="6213339"/>
            <a:ext cx="7624310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"이 에이전트는 결측을 채우지 않는다"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002413" y="6798409"/>
            <a:ext cx="81425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9002413" y="6213339"/>
            <a:ext cx="8386825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역할 </a:t>
            </a: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그 에이전트만의 제약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42997" y="8655832"/>
            <a:ext cx="6224873" cy="907279"/>
          </a:xfrm>
          <a:prstGeom prst="roundRect">
            <a:avLst>
              <a:gd fmla="val 16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466847" y="8922532"/>
            <a:ext cx="5763919" cy="411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공통 원칙을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400" u="none" cap="none" strike="noStrike">
                <a:solidFill>
                  <a:srgbClr val="03071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에 옮겨 적으면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60줄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748824" y="8900789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491711" y="8658005"/>
            <a:ext cx="7114422" cy="902931"/>
          </a:xfrm>
          <a:prstGeom prst="roundRect">
            <a:avLst>
              <a:gd fmla="val 1687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815561" y="8924705"/>
            <a:ext cx="6680155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별도 파일 + 임포트면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30줄</a:t>
            </a:r>
            <a:r>
              <a:rPr b="0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로 남고 원칙은 그대로 적용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층마다 재사용 단위가 다르다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이게 네 층으로 나눈 실용적 이유다.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42997" y="3130098"/>
            <a:ext cx="3814769" cy="2292992"/>
          </a:xfrm>
          <a:prstGeom prst="roundRect">
            <a:avLst>
              <a:gd fmla="val 7477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142997" y="3130098"/>
            <a:ext cx="3814769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485842" y="3567570"/>
            <a:ext cx="3441987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원칙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485842" y="4156323"/>
            <a:ext cx="322295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거의 안 바뀐다. 다른 킷에 그대로 복사한다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205373" y="3130098"/>
            <a:ext cx="3814769" cy="2292992"/>
          </a:xfrm>
          <a:prstGeom prst="roundRect">
            <a:avLst>
              <a:gd fmla="val 74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548218" y="3511052"/>
            <a:ext cx="3441987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548218" y="4099805"/>
            <a:ext cx="322295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프로젝트가 사는 동안 거의 안 바뀐다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267749" y="3130098"/>
            <a:ext cx="3814769" cy="2292992"/>
          </a:xfrm>
          <a:prstGeom prst="roundRect">
            <a:avLst>
              <a:gd fmla="val 74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610594" y="3511052"/>
            <a:ext cx="3441987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절차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610594" y="4099805"/>
            <a:ext cx="322295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파이프라인 구성이 바뀌면 바뀐다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3330125" y="3130098"/>
            <a:ext cx="3814837" cy="2292992"/>
          </a:xfrm>
          <a:prstGeom prst="roundRect">
            <a:avLst>
              <a:gd fmla="val 74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3672969" y="3511052"/>
            <a:ext cx="3442062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역할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3672969" y="4099805"/>
            <a:ext cx="322302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 단계 품질이 아쉬울 때 그것만 고친다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142997" y="9141435"/>
            <a:ext cx="16482023" cy="459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@eda 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결과가 아쉬워서 고칠 때 여는 파일은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eda.md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하나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킷의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rules/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 개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142997" y="2629927"/>
            <a:ext cx="16001964" cy="1143337"/>
          </a:xfrm>
          <a:prstGeom prst="roundRect">
            <a:avLst>
              <a:gd fmla="val 149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523951" y="3037985"/>
            <a:ext cx="4610065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analysis-principles.md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133982" y="2972771"/>
            <a:ext cx="10488336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수치의 출처 · 표본 임계값(n&lt;30 / n&lt;5) · 평균의 평균 금지 · 집계 단위 · 반증 조건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42997" y="4039959"/>
            <a:ext cx="16001964" cy="1143337"/>
          </a:xfrm>
          <a:prstGeom prst="roundRect">
            <a:avLst>
              <a:gd fmla="val 149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523951" y="4448017"/>
            <a:ext cx="4610065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metric-definition.md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133982" y="4382803"/>
            <a:ext cx="626563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지표 4요소 · 제외조건 작성법 · 속일 수 있는 경우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142997" y="5449991"/>
            <a:ext cx="16001964" cy="1143337"/>
          </a:xfrm>
          <a:prstGeom prst="roundRect">
            <a:avLst>
              <a:gd fmla="val 14996" name="adj"/>
            </a:avLst>
          </a:prstGeom>
          <a:solidFill>
            <a:srgbClr val="F7585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142997" y="5449991"/>
            <a:ext cx="56518" cy="1143337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580469" y="5858049"/>
            <a:ext cx="4547222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design-system.md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133371" y="5792835"/>
            <a:ext cx="5804146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색상 토큰의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단일 출처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차트 규칙 · 금지 목록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142997" y="8662964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142997" y="9090759"/>
            <a:ext cx="16482023" cy="5104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토큰을 여러 문서에 적어 두면 값이 갈린다. 그러면 대시보드 색이 문서마다 다르게 지시된다.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일곱 단계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142997" y="2893429"/>
            <a:ext cx="666737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2076430" y="2893429"/>
            <a:ext cx="304797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076430" y="2477491"/>
            <a:ext cx="3139410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에이전트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391095" y="2893429"/>
            <a:ext cx="4172083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391095" y="2477491"/>
            <a:ext cx="4297246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하는 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9829873" y="2893429"/>
            <a:ext cx="323844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9829873" y="2477491"/>
            <a:ext cx="3335601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하지 않는 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3335015" y="2893429"/>
            <a:ext cx="380994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13335015" y="2477491"/>
            <a:ext cx="3924245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산출물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142997" y="3560641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142997" y="3081439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076430" y="3560641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076430" y="3081439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391095" y="3560641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391095" y="3081439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구조·품질 파악, 확인 필요 목록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829873" y="3560641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9829873" y="3081439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분석 · 자동 전처리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3335015" y="3560641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3335015" y="3081439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142997" y="4210464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142997" y="3731261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076430" y="4210464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2076430" y="3731261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@eda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391095" y="4210464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391095" y="3731261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패턴 탐색, 집계 단위 대조, 질문 도출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9829873" y="4210464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9829873" y="3731261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3335015" y="4210464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13335015" y="3731261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02_eda_report.md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142997" y="4860286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142997" y="4381084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076430" y="4860286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2076430" y="4381084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391095" y="4860286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391095" y="4381084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앞둔 결정과 패턴을 연결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829873" y="4860286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9829873" y="4381084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결정 발명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3335015" y="4860286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3335015" y="4381084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03_problem_definition.md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142997" y="5510109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142997" y="5030907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076430" y="5510109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2076430" y="5030907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@metrics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391095" y="5510109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5391095" y="5030907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4요소 확정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829873" y="5510109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9829873" y="5030907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계산 없이 값 적기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3335015" y="5510109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3335015" y="5030907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04_kpi_summary.md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142997" y="6159931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142997" y="5680729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076430" y="6159931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2076430" y="5680729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@analysis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391095" y="6159931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391095" y="5680729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데이터로 검증, 반증 조건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829873" y="6159931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9829873" y="5680729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지표 재정의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3335015" y="6159931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3335015" y="5680729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05_analysis_report.md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42997" y="6809754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142997" y="6330551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076430" y="6809754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2076430" y="6330551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@dashboard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391095" y="6809754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391095" y="6330551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원형 골라 화면 제작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829873" y="6809754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9829873" y="6330551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새 HTML 작성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3335015" y="6809754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3335015" y="6330551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06_dashboard.html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42997" y="6980374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076430" y="6980374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@report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391095" y="6980374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압축과 우선순위화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829873" y="6980374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새 발견 · 감사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3335015" y="6980374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07_executive_report.md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142997" y="9171895"/>
            <a:ext cx="16482023" cy="429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"하지 않는 일" 열이 이 표의 본론이다.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 열이 없으면 각 에이전트가 옆 단계 일까지 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7이라는 숫자는 중요하지 않다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실무에서는 합치거나 생략한다. 중요한 건 흐름이다.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825502" y="5310122"/>
            <a:ext cx="2404533" cy="1270571"/>
          </a:xfrm>
          <a:prstGeom prst="roundRect">
            <a:avLst>
              <a:gd fmla="val 13494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244602" y="5691122"/>
            <a:ext cx="1642533" cy="5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문제 정의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572881" y="5660643"/>
            <a:ext cx="571481" cy="6076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411006" y="5310122"/>
            <a:ext cx="1563147" cy="1270571"/>
          </a:xfrm>
          <a:prstGeom prst="roundRect">
            <a:avLst>
              <a:gd fmla="val 13494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7830106" y="5691122"/>
            <a:ext cx="801147" cy="5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지표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9316998" y="5660643"/>
            <a:ext cx="571481" cy="6076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155124" y="5310122"/>
            <a:ext cx="1563147" cy="1270571"/>
          </a:xfrm>
          <a:prstGeom prst="roundRect">
            <a:avLst>
              <a:gd fmla="val 13494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0574224" y="5691122"/>
            <a:ext cx="801147" cy="5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2061116" y="5660643"/>
            <a:ext cx="571481" cy="6076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2899242" y="5310122"/>
            <a:ext cx="1563147" cy="1270571"/>
          </a:xfrm>
          <a:prstGeom prst="roundRect">
            <a:avLst>
              <a:gd fmla="val 13494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13318342" y="5691122"/>
            <a:ext cx="801147" cy="5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전달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142997" y="8624787"/>
            <a:ext cx="16001964" cy="17390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142997" y="9061277"/>
            <a:ext cx="16482023" cy="539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7개로 나눈 건 각 단계의 역할과 산출물을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눈으로 보기 위해서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다. 직접 써 본 뒤 필요에 맞게 조정하면 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 감사는 단계가 아니라 도구다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142997" y="228701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는 8번째 단계가 아니다. 언제든 부를 수 있는 도구다.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142997" y="3194293"/>
            <a:ext cx="7810505" cy="3609823"/>
          </a:xfrm>
          <a:prstGeom prst="roundRect">
            <a:avLst>
              <a:gd fmla="val 52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1562060" y="3651464"/>
            <a:ext cx="766961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레퍼런스 킷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562060" y="4208766"/>
            <a:ext cx="7181551" cy="10514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1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마지막 단계(</a:t>
            </a:r>
            <a:r>
              <a:rPr b="1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@report </a:t>
            </a: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)가 상류 산출물을 채점한다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562060" y="5431649"/>
            <a:ext cx="7181551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요약하려는 동기와 흠을 찾으려는 동기는 반대 방향이다. 한 에이전트에 둘을 주면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요약이 이긴다.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9334456" y="3194293"/>
            <a:ext cx="7810505" cy="3609823"/>
          </a:xfrm>
          <a:prstGeom prst="roundRect">
            <a:avLst>
              <a:gd fmla="val 527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9753519" y="3651464"/>
            <a:ext cx="766961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우리 킷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9753519" y="4208766"/>
            <a:ext cx="7181551" cy="10514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감사를 </a:t>
            </a:r>
            <a:r>
              <a:rPr b="1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@report</a:t>
            </a: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에서 떼어 </a:t>
            </a:r>
            <a:r>
              <a:rPr b="1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 </a:t>
            </a: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옮겼다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9753519" y="5431649"/>
            <a:ext cx="766961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 Ch3에서 쓴다.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입력이 둘이다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레퍼런스 킷은 데이터 하나만 받는다. 우리 킷은 둘을 받는다.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142997" y="3113727"/>
            <a:ext cx="16001964" cy="2453376"/>
          </a:xfrm>
          <a:prstGeom prst="roundRect">
            <a:avLst>
              <a:gd fmla="val 7765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1600169" y="3494681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runs/latest/input/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600169" y="4058504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online_retail.csv 데이터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1600169" y="4622326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</a:t>
            </a:r>
            <a:r>
              <a:rPr b="0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사람이 쓴 분석 의도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142997" y="5986165"/>
            <a:ext cx="17602160" cy="503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없으면 파이프라인이 시작되지 않는다.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142997" y="6878364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1142997" y="724729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PART 1 CH3에서 연역한 논리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42997" y="7684970"/>
            <a:ext cx="16482023" cy="1916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1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단계 간 공식 인수인계를 파일로 제한한다 → 공식 입력 파일에 없는 의도는 재실행·공유 때 보장되지 않는다 → 분석 목적과 앞둔 결정을 확인 가능한 형태로 남겨야 한다 → </a:t>
            </a:r>
            <a:r>
              <a:rPr b="1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그래서 의도도 00_context.md에 기록한다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Courier New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다섯 항목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15줄이면 충분하다. 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길게 쓰지 마세요.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142997" y="3500251"/>
            <a:ext cx="723010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1142997" y="3075618"/>
            <a:ext cx="7447011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항목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8830277" y="3500251"/>
            <a:ext cx="831461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8830277" y="3075618"/>
            <a:ext cx="856405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무엇을 쓰는가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142997" y="4391091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1142997" y="3773987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누가 이 분석을 필요로 하는가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8830277" y="4391091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8830277" y="3773987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직무·역할. 이 사람이 보고서를 읽는다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142997" y="5264540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1142997" y="4647436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어떤 결정을 앞두고 있는가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830277" y="5264540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8830277" y="4647436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비면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 3단계에서 멈춘다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142997" y="6137990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142997" y="5520886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이미 알고 있는 것 / 시도한 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8830277" y="6137990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8830277" y="5520886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이걸 써야 </a:t>
            </a:r>
            <a:r>
              <a:rPr b="0" i="0" lang="en-US" sz="23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@analysis</a:t>
            </a: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아는 걸 발견으로 안 내놓는다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142997" y="7011440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142997" y="6394335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데이터가 무엇인지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8830277" y="7011440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8830277" y="6394335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컬럼 의미. 데이터가 말해 주지 않는 것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142997" y="7884889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1142997" y="7267784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답이 나와도 할 수 없는 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8830277" y="7884889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8830277" y="7267784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제약. 실행 못 하는 해결책은 해결책이 아니다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142997" y="9193615"/>
            <a:ext cx="16482023" cy="4075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 항목은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고르는 것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이어야 한다. Part 0 Ch2의 결정/비결정 구분을 다시 보세요.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네 번째 항목은 나중에 채운다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142997" y="228701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를 쓸 때는 아직 데이터를 안 봤다.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1142997" y="3079966"/>
            <a:ext cx="16001964" cy="2552418"/>
          </a:xfrm>
          <a:prstGeom prst="roundRect">
            <a:avLst>
              <a:gd fmla="val 6717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1543040" y="3422811"/>
            <a:ext cx="15657935" cy="504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58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확인 필요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543040" y="3889493"/>
            <a:ext cx="15657935" cy="504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5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Price는 정가 / 판매가 / 할인 후 중 무엇입니까?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543040" y="4356175"/>
            <a:ext cx="15657935" cy="504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5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Invoice가 C로 시작하는 행은 취소입니까? 매출에서 빼야 합니까?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543040" y="4822857"/>
            <a:ext cx="15657935" cy="504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5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StockCode에 POST·M 같은 값이 섞여 있습니다. 상품이 아닌 항목입니까?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142997" y="6051446"/>
            <a:ext cx="2976508" cy="762451"/>
          </a:xfrm>
          <a:prstGeom prst="roundRect">
            <a:avLst>
              <a:gd fmla="val 17490" name="adj"/>
            </a:avLst>
          </a:prstGeom>
          <a:solidFill>
            <a:srgbClr val="F7585C">
              <a:alpha val="18039"/>
            </a:srgbClr>
          </a:solidFill>
          <a:ln cap="flat" cmpd="sng" w="17375">
            <a:solidFill>
              <a:srgbClr val="F75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1427088" y="6278386"/>
            <a:ext cx="2497622" cy="3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348091" y="6234859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919590" y="6060142"/>
            <a:ext cx="2065696" cy="745061"/>
          </a:xfrm>
          <a:prstGeom prst="roundRect">
            <a:avLst>
              <a:gd fmla="val 17898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5186290" y="6269692"/>
            <a:ext cx="1608496" cy="364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확인 필요 목록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213872" y="6234859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785371" y="6060142"/>
            <a:ext cx="2757704" cy="745061"/>
          </a:xfrm>
          <a:prstGeom prst="roundRect">
            <a:avLst>
              <a:gd fmla="val 17898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8052071" y="6269692"/>
            <a:ext cx="2307035" cy="364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여러분이 답을 채운다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0771660" y="6234859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1343159" y="6060142"/>
            <a:ext cx="1530201" cy="745061"/>
          </a:xfrm>
          <a:prstGeom prst="roundRect">
            <a:avLst>
              <a:gd fmla="val 17898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11609859" y="6269692"/>
            <a:ext cx="1073001" cy="364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다시 실행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142997" y="8725867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1142997" y="9077462"/>
            <a:ext cx="16482023" cy="523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 체크포인트 하나로 오류 한 종류가 사라지는 지점이다.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에이전트가 모르는 걸 추측하면 그 추측이 하류로 간다.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 구조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142997" y="2515600"/>
            <a:ext cx="16001964" cy="5037449"/>
          </a:xfrm>
          <a:prstGeom prst="roundRect">
            <a:avLst>
              <a:gd fmla="val 378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1523951" y="2820336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di-pipeline-kit/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523951" y="3189334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CLAUDE.md 규칙 + rules 임포트 3줄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523951" y="3558332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.claude/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523951" y="3927330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rules/ 원칙 3개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523951" y="4296328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agents/ 역할 7개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1523951" y="4665326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└── skills/ 절차 3개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523951" y="5034324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templates/ 대시보드 원형별 베이스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523951" y="5403323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b="0" i="0" lang="en-US" sz="18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523951" y="5772320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input/ 데이터 + 00_context.md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523951" y="6141319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outputs/ 01_ ~ 07_ 산출물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523951" y="6510317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└── queries/ 수치를 만든 계산 스크립트 ← Part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523951" y="6879315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tools/ prepare_data.py · build_student_kit.py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142997" y="8103218"/>
            <a:ext cx="17602160" cy="459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작업 폴더는 항상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다. 경로를 하나만 기억한다.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142997" y="8677298"/>
            <a:ext cx="16482023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"새 실행"이라고 요청하면 이전 실행은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runs/&lt;타임스탬프&gt;/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로 자동 보관된다.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보관 폴더는 지우지 마세요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두 실행을 나란히 비교하는 것이 가장 직접적인 확인 방법이다.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모델 배분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1142997" y="2629927"/>
            <a:ext cx="9112256" cy="1998853"/>
          </a:xfrm>
          <a:prstGeom prst="roundRect">
            <a:avLst>
              <a:gd fmla="val 953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1562060" y="3087098"/>
            <a:ext cx="9101543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구조 파악 · 탐색 · 문제 정의 · 지표 정의 · 검증 · 요약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1562060" y="3749896"/>
            <a:ext cx="9101543" cy="459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claude-haiku-4-5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0636208" y="2629927"/>
            <a:ext cx="6508754" cy="1998853"/>
          </a:xfrm>
          <a:prstGeom prst="roundRect">
            <a:avLst>
              <a:gd fmla="val 9530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11055271" y="3087098"/>
            <a:ext cx="6237692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 제작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11055271" y="3749896"/>
            <a:ext cx="6237692" cy="459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claude-sonnet-4-5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1142997" y="5124060"/>
            <a:ext cx="16482023" cy="1041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앞 단계는 정해진 형식으로 사실을 옮기는 일이라 작은 모델로 충분하다. 대시보드는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레이아웃 판단과 SVG 좌표 계산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을 함께 해야 해서 다르다.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142997" y="6318277"/>
            <a:ext cx="17602160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배분이 품질을 해친다면 03·05(판단이 가장 많은 단계)일 가능성이 높다. Part 6 Ch1에서 다시 다룬다.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레퍼런스 킷과 다른 네 곳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구조(4층·7단계·번호 규약·파일 기반 통신·체크포인트)는 그 설계를 따르고, 아래 넷을 새로 넣었다.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1142997" y="3091989"/>
            <a:ext cx="7858124" cy="2775366"/>
          </a:xfrm>
          <a:prstGeom prst="roundRect">
            <a:avLst>
              <a:gd fmla="val 68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1523951" y="3511052"/>
            <a:ext cx="78058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1523951" y="3991117"/>
            <a:ext cx="7805839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1523951" y="4562479"/>
            <a:ext cx="7309103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사람의 의도가 파이프라인에 들어가는 자리. 없으면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문제를 역산한다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9286837" y="3091989"/>
            <a:ext cx="7858124" cy="2775366"/>
          </a:xfrm>
          <a:prstGeom prst="roundRect">
            <a:avLst>
              <a:gd fmla="val 68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9667791" y="3511052"/>
            <a:ext cx="78058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9667791" y="3991117"/>
            <a:ext cx="7805839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queries/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9667791" y="4562479"/>
            <a:ext cx="7309103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문서의 수치를 만든 계산을 저장.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재실행해 대조한다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1142997" y="6153070"/>
            <a:ext cx="7858124" cy="2792756"/>
          </a:xfrm>
          <a:prstGeom prst="roundRect">
            <a:avLst>
              <a:gd fmla="val 68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1523951" y="6572133"/>
            <a:ext cx="78058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1523951" y="7052197"/>
            <a:ext cx="7805839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반증 필드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1523951" y="7640950"/>
            <a:ext cx="7309103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"이 결론이 틀렸다면",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"이 지표가 속일 수 있는 경우"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9286837" y="6153070"/>
            <a:ext cx="7858124" cy="2792756"/>
          </a:xfrm>
          <a:prstGeom prst="roundRect">
            <a:avLst>
              <a:gd fmla="val 682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9667791" y="6572133"/>
            <a:ext cx="78058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9667791" y="7052197"/>
            <a:ext cx="7805839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감사와 요약 분리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9667791" y="7640950"/>
            <a:ext cx="7805839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@report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는 채점하지 않는다. 감사는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다섯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1142997" y="3247278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1142997" y="2692830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1866864" y="2571099"/>
            <a:ext cx="11169814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층은 넷 — 규칙 ·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원칙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절차 · 역할.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짧게 유지한다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1142997" y="4141651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1142997" y="3587202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1866864" y="3465471"/>
            <a:ext cx="577709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일곱 단계의 본론은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"하지 않는 일"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열이다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1142997" y="5036022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1142997" y="4481574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1866864" y="4359843"/>
            <a:ext cx="10505074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입력은 둘 — 데이터 +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. 후자가 없으면 시작하지 않는다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1142997" y="5930395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1142997" y="5375946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1866864" y="5254215"/>
            <a:ext cx="8164287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 감사는 단계가 아니라 도구(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1142997" y="6824766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1142997" y="6270318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1866864" y="6148587"/>
            <a:ext cx="11674123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작업 폴더는 항상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. 새 실행을 명시하면 이전 실행을 자동 보관한다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1142997" y="7106678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1142997" y="7551826"/>
            <a:ext cx="1790696" cy="2049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3276556" y="7551826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1. "비율에는 표본 크기를 함께 적는다"는 어느 층에 쓰는가? 왜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아닌가?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276556" y="7973131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2. 일곱 단계 표에서 가장 중요한 열은 무엇인가?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3276556" y="8394435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없으면 무슨 일이 생기는가?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3276556" y="8815740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@report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에서 감사 역할을 뺀 이유는?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3276556" y="9237044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의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확인 필요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목록은 누가 답하는가?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/>
          <p:cNvSpPr/>
          <p:nvPr/>
        </p:nvSpPr>
        <p:spPr>
          <a:xfrm>
            <a:off x="1142997" y="3555547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2 · 손으로 하는 챕터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1142997" y="4148308"/>
            <a:ext cx="17602160" cy="117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파이프라인 실전 실행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142997" y="5668455"/>
            <a:ext cx="12753970" cy="110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산출물이 나온 것이 성과가 아니다.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읽어서 이상한 곳을 찾는 것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성과다. 여기서 찾은 것이 Part 3에서 에이전트를 고치는 출발점이 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전 체크 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1142997" y="228701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은 시작 전에 세 가지를 확인하고, 하나라도 없으면 멈춘다.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1142997" y="3118075"/>
            <a:ext cx="5143488" cy="3048446"/>
          </a:xfrm>
          <a:prstGeom prst="roundRect">
            <a:avLst>
              <a:gd fmla="val 624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1523951" y="3537138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523951" y="4017202"/>
            <a:ext cx="4819739" cy="46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폴더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1523951" y="4615261"/>
            <a:ext cx="4513028" cy="6554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runs/latest/outputs · queries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1523951" y="5404002"/>
            <a:ext cx="4819739" cy="3815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자동 생성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6572201" y="3118075"/>
            <a:ext cx="5143488" cy="3048446"/>
          </a:xfrm>
          <a:prstGeom prst="roundRect">
            <a:avLst>
              <a:gd fmla="val 624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6953155" y="3537138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6953155" y="4017202"/>
            <a:ext cx="4819739" cy="46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 파일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6953155" y="4615261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CSV · TSV · XLSX · JSON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6953155" y="5399654"/>
            <a:ext cx="481973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안내하고 중단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12001405" y="3118075"/>
            <a:ext cx="5143556" cy="3048446"/>
          </a:xfrm>
          <a:prstGeom prst="roundRect">
            <a:avLst>
              <a:gd fmla="val 624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12382359" y="3537138"/>
            <a:ext cx="4819813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12382359" y="4017202"/>
            <a:ext cx="4819813" cy="46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2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12382359" y="4615261"/>
            <a:ext cx="4819813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사람이 쓴 분석 의도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12382359" y="5399654"/>
            <a:ext cx="4819813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안내하고 중단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1142997" y="6661802"/>
            <a:ext cx="17602160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3번에서 멈추는 것은 실패가 아니다. </a:t>
            </a:r>
            <a:r>
              <a:rPr b="1" i="0" lang="en-US" sz="3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설계다.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1142997" y="7508690"/>
            <a:ext cx="16001964" cy="2054420"/>
          </a:xfrm>
          <a:prstGeom prst="roundRect">
            <a:avLst>
              <a:gd fmla="val 741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1504931" y="7813426"/>
            <a:ext cx="15736441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⛔ 00_context.md가 없습니다.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504931" y="8383974"/>
            <a:ext cx="15736441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데이터만으로는 "무엇을 해결해야 하는가"를 알 수 없습니다.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504931" y="8821174"/>
            <a:ext cx="15736441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데이터에서 문제를 역산하면 그럴싸하지만 아무 결정과도 무관한 분석이 나옵니다.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 항목이 관문이다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1142997" y="228701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"어떤 결정을 앞두고 있는가"가 비었거나 결정이 아닌 문장이면 </a:t>
            </a:r>
            <a:r>
              <a:rPr b="0" i="0" lang="en-US" sz="24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은 되묻고 멈춘다.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1142997" y="3542708"/>
            <a:ext cx="702427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0"/>
          <p:cNvSpPr/>
          <p:nvPr/>
        </p:nvSpPr>
        <p:spPr>
          <a:xfrm>
            <a:off x="1142997" y="3118075"/>
            <a:ext cx="7235007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쓴 것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8586339" y="3542708"/>
            <a:ext cx="228599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8586339" y="3118075"/>
            <a:ext cx="236219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판정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11291396" y="3542708"/>
            <a:ext cx="5853565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11291396" y="3118075"/>
            <a:ext cx="6029172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고치는 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1142997" y="4433548"/>
            <a:ext cx="70242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"/>
          <p:cNvSpPr/>
          <p:nvPr/>
        </p:nvSpPr>
        <p:spPr>
          <a:xfrm>
            <a:off x="1142997" y="3816443"/>
            <a:ext cx="7235007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"매출을 늘리고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8586339" y="4433548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0"/>
          <p:cNvSpPr/>
          <p:nvPr/>
        </p:nvSpPr>
        <p:spPr>
          <a:xfrm>
            <a:off x="8586339" y="3816443"/>
            <a:ext cx="236219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목표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11291396" y="4433548"/>
            <a:ext cx="5853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0"/>
          <p:cNvSpPr/>
          <p:nvPr/>
        </p:nvSpPr>
        <p:spPr>
          <a:xfrm>
            <a:off x="11291396" y="3816443"/>
            <a:ext cx="6029172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"그래서 무엇을 고르려는가?"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1142997" y="5306997"/>
            <a:ext cx="70242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0"/>
          <p:cNvSpPr/>
          <p:nvPr/>
        </p:nvSpPr>
        <p:spPr>
          <a:xfrm>
            <a:off x="1142997" y="4689893"/>
            <a:ext cx="7235007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"인사이트를 얻고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8586339" y="5306997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"/>
          <p:cNvSpPr/>
          <p:nvPr/>
        </p:nvSpPr>
        <p:spPr>
          <a:xfrm>
            <a:off x="8586339" y="4689893"/>
            <a:ext cx="236219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활동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11291396" y="5306997"/>
            <a:ext cx="5853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11291396" y="4689893"/>
            <a:ext cx="6029172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질문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1142997" y="6180446"/>
            <a:ext cx="70242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1142997" y="5563342"/>
            <a:ext cx="7235007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"왜 이탈하는지 알고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8586339" y="6180446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8586339" y="5563342"/>
            <a:ext cx="236219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질문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11291396" y="6180446"/>
            <a:ext cx="5853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11291396" y="5563342"/>
            <a:ext cx="6029172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"알면 무엇을 결정하는가?"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1142997" y="7049548"/>
            <a:ext cx="70242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1142997" y="6436791"/>
            <a:ext cx="7235007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"다음 시즌 구색에서 어떤 상품군을 뺄지"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8586339" y="7049548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8586339" y="6436791"/>
            <a:ext cx="236219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11291396" y="7049548"/>
            <a:ext cx="5853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11291396" y="6436791"/>
            <a:ext cx="6029172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142997" y="9056930"/>
            <a:ext cx="16482023" cy="54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결정이 아직 없는 것도 답이다. "아직 결정이 없고 현황 파악이 목적"이라고 적으면 현황 요약으로 진행한다.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예시 — 실습 데이터 기준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1142997" y="2287014"/>
            <a:ext cx="16001964" cy="6698960"/>
          </a:xfrm>
          <a:prstGeom prst="roundRect">
            <a:avLst>
              <a:gd fmla="val 2559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1447733" y="2515600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누가 이 분석을 필요로 하는가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1447733" y="2817279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상품 기획 담당자(MD). 결과를 팀장에게 보고해 승인을 받아야 한다.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1447733" y="3252305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어떤 결정을 앞두고 있는가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1447733" y="3553984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다음 시즌 상품 구색에서 어떤 상품군을 뺄지 고른다.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1447733" y="3855663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"몇 개를 뺀다" 가 아니라 "어떤 기준으로 뺀다" 를 정하는 것이 이번 결정이다.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1447733" y="4290690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이미 알고 있는 것 / 이미 시도한 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1447733" y="4592369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매출 상위 소수 상품이 전체의 큰 몫을 차지한다는 것은 이미 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1447733" y="4894048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영국 매출이 압도적으로 크다는 것도 이미 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1447733" y="5195727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작년에 단가 기준으로만 정리를 시도했다가 실패했다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1447733" y="5630753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이 데이터가 무엇인지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1447733" y="5932433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(01_dataset_profile.md 확인 뒤 채운다)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1447733" y="6367459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답이 나와도 할 수 없는 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1447733" y="6669138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원가 데이터가 없다. 마진 기준으로는 판단할 수 없다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1447733" y="6970817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재고 수량·보관 비용 데이터가 없다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1447733" y="7272496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정리 결정은 시즌 단위로만 가능하다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1142997" y="9176473"/>
            <a:ext cx="16482023" cy="424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28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세 번째 항목을 눈여겨보세요.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이미 아는 것을 적어 두면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@analysis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그것을 발견으로 다시 내놓지 않는다.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2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 준비 — 왜 스크립트로 뽑는가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1142997" y="2287014"/>
            <a:ext cx="1471609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UCI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Online Retail II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데이터셋(원본 1,067,371행, CC BY 4.0). 원본 전체는 실습 시간과 사용량에 비해 크므로 그대로 넣지 않는다.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1142997" y="3553780"/>
            <a:ext cx="16001964" cy="2004967"/>
          </a:xfrm>
          <a:prstGeom prst="roundRect">
            <a:avLst>
              <a:gd fmla="val 760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2"/>
          <p:cNvSpPr/>
          <p:nvPr/>
        </p:nvSpPr>
        <p:spPr>
          <a:xfrm>
            <a:off x="1485842" y="3839496"/>
            <a:ext cx="15775763" cy="471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75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python3 -m pip install pandas openpyxl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1485842" y="4272892"/>
            <a:ext cx="15775763" cy="471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75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python3 tools/prepare_data.py --source ~/Downloads/online_retail_II.xlsx --seed 20260902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1485842" y="4839636"/>
            <a:ext cx="15775763" cy="471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759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Courier New"/>
                <a:ea typeface="Courier New"/>
                <a:cs typeface="Courier New"/>
                <a:sym typeface="Courier New"/>
              </a:rPr>
              <a:t># Windows PowerShell에서는 python3 대신 py 를 사용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1142997" y="5977810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행 단위로 뽑으면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1142997" y="6518740"/>
            <a:ext cx="8044820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한 인보이스의 품목이 일부만 남아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1:N 구조가 깨진다. 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그러면 팬아웃 조인 함정을 배울 수 없다.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9334456" y="5977810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인보이스 단위로 뽑으면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9334456" y="6518740"/>
            <a:ext cx="8044820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뽑힌 인보이스는 모든 품목 행이 함께 남는다. 품질 진단에 필요한 결함 클래스가 포함되도록 해당 인보이스를 강제 편입한다.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1142997" y="8008862"/>
            <a:ext cx="16001964" cy="1554248"/>
          </a:xfrm>
          <a:prstGeom prst="roundRect">
            <a:avLst>
              <a:gd fmla="val 9805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2"/>
          <p:cNvSpPr/>
          <p:nvPr/>
        </p:nvSpPr>
        <p:spPr>
          <a:xfrm>
            <a:off x="1504947" y="8313662"/>
            <a:ext cx="15758123" cy="982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결함은 주입하지 않는다. 원본에 이미 있는 것만 남긴다. </a:t>
            </a:r>
            <a:r>
              <a:rPr b="0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퍼실이 함정을 심으면 학습자는 "강사가 넣은 거니까 찾으면 되겠지"로 접근한다. 실제 데이터는 그렇지 않다.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데이터의 실제 모습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영국 온라인 소매업체의 거래 명세. 정제하지 않았다.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1142997" y="3228054"/>
            <a:ext cx="5560024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45,004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1142997" y="4180507"/>
            <a:ext cx="5560024" cy="403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행 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6616628" y="3228054"/>
            <a:ext cx="5560099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2,209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6616628" y="4180507"/>
            <a:ext cx="5560099" cy="403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고유 Invoice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12090326" y="3228054"/>
            <a:ext cx="5560024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1,233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12090326" y="4180507"/>
            <a:ext cx="5560024" cy="403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고유 고객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(결측 제외)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1142997" y="5079091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1142997" y="5506848"/>
            <a:ext cx="334641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1142997" y="5928153"/>
            <a:ext cx="3346416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2010-12 ~ 2011-12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4947170" y="5506848"/>
            <a:ext cx="476638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인보이스당 품목 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4947170" y="5928153"/>
            <a:ext cx="4766386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중위 9 · 평균 20.4 · </a:t>
            </a:r>
            <a:r>
              <a:rPr b="1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최대 622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1142997" y="9145783"/>
            <a:ext cx="16482023" cy="4554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행 수 45,004 ≠ 거래 수 2,209.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"거래가 몇 건입니까"의 답은 45,004가 아니다.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1142997" y="2515600"/>
            <a:ext cx="1931806" cy="873449"/>
          </a:xfrm>
          <a:prstGeom prst="roundRect">
            <a:avLst>
              <a:gd fmla="val 1526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1523997" y="2763250"/>
            <a:ext cx="1246006" cy="4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3341498" y="2732773"/>
            <a:ext cx="457222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3989215" y="2515600"/>
            <a:ext cx="3296596" cy="873449"/>
          </a:xfrm>
          <a:prstGeom prst="roundRect">
            <a:avLst>
              <a:gd fmla="val 1526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4370215" y="2763250"/>
            <a:ext cx="2633494" cy="4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4"/>
          <p:cNvSpPr/>
          <p:nvPr/>
        </p:nvSpPr>
        <p:spPr>
          <a:xfrm>
            <a:off x="7552505" y="2778423"/>
            <a:ext cx="456306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또는 자연어로 "파이프라인 실행해줘"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1142997" y="4308963"/>
            <a:ext cx="228599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>
            <a:off x="1142997" y="3884330"/>
            <a:ext cx="236219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형식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3848055" y="4308963"/>
            <a:ext cx="13296906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4"/>
          <p:cNvSpPr/>
          <p:nvPr/>
        </p:nvSpPr>
        <p:spPr>
          <a:xfrm>
            <a:off x="3848055" y="3884330"/>
            <a:ext cx="13695813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주의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/>
          <p:nvPr/>
        </p:nvSpPr>
        <p:spPr>
          <a:xfrm>
            <a:off x="1142997" y="5186760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1142997" y="4582698"/>
            <a:ext cx="2362195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CSV · TSV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/>
          <p:nvPr/>
        </p:nvSpPr>
        <p:spPr>
          <a:xfrm>
            <a:off x="3848055" y="5186760"/>
            <a:ext cx="1329690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4"/>
          <p:cNvSpPr/>
          <p:nvPr/>
        </p:nvSpPr>
        <p:spPr>
          <a:xfrm>
            <a:off x="3848055" y="4582698"/>
            <a:ext cx="13695813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UTF-8 권장. EUC-KR 파일은 먼저 UTF-8로 변환한다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1142997" y="6051514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1142997" y="5443105"/>
            <a:ext cx="2362195" cy="3988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3848055" y="6051514"/>
            <a:ext cx="1329690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4"/>
          <p:cNvSpPr/>
          <p:nvPr/>
        </p:nvSpPr>
        <p:spPr>
          <a:xfrm>
            <a:off x="3848055" y="5443105"/>
            <a:ext cx="13695813" cy="3988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.xlsx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만 사용한다. 시트가 여러 개면 분석할 시트를 분리하거나 명확히 지정한다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1142997" y="6911922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/>
          <p:nvPr/>
        </p:nvSpPr>
        <p:spPr>
          <a:xfrm>
            <a:off x="1142997" y="6307860"/>
            <a:ext cx="2362195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3848055" y="6911922"/>
            <a:ext cx="1329690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4"/>
          <p:cNvSpPr/>
          <p:nvPr/>
        </p:nvSpPr>
        <p:spPr>
          <a:xfrm>
            <a:off x="3848055" y="6307860"/>
            <a:ext cx="13695813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최상위가 레코드 배열인 파일을 사용한다. 중첩 객체는 먼저 표 형태로 평탄화한다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1142997" y="9090759"/>
            <a:ext cx="16482023" cy="5104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PDF는 이 파이프라인의 입력 형식이 아니다. 표를 CSV나 XLSX로 추출한 뒤 넣는다.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체크포인트 — 이미 만든 단계는 건너뛴다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1142997" y="2287014"/>
            <a:ext cx="1471609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각 단계는 실행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전에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자기 산출물이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.run_id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입력 데이터 · 컨텍스트 · 에이전트 지침 · 공통 규칙과 앞 단계 산출물보다 새것인지 확인한다. 모두보다 새로울 때만 완료된 단계로 본다.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1142997" y="3591889"/>
            <a:ext cx="16001964" cy="2331508"/>
          </a:xfrm>
          <a:prstGeom prst="roundRect">
            <a:avLst>
              <a:gd fmla="val 7354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1543040" y="3934734"/>
            <a:ext cx="15657935" cy="5867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9741"/>
              </a:lnSpc>
              <a:spcBef>
                <a:spcPts val="0"/>
              </a:spcBef>
              <a:spcAft>
                <a:spcPts val="0"/>
              </a:spcAft>
              <a:buClr>
                <a:srgbClr val="7DD3A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7DD3A0"/>
                </a:solidFill>
                <a:latin typeface="Courier New"/>
                <a:ea typeface="Courier New"/>
                <a:cs typeface="Courier New"/>
                <a:sym typeface="Courier New"/>
              </a:rPr>
              <a:t>✅ STEP 1 — 완료 (skip)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5"/>
          <p:cNvSpPr/>
          <p:nvPr/>
        </p:nvSpPr>
        <p:spPr>
          <a:xfrm>
            <a:off x="1543040" y="4483341"/>
            <a:ext cx="15657935" cy="5867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9741"/>
              </a:lnSpc>
              <a:spcBef>
                <a:spcPts val="0"/>
              </a:spcBef>
              <a:spcAft>
                <a:spcPts val="0"/>
              </a:spcAft>
              <a:buClr>
                <a:srgbClr val="7DD3A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7DD3A0"/>
                </a:solidFill>
                <a:latin typeface="Courier New"/>
                <a:ea typeface="Courier New"/>
                <a:cs typeface="Courier New"/>
                <a:sym typeface="Courier New"/>
              </a:rPr>
              <a:t>✅ STEP 2 — 완료 (skip)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1543040" y="5031947"/>
            <a:ext cx="15657935" cy="5867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9741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STEP 3 — 실행 중…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/>
          <p:nvPr/>
        </p:nvSpPr>
        <p:spPr>
          <a:xfrm>
            <a:off x="1142997" y="6418679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단계별 재실행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/>
          <p:nvPr/>
        </p:nvSpPr>
        <p:spPr>
          <a:xfrm>
            <a:off x="1142997" y="6959608"/>
            <a:ext cx="7810505" cy="883843"/>
          </a:xfrm>
          <a:prstGeom prst="roundRect">
            <a:avLst>
              <a:gd fmla="val 150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1409697" y="7188208"/>
            <a:ext cx="7511420" cy="4647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24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@eda 다시 실행해줘. 집계 단위 대조를 빼먹었어.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5"/>
          <p:cNvSpPr/>
          <p:nvPr/>
        </p:nvSpPr>
        <p:spPr>
          <a:xfrm>
            <a:off x="1142997" y="8014840"/>
            <a:ext cx="8044820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앞 단계 산출물은 그대로 남아 있으니 다시 만들지 않는다.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이게 파이프라인을 나눈 이유다.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5"/>
          <p:cNvSpPr/>
          <p:nvPr/>
        </p:nvSpPr>
        <p:spPr>
          <a:xfrm>
            <a:off x="9334456" y="6418679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강제 전체 재실행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9334456" y="6959608"/>
            <a:ext cx="7810505" cy="883843"/>
          </a:xfrm>
          <a:prstGeom prst="roundRect">
            <a:avLst>
              <a:gd fmla="val 150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9601156" y="7188208"/>
            <a:ext cx="7511420" cy="4647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24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처음부터 다시 실행해줘.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9334456" y="8014840"/>
            <a:ext cx="8044820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직접 파일을 지우지 않는다. 기존 실행을 타임스탬프 폴더에 보관한 뒤 새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.run_id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로 1단계부터 실행한다.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산출물을 읽는 법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1142997" y="2248905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산출물이 나왔다고 끝이 아니다.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열어서 읽는 것이 본론이다.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1142997" y="3355491"/>
            <a:ext cx="438144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6"/>
          <p:cNvSpPr/>
          <p:nvPr/>
        </p:nvSpPr>
        <p:spPr>
          <a:xfrm>
            <a:off x="1142997" y="2939553"/>
            <a:ext cx="4512888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파일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5905396" y="3355491"/>
            <a:ext cx="11239565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6"/>
          <p:cNvSpPr/>
          <p:nvPr/>
        </p:nvSpPr>
        <p:spPr>
          <a:xfrm>
            <a:off x="5905396" y="2939553"/>
            <a:ext cx="11576752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무엇을 확인하는가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1142997" y="4429200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6"/>
          <p:cNvSpPr/>
          <p:nvPr/>
        </p:nvSpPr>
        <p:spPr>
          <a:xfrm>
            <a:off x="1142997" y="3505402"/>
            <a:ext cx="4512888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5905396" y="4429200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6"/>
          <p:cNvSpPr/>
          <p:nvPr/>
        </p:nvSpPr>
        <p:spPr>
          <a:xfrm>
            <a:off x="5905396" y="3505402"/>
            <a:ext cx="11576752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행 수가 내가 센 것과 같은가 · 컬럼명을 원문 그대로 적었는가 · 1:N 구조를 보고했는가 · 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필요 목록이 나왔는가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1142997" y="5485518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>
            <a:off x="1142997" y="4561720"/>
            <a:ext cx="4512888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02_eda_report.md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5905396" y="5485518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6"/>
          <p:cNvSpPr/>
          <p:nvPr/>
        </p:nvSpPr>
        <p:spPr>
          <a:xfrm>
            <a:off x="5905396" y="4561720"/>
            <a:ext cx="11576752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01의 경고를 이어받았는가 · 발견이 숫자 나열이 아닌가 · 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집계 단위 세 숫자가 나왔는가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결론을 내지 않았는가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1142997" y="6141794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/>
          <p:nvPr/>
        </p:nvSpPr>
        <p:spPr>
          <a:xfrm>
            <a:off x="1142997" y="5618038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03_problem_definition.md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5905396" y="6141794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6"/>
          <p:cNvSpPr/>
          <p:nvPr/>
        </p:nvSpPr>
        <p:spPr>
          <a:xfrm>
            <a:off x="5905396" y="5618038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문제가 내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결정과 연결되는가 · 제약을 반영했는가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1142997" y="6798070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6"/>
          <p:cNvSpPr/>
          <p:nvPr/>
        </p:nvSpPr>
        <p:spPr>
          <a:xfrm>
            <a:off x="1142997" y="6274314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04_kpi_summary.md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6"/>
          <p:cNvSpPr/>
          <p:nvPr/>
        </p:nvSpPr>
        <p:spPr>
          <a:xfrm>
            <a:off x="5905396" y="6798070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6"/>
          <p:cNvSpPr/>
          <p:nvPr/>
        </p:nvSpPr>
        <p:spPr>
          <a:xfrm>
            <a:off x="5905396" y="6274314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지표에 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제외조건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있는가 · 계산식이 실제 컬럼명인가 · "속일 수 있는 경우"가 채워졌는가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1142997" y="7454346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6"/>
          <p:cNvSpPr/>
          <p:nvPr/>
        </p:nvSpPr>
        <p:spPr>
          <a:xfrm>
            <a:off x="1142997" y="6930590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05_analysis_report.md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5905396" y="7454346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6"/>
          <p:cNvSpPr/>
          <p:nvPr/>
        </p:nvSpPr>
        <p:spPr>
          <a:xfrm>
            <a:off x="5905396" y="6930590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"이 결론이 틀렸다면"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채워졌는가 · 내가 이미 안다고 쓴 걸 발견으로 내놓지 않았는가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1142997" y="8110622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6"/>
          <p:cNvSpPr/>
          <p:nvPr/>
        </p:nvSpPr>
        <p:spPr>
          <a:xfrm>
            <a:off x="1142997" y="7586866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06_dashboard.html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5905396" y="8110622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/>
          <p:nvPr/>
        </p:nvSpPr>
        <p:spPr>
          <a:xfrm>
            <a:off x="5905396" y="7586866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플레이스홀더가 남아 있지 않은가 · 단위와 제외조건이 화면에 있는가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1142997" y="8243142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07_executive_report.md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5905396" y="8243142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결론이 먼저 오는가 · 액션에 우선순위와 근거가 있는가 · 남은 불확실성이 있는가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1142997" y="9193633"/>
            <a:ext cx="16482023" cy="4075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 곳이라도 걸리면 적어 두세요.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3 Ch3 검증에서 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1차 완주에서 실제로 나온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7"/>
          <p:cNvSpPr/>
          <p:nvPr/>
        </p:nvSpPr>
        <p:spPr>
          <a:xfrm>
            <a:off x="1142997" y="2248905"/>
            <a:ext cx="17602160" cy="377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어떤 종류의 결함을 찾는 일인지 감을 잡는 용도로 읽으세요.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목록을 답으로 외우지 마세요.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1142997" y="3327708"/>
            <a:ext cx="4095729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7"/>
          <p:cNvSpPr/>
          <p:nvPr/>
        </p:nvSpPr>
        <p:spPr>
          <a:xfrm>
            <a:off x="1142997" y="2930858"/>
            <a:ext cx="4218601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종류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5619681" y="3327708"/>
            <a:ext cx="1152528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5619681" y="2930858"/>
            <a:ext cx="11871039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실제로 나온 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1142997" y="3949068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7"/>
          <p:cNvSpPr/>
          <p:nvPr/>
        </p:nvSpPr>
        <p:spPr>
          <a:xfrm>
            <a:off x="1142997" y="3458568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산술이 안 맞는다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5619681" y="3949068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7"/>
          <p:cNvSpPr/>
          <p:nvPr/>
        </p:nvSpPr>
        <p:spPr>
          <a:xfrm>
            <a:off x="5619681" y="3458568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"246행 제외 후 44,536행" — 45,004 − 246 = 44,758이다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1142997" y="4553037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7"/>
          <p:cNvSpPr/>
          <p:nvPr/>
        </p:nvSpPr>
        <p:spPr>
          <a:xfrm>
            <a:off x="1142997" y="4062538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인접한 두 수치가 모순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5619681" y="4553037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7"/>
          <p:cNvSpPr/>
          <p:nvPr/>
        </p:nvSpPr>
        <p:spPr>
          <a:xfrm>
            <a:off x="5619681" y="4062538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송장당 고유 상품 25.84개 &gt; 송장당 행 수 20.37개. 고유값이 행보다 많을 수 없다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1142997" y="5157007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7"/>
          <p:cNvSpPr/>
          <p:nvPr/>
        </p:nvSpPr>
        <p:spPr>
          <a:xfrm>
            <a:off x="1142997" y="4666507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집계 단위를 틀렸다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5619681" y="5157007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7"/>
          <p:cNvSpPr/>
          <p:nvPr/>
        </p:nvSpPr>
        <p:spPr>
          <a:xfrm>
            <a:off x="5619681" y="4666507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"34,096명 고객" — 34,096은 행 수이고 고유 고객은 1,233명이다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1142997" y="5760976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7"/>
          <p:cNvSpPr/>
          <p:nvPr/>
        </p:nvSpPr>
        <p:spPr>
          <a:xfrm>
            <a:off x="1142997" y="5270477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규칙을 어겼다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5619681" y="5760976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5619681" y="5270477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"n&lt;30은 순위표에 올리지 않는다"인데, 판매 6개 상품이 순위 1위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1142997" y="6364945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1142997" y="5874446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집단의 개수가 다르다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5619681" y="6364945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5619681" y="5874446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"저매출·고반품 상품"이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42개 →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04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53개 →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39개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1142997" y="6968915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1142997" y="6478416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상류의 틀린 값이 안 고쳐졌다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5619681" y="6968915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5619681" y="6478416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어떤 상품 반품률이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는 50%,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는 4.3%.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맞는데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그대로 남았다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1142997" y="7572885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1142997" y="7082385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컨텍스트를 데이터 대신 셌다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5619681" y="7572885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5619681" y="7082385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사람이 "POST·M·D 등"이라 썼는데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"정확히 6가지"로 확정. 데이터에는 15종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1142997" y="8176854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7"/>
          <p:cNvSpPr/>
          <p:nvPr/>
        </p:nvSpPr>
        <p:spPr>
          <a:xfrm>
            <a:off x="1142997" y="7686355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사람이 지정한 것을 버렸다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5619681" y="8176854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7"/>
          <p:cNvSpPr/>
          <p:nvPr/>
        </p:nvSpPr>
        <p:spPr>
          <a:xfrm>
            <a:off x="5619681" y="7686355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컨텍스트에 "반품률의 분자는 이 행"이라 썼는데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필터로 지웠다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1142997" y="9047179"/>
            <a:ext cx="4095729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7"/>
          <p:cNvSpPr/>
          <p:nvPr/>
        </p:nvSpPr>
        <p:spPr>
          <a:xfrm>
            <a:off x="1142997" y="8290324"/>
            <a:ext cx="4218601" cy="690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표본이 만든 신호를 상품의 성질로 읽었다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7"/>
          <p:cNvSpPr/>
          <p:nvPr/>
        </p:nvSpPr>
        <p:spPr>
          <a:xfrm>
            <a:off x="5619681" y="9047179"/>
            <a:ext cx="1152528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7"/>
          <p:cNvSpPr/>
          <p:nvPr/>
        </p:nvSpPr>
        <p:spPr>
          <a:xfrm>
            <a:off x="5619681" y="8290324"/>
            <a:ext cx="11871039" cy="690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다음 장 — 가장 중요하다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8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6 · 가장 중요한 한 가지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재현되지만 틀린 수치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1142997" y="2571099"/>
            <a:ext cx="16001964" cy="1636376"/>
          </a:xfrm>
          <a:custGeom>
            <a:rect b="b" l="l" r="r" t="t"/>
            <a:pathLst>
              <a:path extrusionOk="0" h="1636376" w="16001964">
                <a:moveTo>
                  <a:pt x="0" y="0"/>
                </a:moveTo>
                <a:lnTo>
                  <a:pt x="15849564" y="0"/>
                </a:lnTo>
                <a:cubicBezTo>
                  <a:pt x="15889983" y="0"/>
                  <a:pt x="15928747" y="16056"/>
                  <a:pt x="15957327" y="44637"/>
                </a:cubicBezTo>
                <a:cubicBezTo>
                  <a:pt x="15985908" y="73217"/>
                  <a:pt x="16001964" y="111981"/>
                  <a:pt x="16001964" y="152400"/>
                </a:cubicBezTo>
                <a:lnTo>
                  <a:pt x="16001964" y="1483976"/>
                </a:lnTo>
                <a:cubicBezTo>
                  <a:pt x="16001964" y="1568144"/>
                  <a:pt x="15933732" y="1636376"/>
                  <a:pt x="15849564" y="1636376"/>
                </a:cubicBezTo>
                <a:lnTo>
                  <a:pt x="0" y="1636376"/>
                </a:lnTo>
                <a:lnTo>
                  <a:pt x="0" y="0"/>
                </a:lnTo>
                <a:close/>
              </a:path>
            </a:pathLst>
          </a:custGeom>
          <a:solidFill>
            <a:srgbClr val="F7585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8"/>
          <p:cNvSpPr/>
          <p:nvPr/>
        </p:nvSpPr>
        <p:spPr>
          <a:xfrm>
            <a:off x="1142997" y="2571099"/>
            <a:ext cx="56518" cy="1636376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8"/>
          <p:cNvSpPr/>
          <p:nvPr/>
        </p:nvSpPr>
        <p:spPr>
          <a:xfrm>
            <a:off x="1599558" y="2913944"/>
            <a:ext cx="16659898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 반품률 1위 상품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8"/>
          <p:cNvSpPr/>
          <p:nvPr/>
        </p:nvSpPr>
        <p:spPr>
          <a:xfrm>
            <a:off x="1599558" y="3351620"/>
            <a:ext cx="16659898" cy="551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ourier New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판매 523개 · 반품 9,361개 · 반품률 94.7%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1142997" y="4626538"/>
            <a:ext cx="16482023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판 것보다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18배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많이 반품됐다. 원본을 열어 보면 이유가 나온다 — 9,360개를 반품한 취소 송장 한 줄은 표본에 들어왔는데,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그것을 판 원 송장이 없다.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1142997" y="5845550"/>
            <a:ext cx="16482023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94.7%는 그 상품의 성질이 아니라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표본의 성질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이다. 그런데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는 "상품 자체 문제 신호"라고 적었고,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05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 정리 권고가 그 위에 섰다.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1142997" y="7064561"/>
            <a:ext cx="16482023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계산은 하나도 틀리지 않았다. 스크립트를 몇 번 돌려도 94.7%가 나오고,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"재현 성공"으로 통과시켰다.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9"/>
          <p:cNvSpPr/>
          <p:nvPr/>
        </p:nvSpPr>
        <p:spPr>
          <a:xfrm>
            <a:off x="1142997" y="2557581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과정에서 가장 중요한 한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9"/>
          <p:cNvSpPr/>
          <p:nvPr/>
        </p:nvSpPr>
        <p:spPr>
          <a:xfrm>
            <a:off x="1142997" y="3128604"/>
            <a:ext cx="14716091" cy="2598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4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재현되는 계산이 타당한 계산은 아니다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1142997" y="6222156"/>
            <a:ext cx="756470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도구가 답하는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1142997" y="6700590"/>
            <a:ext cx="7083315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숫자가 어디서 왔는가" —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queries/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9"/>
          <p:cNvSpPr/>
          <p:nvPr/>
        </p:nvSpPr>
        <p:spPr>
          <a:xfrm>
            <a:off x="8553392" y="6222156"/>
            <a:ext cx="756478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사람이 물어야 하는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9"/>
          <p:cNvSpPr/>
          <p:nvPr/>
        </p:nvSpPr>
        <p:spPr>
          <a:xfrm>
            <a:off x="8553392" y="6700590"/>
            <a:ext cx="7564781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표본으로 이 숫자를 계산할 수 있는가"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잘 나온 것도 봐야 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0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결함만 찾으면 "AI는 못 믿겠다"로 끝난다. 그건 이 챕터의 결론이 아니다.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/>
          <p:nvPr/>
        </p:nvSpPr>
        <p:spPr>
          <a:xfrm>
            <a:off x="1142997" y="3113727"/>
            <a:ext cx="17602160" cy="481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03_problem_definition.md</a:t>
            </a: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는 여러분이 쓴 </a:t>
            </a:r>
            <a:r>
              <a:rPr b="1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정확히 받았다.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0"/>
          <p:cNvSpPr/>
          <p:nvPr/>
        </p:nvSpPr>
        <p:spPr>
          <a:xfrm>
            <a:off x="1142997" y="4078068"/>
            <a:ext cx="152368" cy="152368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0"/>
          <p:cNvSpPr/>
          <p:nvPr/>
        </p:nvSpPr>
        <p:spPr>
          <a:xfrm>
            <a:off x="1523951" y="3900022"/>
            <a:ext cx="5012301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앞둔 결정을 그대로 인용하고 시작한다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0"/>
          <p:cNvSpPr/>
          <p:nvPr/>
        </p:nvSpPr>
        <p:spPr>
          <a:xfrm>
            <a:off x="1142997" y="4744737"/>
            <a:ext cx="152368" cy="152368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0"/>
          <p:cNvSpPr/>
          <p:nvPr/>
        </p:nvSpPr>
        <p:spPr>
          <a:xfrm>
            <a:off x="1523951" y="4566691"/>
            <a:ext cx="12281999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"작년에 단가 기준으로만 정리하려다 실패했다"를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세 곳에서 인용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해 분석 설계의 제약으로 쓴다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0"/>
          <p:cNvSpPr/>
          <p:nvPr/>
        </p:nvSpPr>
        <p:spPr>
          <a:xfrm>
            <a:off x="1142997" y="5411406"/>
            <a:ext cx="152368" cy="152368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0"/>
          <p:cNvSpPr/>
          <p:nvPr/>
        </p:nvSpPr>
        <p:spPr>
          <a:xfrm>
            <a:off x="1523951" y="5233360"/>
            <a:ext cx="11411993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"매출이 롱테일이라는 건 이미 안다"를 지켜서, 파레토 분포를 발견으로 보고하지 않는다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1142997" y="6078076"/>
            <a:ext cx="152368" cy="152368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1523951" y="5900029"/>
            <a:ext cx="8957775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컨텍스트에 적은 제약 다섯 개 전부에 대응하는 절을 스스로 만들었다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1142997" y="7845625"/>
            <a:ext cx="16001964" cy="1717485"/>
          </a:xfrm>
          <a:prstGeom prst="roundRect">
            <a:avLst>
              <a:gd fmla="val 9983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0"/>
          <p:cNvSpPr/>
          <p:nvPr/>
        </p:nvSpPr>
        <p:spPr>
          <a:xfrm>
            <a:off x="1562060" y="8207558"/>
            <a:ext cx="16680222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여러분이 쓴 15줄이 3단계까지 갔다.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0"/>
          <p:cNvSpPr/>
          <p:nvPr/>
        </p:nvSpPr>
        <p:spPr>
          <a:xfrm>
            <a:off x="1562060" y="8758271"/>
            <a:ext cx="16680222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"파일에 없는 것은 전달되지 않는다"의 반대편 —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파일에 있는 것은 전달된다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를 여기서 눈으로 확인한다.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1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확인 필요 → 컨텍스트 보강 → 재실행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챕터에서 반드시 한 번 돌려 볼 루프다.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1142997" y="3113727"/>
            <a:ext cx="4699020" cy="2456432"/>
          </a:xfrm>
          <a:prstGeom prst="roundRect">
            <a:avLst>
              <a:gd fmla="val 69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1"/>
          <p:cNvSpPr/>
          <p:nvPr/>
        </p:nvSpPr>
        <p:spPr>
          <a:xfrm>
            <a:off x="1466822" y="3456572"/>
            <a:ext cx="4456508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1466822" y="3898595"/>
            <a:ext cx="417291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→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## 확인 필요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목록 확인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6089624" y="3113727"/>
            <a:ext cx="533440" cy="2494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1"/>
          <p:cNvSpPr/>
          <p:nvPr/>
        </p:nvSpPr>
        <p:spPr>
          <a:xfrm>
            <a:off x="6794470" y="3113727"/>
            <a:ext cx="4699020" cy="2456432"/>
          </a:xfrm>
          <a:prstGeom prst="roundRect">
            <a:avLst>
              <a:gd fmla="val 69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1"/>
          <p:cNvSpPr/>
          <p:nvPr/>
        </p:nvSpPr>
        <p:spPr>
          <a:xfrm>
            <a:off x="7118294" y="3456572"/>
            <a:ext cx="4456508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7118294" y="3898595"/>
            <a:ext cx="4172912" cy="13668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답할 수 있는 것을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"이 데이터가 무엇인지"에 채운다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1"/>
          <p:cNvSpPr/>
          <p:nvPr/>
        </p:nvSpPr>
        <p:spPr>
          <a:xfrm>
            <a:off x="11741096" y="3113727"/>
            <a:ext cx="533440" cy="2494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12445941" y="3113727"/>
            <a:ext cx="4699020" cy="2456432"/>
          </a:xfrm>
          <a:prstGeom prst="roundRect">
            <a:avLst>
              <a:gd fmla="val 6980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1"/>
          <p:cNvSpPr/>
          <p:nvPr/>
        </p:nvSpPr>
        <p:spPr>
          <a:xfrm>
            <a:off x="12769766" y="3456572"/>
            <a:ext cx="4456508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12769766" y="3898595"/>
            <a:ext cx="4172912" cy="13668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다시 실행 → 추측이 확정된 의미로 바뀐 프로파일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1142997" y="6065440"/>
            <a:ext cx="16001964" cy="1014337"/>
          </a:xfrm>
          <a:prstGeom prst="roundRect">
            <a:avLst>
              <a:gd fmla="val 150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1"/>
          <p:cNvSpPr/>
          <p:nvPr/>
        </p:nvSpPr>
        <p:spPr>
          <a:xfrm>
            <a:off x="1485842" y="6408306"/>
            <a:ext cx="647699" cy="34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2362077" y="6351156"/>
            <a:ext cx="8466543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"Invoice가 C로 시작하는 행 664건이 있습니다. 취소로 보입니다."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1142997" y="7270254"/>
            <a:ext cx="16001964" cy="1014337"/>
          </a:xfrm>
          <a:prstGeom prst="roundRect">
            <a:avLst>
              <a:gd fmla="val 150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1"/>
          <p:cNvSpPr/>
          <p:nvPr/>
        </p:nvSpPr>
        <p:spPr>
          <a:xfrm>
            <a:off x="1142997" y="7270254"/>
            <a:ext cx="56518" cy="1014337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1"/>
          <p:cNvSpPr/>
          <p:nvPr/>
        </p:nvSpPr>
        <p:spPr>
          <a:xfrm>
            <a:off x="1542361" y="7613120"/>
            <a:ext cx="647699" cy="34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2418595" y="7555970"/>
            <a:ext cx="13438344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"취소 송장 664건. 매출 집계에서 제외 대상 (컨텍스트 확인됨). 단, 반품률 계산에서는 이 행이 분자입니다."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1142997" y="9197962"/>
            <a:ext cx="16482023" cy="403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추측이 확정으로 바뀌는 것을 눈으로 보세요.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서식이 아니라 작동하는 파일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이라는 증거다.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2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처음 실행에서 자주 생기는 문제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1142997" y="2874340"/>
            <a:ext cx="510538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2"/>
          <p:cNvSpPr/>
          <p:nvPr/>
        </p:nvSpPr>
        <p:spPr>
          <a:xfrm>
            <a:off x="1142997" y="2477491"/>
            <a:ext cx="5258541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증상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2"/>
          <p:cNvSpPr/>
          <p:nvPr/>
        </p:nvSpPr>
        <p:spPr>
          <a:xfrm>
            <a:off x="6591222" y="2874340"/>
            <a:ext cx="510544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2"/>
          <p:cNvSpPr/>
          <p:nvPr/>
        </p:nvSpPr>
        <p:spPr>
          <a:xfrm>
            <a:off x="6591222" y="2477491"/>
            <a:ext cx="5258611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원인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12039514" y="2874340"/>
            <a:ext cx="510538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12039514" y="2477491"/>
            <a:ext cx="5258541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1142997" y="3503512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2"/>
          <p:cNvSpPr/>
          <p:nvPr/>
        </p:nvSpPr>
        <p:spPr>
          <a:xfrm>
            <a:off x="1142997" y="3043301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시작 전에 멈춘다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2"/>
          <p:cNvSpPr/>
          <p:nvPr/>
        </p:nvSpPr>
        <p:spPr>
          <a:xfrm>
            <a:off x="6591222" y="3503512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2"/>
          <p:cNvSpPr/>
          <p:nvPr/>
        </p:nvSpPr>
        <p:spPr>
          <a:xfrm>
            <a:off x="6591222" y="3043301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없음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/>
          <p:nvPr/>
        </p:nvSpPr>
        <p:spPr>
          <a:xfrm>
            <a:off x="12039514" y="3503512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2"/>
          <p:cNvSpPr/>
          <p:nvPr/>
        </p:nvSpPr>
        <p:spPr>
          <a:xfrm>
            <a:off x="12039514" y="3043301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정상 동작. 먼저 작성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1142997" y="4115294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2"/>
          <p:cNvSpPr/>
          <p:nvPr/>
        </p:nvSpPr>
        <p:spPr>
          <a:xfrm>
            <a:off x="1142997" y="3655082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3단계에서 멈춘다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2"/>
          <p:cNvSpPr/>
          <p:nvPr/>
        </p:nvSpPr>
        <p:spPr>
          <a:xfrm>
            <a:off x="6591222" y="4115294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2"/>
          <p:cNvSpPr/>
          <p:nvPr/>
        </p:nvSpPr>
        <p:spPr>
          <a:xfrm>
            <a:off x="6591222" y="3655082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앞둔 결정이 비었거나 결정이 아님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2"/>
          <p:cNvSpPr/>
          <p:nvPr/>
        </p:nvSpPr>
        <p:spPr>
          <a:xfrm>
            <a:off x="12039514" y="4115294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12039514" y="3655082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 항목을 고쳐서 재실행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2"/>
          <p:cNvSpPr/>
          <p:nvPr/>
        </p:nvSpPr>
        <p:spPr>
          <a:xfrm>
            <a:off x="1142997" y="4727075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2"/>
          <p:cNvSpPr/>
          <p:nvPr/>
        </p:nvSpPr>
        <p:spPr>
          <a:xfrm>
            <a:off x="1142997" y="4266863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에이전트를 못 찾는다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2"/>
          <p:cNvSpPr/>
          <p:nvPr/>
        </p:nvSpPr>
        <p:spPr>
          <a:xfrm>
            <a:off x="6591222" y="4727075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2"/>
          <p:cNvSpPr/>
          <p:nvPr/>
        </p:nvSpPr>
        <p:spPr>
          <a:xfrm>
            <a:off x="6591222" y="4266863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파일 위치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2"/>
          <p:cNvSpPr/>
          <p:nvPr/>
        </p:nvSpPr>
        <p:spPr>
          <a:xfrm>
            <a:off x="12039514" y="4727075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2"/>
          <p:cNvSpPr/>
          <p:nvPr/>
        </p:nvSpPr>
        <p:spPr>
          <a:xfrm>
            <a:off x="12039514" y="4266863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.claude/agents/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(복수형) 안인지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2"/>
          <p:cNvSpPr/>
          <p:nvPr/>
        </p:nvSpPr>
        <p:spPr>
          <a:xfrm>
            <a:off x="1142997" y="5338856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2"/>
          <p:cNvSpPr/>
          <p:nvPr/>
        </p:nvSpPr>
        <p:spPr>
          <a:xfrm>
            <a:off x="1142997" y="4878645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인식되지 않는다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2"/>
          <p:cNvSpPr/>
          <p:nvPr/>
        </p:nvSpPr>
        <p:spPr>
          <a:xfrm>
            <a:off x="6591222" y="5338856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2"/>
          <p:cNvSpPr/>
          <p:nvPr/>
        </p:nvSpPr>
        <p:spPr>
          <a:xfrm>
            <a:off x="6591222" y="4878645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앞에 빈 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2"/>
          <p:cNvSpPr/>
          <p:nvPr/>
        </p:nvSpPr>
        <p:spPr>
          <a:xfrm>
            <a:off x="12039514" y="5338856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2"/>
          <p:cNvSpPr/>
          <p:nvPr/>
        </p:nvSpPr>
        <p:spPr>
          <a:xfrm>
            <a:off x="12039514" y="4878645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파일 첫 줄이어야 한다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2"/>
          <p:cNvSpPr/>
          <p:nvPr/>
        </p:nvSpPr>
        <p:spPr>
          <a:xfrm>
            <a:off x="1142997" y="5950638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2"/>
          <p:cNvSpPr/>
          <p:nvPr/>
        </p:nvSpPr>
        <p:spPr>
          <a:xfrm>
            <a:off x="1142997" y="5490426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 쓰기를 매번 물어본다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2"/>
          <p:cNvSpPr/>
          <p:nvPr/>
        </p:nvSpPr>
        <p:spPr>
          <a:xfrm>
            <a:off x="6591222" y="5950638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2"/>
          <p:cNvSpPr/>
          <p:nvPr/>
        </p:nvSpPr>
        <p:spPr>
          <a:xfrm>
            <a:off x="6591222" y="5490426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세션 모드·권한 규칙이 쓰기 승인 요구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2"/>
          <p:cNvSpPr/>
          <p:nvPr/>
        </p:nvSpPr>
        <p:spPr>
          <a:xfrm>
            <a:off x="12039514" y="5950638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2"/>
          <p:cNvSpPr/>
          <p:nvPr/>
        </p:nvSpPr>
        <p:spPr>
          <a:xfrm>
            <a:off x="12039514" y="5490426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수업에서 정한 모드로 전환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1142997" y="6562419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2"/>
          <p:cNvSpPr/>
          <p:nvPr/>
        </p:nvSpPr>
        <p:spPr>
          <a:xfrm>
            <a:off x="1142997" y="6102208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산출물이 엉뚱한 폴더에 생겼다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2"/>
          <p:cNvSpPr/>
          <p:nvPr/>
        </p:nvSpPr>
        <p:spPr>
          <a:xfrm>
            <a:off x="6591222" y="6562419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2"/>
          <p:cNvSpPr/>
          <p:nvPr/>
        </p:nvSpPr>
        <p:spPr>
          <a:xfrm>
            <a:off x="6591222" y="6102208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폴더 규약 없음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2"/>
          <p:cNvSpPr/>
          <p:nvPr/>
        </p:nvSpPr>
        <p:spPr>
          <a:xfrm>
            <a:off x="12039514" y="6562419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2"/>
          <p:cNvSpPr/>
          <p:nvPr/>
        </p:nvSpPr>
        <p:spPr>
          <a:xfrm>
            <a:off x="12039514" y="6102208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규약 추가 후 그 단계만 재실행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1142997" y="7174201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2"/>
          <p:cNvSpPr/>
          <p:nvPr/>
        </p:nvSpPr>
        <p:spPr>
          <a:xfrm>
            <a:off x="1142997" y="6713990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산출물이 영어로 나왔다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2"/>
          <p:cNvSpPr/>
          <p:nvPr/>
        </p:nvSpPr>
        <p:spPr>
          <a:xfrm>
            <a:off x="6591222" y="7174201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2"/>
          <p:cNvSpPr/>
          <p:nvPr/>
        </p:nvSpPr>
        <p:spPr>
          <a:xfrm>
            <a:off x="6591222" y="6713990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언어 규칙 없음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12039514" y="7174201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/>
          <p:nvPr/>
        </p:nvSpPr>
        <p:spPr>
          <a:xfrm>
            <a:off x="12039514" y="6713990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 산출물 언어 규칙 추가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2"/>
          <p:cNvSpPr/>
          <p:nvPr/>
        </p:nvSpPr>
        <p:spPr>
          <a:xfrm>
            <a:off x="1142997" y="7785982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2"/>
          <p:cNvSpPr/>
          <p:nvPr/>
        </p:nvSpPr>
        <p:spPr>
          <a:xfrm>
            <a:off x="1142997" y="7325771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컬럼을 못 찾는다는 에러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2"/>
          <p:cNvSpPr/>
          <p:nvPr/>
        </p:nvSpPr>
        <p:spPr>
          <a:xfrm>
            <a:off x="6591222" y="7785982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2"/>
          <p:cNvSpPr/>
          <p:nvPr/>
        </p:nvSpPr>
        <p:spPr>
          <a:xfrm>
            <a:off x="6591222" y="7325771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컬럼명의 공백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12039514" y="7785982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2"/>
          <p:cNvSpPr/>
          <p:nvPr/>
        </p:nvSpPr>
        <p:spPr>
          <a:xfrm>
            <a:off x="12039514" y="7325771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"컬럼명은 원본 표기를 그대로" 를 지시문에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2"/>
          <p:cNvSpPr/>
          <p:nvPr/>
        </p:nvSpPr>
        <p:spPr>
          <a:xfrm>
            <a:off x="1142997" y="8397764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2"/>
          <p:cNvSpPr/>
          <p:nvPr/>
        </p:nvSpPr>
        <p:spPr>
          <a:xfrm>
            <a:off x="1142997" y="7937552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결측이 조용히 채워졌다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2"/>
          <p:cNvSpPr/>
          <p:nvPr/>
        </p:nvSpPr>
        <p:spPr>
          <a:xfrm>
            <a:off x="6591222" y="8397764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6591222" y="7937552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자동 처리를 막지 않음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2"/>
          <p:cNvSpPr/>
          <p:nvPr/>
        </p:nvSpPr>
        <p:spPr>
          <a:xfrm>
            <a:off x="12039514" y="8397764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2"/>
          <p:cNvSpPr/>
          <p:nvPr/>
        </p:nvSpPr>
        <p:spPr>
          <a:xfrm>
            <a:off x="12039514" y="7937552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에이전트 "하지 않을 것"에 명시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2"/>
          <p:cNvSpPr/>
          <p:nvPr/>
        </p:nvSpPr>
        <p:spPr>
          <a:xfrm>
            <a:off x="1142997" y="9009545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2"/>
          <p:cNvSpPr/>
          <p:nvPr/>
        </p:nvSpPr>
        <p:spPr>
          <a:xfrm>
            <a:off x="1142997" y="8549334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원칙이 안 지켜진다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2"/>
          <p:cNvSpPr/>
          <p:nvPr/>
        </p:nvSpPr>
        <p:spPr>
          <a:xfrm>
            <a:off x="6591222" y="9009545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2"/>
          <p:cNvSpPr/>
          <p:nvPr/>
        </p:nvSpPr>
        <p:spPr>
          <a:xfrm>
            <a:off x="6591222" y="8549334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임포트 누락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2"/>
          <p:cNvSpPr/>
          <p:nvPr/>
        </p:nvSpPr>
        <p:spPr>
          <a:xfrm>
            <a:off x="12039514" y="9009545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2"/>
          <p:cNvSpPr/>
          <p:nvPr/>
        </p:nvSpPr>
        <p:spPr>
          <a:xfrm>
            <a:off x="12039514" y="8549334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임포트 세 줄 확인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2"/>
          <p:cNvSpPr/>
          <p:nvPr/>
        </p:nvSpPr>
        <p:spPr>
          <a:xfrm>
            <a:off x="1142997" y="9161115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결과가 매번 다르다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2"/>
          <p:cNvSpPr/>
          <p:nvPr/>
        </p:nvSpPr>
        <p:spPr>
          <a:xfrm>
            <a:off x="6591222" y="9161115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판정 기준을 안 정했다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12039514" y="9161115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기준의 숫자를 명시 (5%, 20%, IQR 등)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완료 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3"/>
          <p:cNvSpPr/>
          <p:nvPr/>
        </p:nvSpPr>
        <p:spPr>
          <a:xfrm>
            <a:off x="1142997" y="2553709"/>
            <a:ext cx="16001964" cy="4335388"/>
          </a:xfrm>
          <a:prstGeom prst="roundRect">
            <a:avLst>
              <a:gd fmla="val 395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3"/>
          <p:cNvSpPr/>
          <p:nvPr/>
        </p:nvSpPr>
        <p:spPr>
          <a:xfrm>
            <a:off x="1523951" y="2858445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7DD3A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7DD3A0"/>
                </a:solidFill>
                <a:latin typeface="Courier New"/>
                <a:ea typeface="Courier New"/>
                <a:cs typeface="Courier New"/>
                <a:sym typeface="Courier New"/>
              </a:rPr>
              <a:t>✅ 파이프라인 완료 — runs/latest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3"/>
          <p:cNvSpPr/>
          <p:nvPr/>
        </p:nvSpPr>
        <p:spPr>
          <a:xfrm>
            <a:off x="1523951" y="3419414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📄 outputs/01_dataset_profile.md (cached)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3"/>
          <p:cNvSpPr/>
          <p:nvPr/>
        </p:nvSpPr>
        <p:spPr>
          <a:xfrm>
            <a:off x="1523951" y="3828016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📄 outputs/02_eda_report.md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3"/>
          <p:cNvSpPr/>
          <p:nvPr/>
        </p:nvSpPr>
        <p:spPr>
          <a:xfrm>
            <a:off x="1523951" y="4236617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3"/>
          <p:cNvSpPr/>
          <p:nvPr/>
        </p:nvSpPr>
        <p:spPr>
          <a:xfrm>
            <a:off x="1523951" y="4645219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🌐 outputs/06_dashboard.html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3"/>
          <p:cNvSpPr/>
          <p:nvPr/>
        </p:nvSpPr>
        <p:spPr>
          <a:xfrm>
            <a:off x="1523951" y="5053820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📄 outputs/07_executive_report.md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3"/>
          <p:cNvSpPr/>
          <p:nvPr/>
        </p:nvSpPr>
        <p:spPr>
          <a:xfrm>
            <a:off x="1523951" y="5614790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🧮 queries/ 스크립트 N개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3"/>
          <p:cNvSpPr/>
          <p:nvPr/>
        </p:nvSpPr>
        <p:spPr>
          <a:xfrm>
            <a:off x="1523951" y="6175759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다음: /audit-analysis로 수치를 재계산해 대조하세요.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3"/>
          <p:cNvSpPr/>
          <p:nvPr/>
        </p:nvSpPr>
        <p:spPr>
          <a:xfrm>
            <a:off x="1142997" y="7231942"/>
            <a:ext cx="16482023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queries/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비어 있으면 경고가 나온다 —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문서의 수치를 재현할 수 없다는 뜻이고,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가 검증할 대상이 없다.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3"/>
          <p:cNvSpPr/>
          <p:nvPr/>
        </p:nvSpPr>
        <p:spPr>
          <a:xfrm>
            <a:off x="1142997" y="8527380"/>
            <a:ext cx="16482023" cy="3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 Ch3에서 이걸 채운다.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다섯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/>
          <p:nvPr/>
        </p:nvSpPr>
        <p:spPr>
          <a:xfrm>
            <a:off x="1142997" y="3247278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"/>
          <p:cNvSpPr/>
          <p:nvPr/>
        </p:nvSpPr>
        <p:spPr>
          <a:xfrm>
            <a:off x="1142997" y="2692830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4"/>
          <p:cNvSpPr/>
          <p:nvPr/>
        </p:nvSpPr>
        <p:spPr>
          <a:xfrm>
            <a:off x="1866864" y="2571099"/>
            <a:ext cx="9533818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전 체크 셋.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없으면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멈추는 것이 정상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4"/>
          <p:cNvSpPr/>
          <p:nvPr/>
        </p:nvSpPr>
        <p:spPr>
          <a:xfrm>
            <a:off x="1142997" y="4141651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4"/>
          <p:cNvSpPr/>
          <p:nvPr/>
        </p:nvSpPr>
        <p:spPr>
          <a:xfrm>
            <a:off x="1142997" y="3587202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>
            <a:off x="1866864" y="3465471"/>
            <a:ext cx="1048026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데이터는 인보이스 단위로 샘플링한다. 행 단위로 뽑으면 1:N 구조가 깨진다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4"/>
          <p:cNvSpPr/>
          <p:nvPr/>
        </p:nvSpPr>
        <p:spPr>
          <a:xfrm>
            <a:off x="1142997" y="5036022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>
            <a:off x="1142997" y="4481574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4"/>
          <p:cNvSpPr/>
          <p:nvPr/>
        </p:nvSpPr>
        <p:spPr>
          <a:xfrm>
            <a:off x="1866864" y="4359843"/>
            <a:ext cx="1315163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체크포인트는 파일 mtime 비교.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완료된 단계는 건너뛰고 실패하거나 낡은 단계부터 재실행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4"/>
          <p:cNvSpPr/>
          <p:nvPr/>
        </p:nvSpPr>
        <p:spPr>
          <a:xfrm>
            <a:off x="1142997" y="5930395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4"/>
          <p:cNvSpPr/>
          <p:nvPr/>
        </p:nvSpPr>
        <p:spPr>
          <a:xfrm>
            <a:off x="1142997" y="5375946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/>
          <p:nvPr/>
        </p:nvSpPr>
        <p:spPr>
          <a:xfrm>
            <a:off x="1866864" y="5254215"/>
            <a:ext cx="828631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산출물이 나온 것이 끝이 아니다.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열어서 읽는 것이 본론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4"/>
          <p:cNvSpPr/>
          <p:nvPr/>
        </p:nvSpPr>
        <p:spPr>
          <a:xfrm>
            <a:off x="1142997" y="6824766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4"/>
          <p:cNvSpPr/>
          <p:nvPr/>
        </p:nvSpPr>
        <p:spPr>
          <a:xfrm>
            <a:off x="1142997" y="6270318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866864" y="6148587"/>
            <a:ext cx="869587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확인 필요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→ 컨텍스트 보강 → 재실행 루프를 한 번 돌려 본다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4"/>
          <p:cNvSpPr/>
          <p:nvPr/>
        </p:nvSpPr>
        <p:spPr>
          <a:xfrm>
            <a:off x="1142997" y="7106678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142997" y="7551826"/>
            <a:ext cx="1790696" cy="2049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4"/>
          <p:cNvSpPr/>
          <p:nvPr/>
        </p:nvSpPr>
        <p:spPr>
          <a:xfrm>
            <a:off x="3276556" y="7551826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시작 전에 확인하는 세 가지는?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4"/>
          <p:cNvSpPr/>
          <p:nvPr/>
        </p:nvSpPr>
        <p:spPr>
          <a:xfrm>
            <a:off x="3276556" y="7973131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2. 행 단위가 아니라 인보이스 단위로 샘플링하는 이유는?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4"/>
          <p:cNvSpPr/>
          <p:nvPr/>
        </p:nvSpPr>
        <p:spPr>
          <a:xfrm>
            <a:off x="3276556" y="8394435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@eda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결과가 이상할 때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을 다시 돌려야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4"/>
          <p:cNvSpPr/>
          <p:nvPr/>
        </p:nvSpPr>
        <p:spPr>
          <a:xfrm>
            <a:off x="3276556" y="8815740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에서 반드시 확인할 네 가지는?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4"/>
          <p:cNvSpPr/>
          <p:nvPr/>
        </p:nvSpPr>
        <p:spPr>
          <a:xfrm>
            <a:off x="3276556" y="9237044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queries/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비어 있으면 무엇을 할 수 없는가?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5"/>
          <p:cNvSpPr/>
          <p:nvPr/>
        </p:nvSpPr>
        <p:spPr>
          <a:xfrm>
            <a:off x="1142997" y="914344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0 · 1 · 2의 한 문장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5"/>
          <p:cNvSpPr/>
          <p:nvPr/>
        </p:nvSpPr>
        <p:spPr>
          <a:xfrm>
            <a:off x="1142997" y="1545146"/>
            <a:ext cx="15697188" cy="1889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6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킷이 단계 간 공식 인수인계를 파일로 제한한다면, 분석 의도도 파일에 남겨야 한다.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/>
          <p:nvPr/>
        </p:nvSpPr>
        <p:spPr>
          <a:xfrm>
            <a:off x="1142997" y="3815856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1142997" y="4330157"/>
            <a:ext cx="529953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여기까지 만든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5"/>
          <p:cNvSpPr/>
          <p:nvPr/>
        </p:nvSpPr>
        <p:spPr>
          <a:xfrm>
            <a:off x="1142997" y="4827612"/>
            <a:ext cx="4962295" cy="926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2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산출물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01_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07_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이상한 곳 목록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5"/>
          <p:cNvSpPr/>
          <p:nvPr/>
        </p:nvSpPr>
        <p:spPr>
          <a:xfrm>
            <a:off x="6494149" y="4330157"/>
            <a:ext cx="5299613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하지 않은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5"/>
          <p:cNvSpPr/>
          <p:nvPr/>
        </p:nvSpPr>
        <p:spPr>
          <a:xfrm>
            <a:off x="6494149" y="4827612"/>
            <a:ext cx="4962365" cy="921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2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 파일을 쓰지 않았다.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읽었다.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3에서 그 파일들을 고친다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5"/>
          <p:cNvSpPr/>
          <p:nvPr/>
        </p:nvSpPr>
        <p:spPr>
          <a:xfrm>
            <a:off x="11845369" y="4330157"/>
            <a:ext cx="5829552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3으로 가져갈 세 가지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5"/>
          <p:cNvSpPr/>
          <p:nvPr/>
        </p:nvSpPr>
        <p:spPr>
          <a:xfrm>
            <a:off x="11845369" y="4827612"/>
            <a:ext cx="5458581" cy="13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2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산출물에서 이상했던 것 ② 조원들과 갈렸던 판단 → 제외조건 ③ "나는 이렇게 안 쓸 텐데" 싶었던 곳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