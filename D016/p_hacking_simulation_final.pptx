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3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457200" cy="548640"/>
          </a:xfrm>
          <a:prstGeom prst="roundRect">
            <a:avLst>
              <a:gd name="adj" fmla="val 12000"/>
            </a:avLst>
          </a:prstGeom>
          <a:solidFill>
            <a:srgbClr val="4C72B0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287000" y="4389120"/>
            <a:ext cx="457200" cy="1097280"/>
          </a:xfrm>
          <a:prstGeom prst="roundRect">
            <a:avLst>
              <a:gd name="adj" fmla="val 12000"/>
            </a:avLst>
          </a:prstGeom>
          <a:solidFill>
            <a:srgbClr val="DD8452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881360" y="2743200"/>
            <a:ext cx="457200" cy="2743200"/>
          </a:xfrm>
          <a:prstGeom prst="roundRect">
            <a:avLst>
              <a:gd name="adj" fmla="val 12000"/>
            </a:avLst>
          </a:prstGeom>
          <a:solidFill>
            <a:srgbClr val="C44E52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1475720" y="4663440"/>
            <a:ext cx="457200" cy="822960"/>
          </a:xfrm>
          <a:prstGeom prst="roundRect">
            <a:avLst>
              <a:gd name="adj" fmla="val 12000"/>
            </a:avLst>
          </a:prstGeom>
          <a:solidFill>
            <a:srgbClr val="55A868">
              <a:alpha val="8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STATISTICS LAB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p-해킹과 재현성 위기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분석부터 다중비교 보정까지 — 시뮬레이션으로 직접 세어보기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2011680" cy="0"/>
          </a:xfrm>
          <a:prstGeom prst="line">
            <a:avLst/>
          </a:prstGeom>
          <a:noFill/>
          <a:ln w="38100">
            <a:solidFill>
              <a:srgbClr val="4C72B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N_SIM = 1,000</a:t>
            </a:r>
            <a:r>
              <a:rPr lang="en-US" sz="13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   </a:t>
            </a: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SEED = 777</a:t>
            </a:r>
            <a:r>
              <a:rPr lang="en-US" sz="13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·    두 집단 모두 N(0, 1)에서 표본 추출 (진짜 차이 = 0)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p-해킹의 두 가지 유형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DD84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추가형 (Optional Stopping)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1743" y="2322576"/>
            <a:ext cx="4434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본 뒤 표본을 더 모으는 행위</a:t>
            </a:r>
            <a:endParaRPr lang="en-US" sz="1350" dirty="0"/>
          </a:p>
          <a:p>
            <a:pPr marL="0" indent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가설을 여러 번 반복해서 검정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0.05가 나올 때까지 표본을 늘림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'멈추는 시점'을 결과에 따라 바꾸는 것이 문제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074920" cy="4023360"/>
          </a:xfrm>
          <a:prstGeom prst="roundRect">
            <a:avLst>
              <a:gd name="adj" fmla="val 272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02920" cy="502920"/>
          </a:xfrm>
          <a:prstGeom prst="ellipse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20574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다중비교형 (Multiple Comparisons)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443484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지표를 재고 유의한 것만 보고하는 행위</a:t>
            </a:r>
            <a:endParaRPr lang="en-US" sz="1350" dirty="0"/>
          </a:p>
          <a:p>
            <a:pPr marL="0" indent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가설(지표) 여러 개를 동시에 검정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그중 하나라도 유의하면 그것만 보고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검정했는지' 숨기는 것이 문제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4663440"/>
            <a:ext cx="44348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583680" y="4727448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C44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HARKing과 같은 구조: 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가설을 정한 뒤, 처음부터 그걸 예측했던 것처럼 포장하는 행위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공통점: </a:t>
            </a:r>
            <a:r>
              <a:rPr lang="en-US" sz="1300" i="1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우연에게 유의한 결과를 만들어낼 기회를 여러 번 준다 — 시도 횟수가 늘수록 우연히 걸릴 확률도 함께 올라간다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C72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· 기준선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분석의 제1종 오류율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절차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집단(A, B)에서 20명씩 표본 추출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t-검정을 딱 한 번만 수행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과정을 1,000회 반복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0.05로 판정된 비율을 집계</a:t>
            </a:r>
            <a:endParaRPr lang="en-US" sz="1400" dirty="0"/>
          </a:p>
        </p:txBody>
      </p:sp>
      <p:pic>
        <p:nvPicPr>
          <p:cNvPr id="8" name="Image 0" descr="/home/claude/slide_q1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600200"/>
            <a:ext cx="5852160" cy="40965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8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표본 추가형 해킹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추가형 해킹: 결과를 보고 표본을 더 모으면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절차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집단 20명으로 시작해 t-검정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 &lt; 0.05면 즉시 멈추고 “찾았다!”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아니면 각 집단에 10명씩 추가 후 재검정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5회까지 반복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438912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14.2%나 </a:t>
            </a:r>
            <a:r>
              <a:rPr lang="en-US" sz="1400" b="1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될까</a:t>
            </a: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400" dirty="0"/>
          </a:p>
          <a:p>
            <a:pPr marL="0" indent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동전을 딱 1번 던지면 앞면이 나올 확률은 낮지만, “앞면 나올 때까지 최대 5번” 던지게 해주면 그중 한 번이라도 앞면이 나올 확률은 훨씬 커진다.</a:t>
            </a:r>
            <a:endParaRPr lang="en-US" sz="14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실습도 똑같다 — 최대 5번까지 “다시 볼 기회”를 주니, 우연히 유의해질 </a:t>
            </a:r>
            <a:r>
              <a:rPr lang="en-US" sz="12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기회도</a:t>
            </a: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늘어나서</a:t>
            </a: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4.9%였던 오류율이 14.2%까지 뛴 것이다.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66928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84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57150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DD8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4.9% → 14.2%  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5번을 “다 채웠을 때”의 확률이 아니라, 1~5회차 중 어느 시점에서든 한 번이라도 유의했던 경우를 전부 합친 비율이다.</a:t>
            </a:r>
            <a:endParaRPr lang="en-US" sz="1500" dirty="0"/>
          </a:p>
        </p:txBody>
      </p:sp>
      <p:pic>
        <p:nvPicPr>
          <p:cNvPr id="10" name="Image 0" descr="/home/claude/q1_q2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508760"/>
            <a:ext cx="5760720" cy="4526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84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· 표본 추가형 해킹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정규분포로 보는 위험 지역 — Q1 vs Q2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귀무분포 위에서, 파란 영역(Q1의 5%)과 빨간 영역(Q2의 실질적 14.2%)의 넓이를 비교해보면 차이가 한눈에 보인다.</a:t>
            </a:r>
            <a:endParaRPr lang="en-US" sz="1400" dirty="0"/>
          </a:p>
        </p:txBody>
      </p:sp>
      <p:pic>
        <p:nvPicPr>
          <p:cNvPr id="5" name="Image 0" descr="/home/claude/slide_q1_q2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965960"/>
            <a:ext cx="777240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44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· 다중비교형 해킹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"지표 20개"란? — 완전히 독립적인 실험 20번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지표란 A와 B를 비교할 수 있는 서로 다른 질문 하나하나다. 지표가 바뀔 때마다 사람도 통째로 새로 뽑기 때문에, 20개 실험은 서로 완전히 독립이다.</a:t>
            </a:r>
            <a:endParaRPr lang="en-US" sz="1350" dirty="0"/>
          </a:p>
        </p:txBody>
      </p:sp>
      <p:pic>
        <p:nvPicPr>
          <p:cNvPr id="5" name="Image 0" descr="/home/claude/slide_q3_metric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783080"/>
            <a:ext cx="7315200" cy="4590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44E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· 다중비교형 해킹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다중비교형 해킹: 지표를 20개 재서 하나만 보고하면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절차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차이 없는 지표 20개를 각각 20명씩 검정</a:t>
            </a:r>
            <a:endParaRPr lang="en-US" sz="1400" dirty="0"/>
          </a:p>
          <a:p>
            <a:pPr marL="342900" indent="-342900">
              <a:lnSpc>
                <a:spcPct val="13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중 하나라도 유의하면 그것만 보고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표본은 추가하지 않음 (Q2와 차이점)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4937760" cy="2423160"/>
          </a:xfrm>
          <a:prstGeom prst="roundRect">
            <a:avLst>
              <a:gd name="adj" fmla="val 377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3959352"/>
            <a:ext cx="4389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65%나 될까? (쉽게 말하면)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“20개 중 하나라도 유의하다”의 반대말은 “20개 전부 유의하지 않다”예요. 이 둘을 합치면 항상 100%가 돼요.</a:t>
            </a:r>
            <a:endParaRPr lang="en-US" sz="135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“전부 유의하지 않을 확률”만 구해서 100%에서 빼면, 자동으로 “하나라도 유의할 확률”이 나와요.</a:t>
            </a:r>
            <a:endParaRPr lang="en-US" sz="13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하나가 유의하지 않을 확률은 0.95. 20개 모두 유의하지 않으려면 0.95를 20번 곱해야 하니 0.95^20 ≈ 35.8%만 남아요. 나머지 100% − 35.8% = 64.2%가 바로 “하나라도 걸릴 확률”이에요.</a:t>
            </a:r>
            <a:endParaRPr lang="en-US" sz="1350" dirty="0"/>
          </a:p>
        </p:txBody>
      </p:sp>
      <p:pic>
        <p:nvPicPr>
          <p:cNvPr id="8" name="Image 0" descr="/home/claude/slide_q3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00200"/>
            <a:ext cx="566928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5A8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· 보정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결과를 나란히, 보정 효과까지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절차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20개이므로 기준을 0.05 / 20 = 0.0025로 낮춤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지표는 이 엄격한 기준으로 판정</a:t>
            </a:r>
            <a:endParaRPr lang="en-US" sz="13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20개 중 하나라도 이 기준을 넘으면 “유의”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3364992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본페로니 보정이란?</a:t>
            </a:r>
            <a:endParaRPr lang="en-US" sz="1400" dirty="0"/>
          </a:p>
          <a:p>
            <a:pPr marL="0" indent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검정을 m번 할 거면, 각 검정의 기준(α)을 α/m으로 </a:t>
            </a:r>
            <a:r>
              <a:rPr lang="en-US" sz="12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나눠서</a:t>
            </a: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유의수준을 </a:t>
            </a: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엄격하게 만드는 </a:t>
            </a:r>
            <a:r>
              <a:rPr lang="en-US" sz="12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lnSpc>
                <a:spcPct val="12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</a:rPr>
              <a:t>1</a:t>
            </a:r>
            <a:r>
              <a:rPr lang="ko-KR" alt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</a:rPr>
              <a:t>종 오류율을 원래 목표</a:t>
            </a:r>
            <a:r>
              <a:rPr lang="en-GB" altLang="ko-KR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</a:rPr>
              <a:t>(5%)</a:t>
            </a:r>
            <a:r>
              <a:rPr lang="ko-KR" alt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</a:rPr>
              <a:t>에 가깝게 만든다</a:t>
            </a:r>
            <a:r>
              <a:rPr lang="en-GB" altLang="ko-KR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983480"/>
            <a:ext cx="4937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55A86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55A8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65.5% → 4.9%</a:t>
            </a:r>
            <a:endParaRPr lang="en-US" sz="2000" dirty="0"/>
          </a:p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기준을 0.0025로 낮추면 1 − (1 − 0.0025)^20 ≈ 4.9% — 계산대로 원래 목표(5%)에 맞춰진다.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대가: 기준이 엄격해진 만큼 진짜 효과를 놓칠 확률(2종오류)은 커진다.</a:t>
            </a:r>
            <a:endParaRPr lang="en-US" sz="2000" dirty="0"/>
          </a:p>
        </p:txBody>
      </p:sp>
      <p:pic>
        <p:nvPicPr>
          <p:cNvPr id="10" name="Image 0" descr="/home/claude/q1_q4_ful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371600"/>
            <a:ext cx="5852160" cy="44805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11</a:t>
            </a:r>
            <a:endParaRPr lang="en-US" sz="9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3C86D5-9DBF-6DB4-4F0E-14D3F07E4A2B}"/>
              </a:ext>
            </a:extLst>
          </p:cNvPr>
          <p:cNvCxnSpPr/>
          <p:nvPr/>
        </p:nvCxnSpPr>
        <p:spPr>
          <a:xfrm>
            <a:off x="9892937" y="2438400"/>
            <a:ext cx="653143" cy="2812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5A8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→ Q4 · 보정 효과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전후 공식 비교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공식은 같은 틀이다 — 1 − (1 − 기준값)^20. 기준값 자리에 무엇을 넣느냐만 다르다.</a:t>
            </a:r>
            <a:endParaRPr lang="en-US" sz="1400" dirty="0"/>
          </a:p>
        </p:txBody>
      </p:sp>
      <p:pic>
        <p:nvPicPr>
          <p:cNvPr id="5" name="Image 0" descr="/home/claude/slide_bonferron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65960"/>
            <a:ext cx="9418320" cy="4142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5A8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→ Q4 · 보정 효과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정규분포로 보는 위험 지역 — 보정 전 vs 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귀무분포 위에서, 빨간 영역(다중비교형의 65.5%)이 얼마나 넓은지, 초록 영역(본페로니 보정 후 4.9%)이 얼마나 좁아지는지 비교해보면 보정의 효과가 한눈에 보인다.</a:t>
            </a:r>
            <a:endParaRPr lang="en-US" sz="1400" dirty="0"/>
          </a:p>
        </p:txBody>
      </p:sp>
      <p:pic>
        <p:nvPicPr>
          <p:cNvPr id="5" name="Image 0" descr="/home/claude/slide_q3_q4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057400"/>
            <a:ext cx="777240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말로 설명해보기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2296" cy="731520"/>
          </a:xfrm>
          <a:prstGeom prst="rect">
            <a:avLst/>
          </a:prstGeom>
          <a:solidFill>
            <a:srgbClr val="4C72B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490472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가설검정이 보장하는 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43400" y="1490472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“절차를 지켰을 때 제1종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발생할 확률이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α(5%) 이하”라는 확률적 약속. Q1의 4.9%가 바로 그 약속이 지켜진 증거다.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82296" cy="777240"/>
          </a:xfrm>
          <a:prstGeom prst="rect">
            <a:avLst/>
          </a:prstGeom>
          <a:solidFill>
            <a:srgbClr val="DD84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960120" y="2295144"/>
            <a:ext cx="3200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vs Q3 — 같은 메커니즘, 다른 방식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2295144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“우연에게 여러 번 기회를 준다.”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표본추가형은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가설을 표본을 늘려가며 반복 검정,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다중비교형은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서로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번 실험해보고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하나만 골라 보고.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82296" cy="77724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60120" y="3145536"/>
            <a:ext cx="320040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 결과, 신뢰할 수 있는가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3145536"/>
            <a:ext cx="70408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아니오. 진짜 효과가 없어도 65%의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확률로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오류가 하나는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우연히 걸린다 — “유의하다”는 결과가 진짜 발견일 확률보다 우연일 확률이 더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높다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애초에 전제는 차이 </a:t>
            </a:r>
            <a:r>
              <a:rPr lang="en-GB" altLang="ko-KR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22776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82296" cy="73152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60120" y="3995928"/>
            <a:ext cx="32004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HARKing과 닮은 </a:t>
            </a:r>
            <a:r>
              <a:rPr lang="en-US" sz="1300" b="1" dirty="0" err="1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쪽은</a:t>
            </a: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다중비교형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995928"/>
            <a:ext cx="7040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먼저 보고, 걸린 것 하나를 “원래 가설이었다”고 포장하는 행위 — 다중비교형과 구조가 같다.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48640" y="4727448"/>
            <a:ext cx="82296" cy="1234440"/>
          </a:xfrm>
          <a:prstGeom prst="rect">
            <a:avLst/>
          </a:prstGeom>
          <a:solidFill>
            <a:srgbClr val="55A86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60120" y="4800600"/>
            <a:ext cx="32004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 + 표본수 사전 설계로 막는 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43400" y="4800600"/>
            <a:ext cx="70408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표본추가형</a:t>
            </a: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크기(n)를 미리 계산해 고정하고, 데이터를 다 모을 때까지 중간에 들여다보지 않는다 — 결과를 보고 표본을 늘릴 기회 자체가 사라진다.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다중비교형</a:t>
            </a:r>
            <a:r>
              <a:rPr lang="en-US" sz="1100" b="1" dirty="0">
                <a:solidFill>
                  <a:srgbClr val="1B2A4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검정할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데이터 보기 전에 못 박아둔다 — 나중에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하나가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유의미하더라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r>
              <a:rPr lang="ko-KR" alt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 지표가 아니라면</a:t>
            </a:r>
            <a:r>
              <a:rPr lang="en-US" sz="11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“확증이 아니라 탐색 결과”임이 드러난다.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p-해킹 시뮬레이션 실습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1053</Words>
  <Application>Microsoft Office PowerPoint</Application>
  <PresentationFormat>와이드스크린</PresentationFormat>
  <Paragraphs>120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Euihwan Choi</cp:lastModifiedBy>
  <cp:revision>22</cp:revision>
  <dcterms:created xsi:type="dcterms:W3CDTF">2026-07-30T06:42:52Z</dcterms:created>
  <dcterms:modified xsi:type="dcterms:W3CDTF">2026-07-30T08:22:07Z</dcterms:modified>
</cp:coreProperties>
</file>